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1" r:id="rId4"/>
  </p:sldMasterIdLst>
  <p:sldIdLst>
    <p:sldId id="256" r:id="rId5"/>
    <p:sldId id="271" r:id="rId6"/>
    <p:sldId id="277" r:id="rId7"/>
    <p:sldId id="278" r:id="rId8"/>
    <p:sldId id="274" r:id="rId9"/>
    <p:sldId id="276" r:id="rId10"/>
    <p:sldId id="275" r:id="rId11"/>
    <p:sldId id="281" r:id="rId12"/>
    <p:sldId id="279" r:id="rId13"/>
    <p:sldId id="280" r:id="rId14"/>
    <p:sldId id="282" r:id="rId15"/>
    <p:sldId id="258" r:id="rId16"/>
    <p:sldId id="288" r:id="rId17"/>
    <p:sldId id="273" r:id="rId18"/>
    <p:sldId id="259" r:id="rId19"/>
    <p:sldId id="265" r:id="rId20"/>
    <p:sldId id="266" r:id="rId21"/>
    <p:sldId id="267" r:id="rId22"/>
    <p:sldId id="260" r:id="rId23"/>
    <p:sldId id="268" r:id="rId24"/>
    <p:sldId id="261" r:id="rId25"/>
    <p:sldId id="263" r:id="rId26"/>
    <p:sldId id="270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E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08D0AF-FFF6-4F4F-8620-CCA2D0D16F09}" v="2" dt="2023-11-27T08:26:16.8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dre Vatland Hvidsten" userId="S::sindre.vatland.hvidsten@skole.rogfk.no::08424c74-57d2-45eb-89f9-84012116bbaa" providerId="AD" clId="Web-{E1DF3628-1AC6-4A2F-A099-81BAE595BB8E}"/>
    <pc:docChg chg="delSld modSld">
      <pc:chgData name="Sindre Vatland Hvidsten" userId="S::sindre.vatland.hvidsten@skole.rogfk.no::08424c74-57d2-45eb-89f9-84012116bbaa" providerId="AD" clId="Web-{E1DF3628-1AC6-4A2F-A099-81BAE595BB8E}" dt="2023-11-13T09:57:52.455" v="3"/>
      <pc:docMkLst>
        <pc:docMk/>
      </pc:docMkLst>
      <pc:sldChg chg="modSp del">
        <pc:chgData name="Sindre Vatland Hvidsten" userId="S::sindre.vatland.hvidsten@skole.rogfk.no::08424c74-57d2-45eb-89f9-84012116bbaa" providerId="AD" clId="Web-{E1DF3628-1AC6-4A2F-A099-81BAE595BB8E}" dt="2023-11-13T09:57:52.455" v="3"/>
        <pc:sldMkLst>
          <pc:docMk/>
          <pc:sldMk cId="1624405100" sldId="262"/>
        </pc:sldMkLst>
        <pc:spChg chg="mod">
          <ac:chgData name="Sindre Vatland Hvidsten" userId="S::sindre.vatland.hvidsten@skole.rogfk.no::08424c74-57d2-45eb-89f9-84012116bbaa" providerId="AD" clId="Web-{E1DF3628-1AC6-4A2F-A099-81BAE595BB8E}" dt="2023-11-13T09:57:51.626" v="2" actId="20577"/>
          <ac:spMkLst>
            <pc:docMk/>
            <pc:sldMk cId="1624405100" sldId="262"/>
            <ac:spMk id="2" creationId="{E800E73F-C888-49F9-96D0-EC031EC24056}"/>
          </ac:spMkLst>
        </pc:spChg>
      </pc:sldChg>
    </pc:docChg>
  </pc:docChgLst>
  <pc:docChgLst>
    <pc:chgData name="Sindre Vatland Hvidsten" userId="08424c74-57d2-45eb-89f9-84012116bbaa" providerId="ADAL" clId="{BD08D0AF-FFF6-4F4F-8620-CCA2D0D16F09}"/>
    <pc:docChg chg="modSld">
      <pc:chgData name="Sindre Vatland Hvidsten" userId="08424c74-57d2-45eb-89f9-84012116bbaa" providerId="ADAL" clId="{BD08D0AF-FFF6-4F4F-8620-CCA2D0D16F09}" dt="2023-11-27T08:26:16.846" v="1" actId="20577"/>
      <pc:docMkLst>
        <pc:docMk/>
      </pc:docMkLst>
      <pc:sldChg chg="modSp">
        <pc:chgData name="Sindre Vatland Hvidsten" userId="08424c74-57d2-45eb-89f9-84012116bbaa" providerId="ADAL" clId="{BD08D0AF-FFF6-4F4F-8620-CCA2D0D16F09}" dt="2023-11-27T08:25:49.624" v="0" actId="20577"/>
        <pc:sldMkLst>
          <pc:docMk/>
          <pc:sldMk cId="1302944881" sldId="263"/>
        </pc:sldMkLst>
        <pc:spChg chg="mod">
          <ac:chgData name="Sindre Vatland Hvidsten" userId="08424c74-57d2-45eb-89f9-84012116bbaa" providerId="ADAL" clId="{BD08D0AF-FFF6-4F4F-8620-CCA2D0D16F09}" dt="2023-11-27T08:25:49.624" v="0" actId="20577"/>
          <ac:spMkLst>
            <pc:docMk/>
            <pc:sldMk cId="1302944881" sldId="263"/>
            <ac:spMk id="3" creationId="{B1E3F39C-BD1A-72BC-C6FC-4297FAA9AA65}"/>
          </ac:spMkLst>
        </pc:spChg>
      </pc:sldChg>
      <pc:sldChg chg="modSp modAnim">
        <pc:chgData name="Sindre Vatland Hvidsten" userId="08424c74-57d2-45eb-89f9-84012116bbaa" providerId="ADAL" clId="{BD08D0AF-FFF6-4F4F-8620-CCA2D0D16F09}" dt="2023-11-27T08:26:16.846" v="1" actId="20577"/>
        <pc:sldMkLst>
          <pc:docMk/>
          <pc:sldMk cId="599344614" sldId="284"/>
        </pc:sldMkLst>
        <pc:spChg chg="mod">
          <ac:chgData name="Sindre Vatland Hvidsten" userId="08424c74-57d2-45eb-89f9-84012116bbaa" providerId="ADAL" clId="{BD08D0AF-FFF6-4F4F-8620-CCA2D0D16F09}" dt="2023-11-27T08:26:16.846" v="1" actId="20577"/>
          <ac:spMkLst>
            <pc:docMk/>
            <pc:sldMk cId="599344614" sldId="284"/>
            <ac:spMk id="7" creationId="{2F5DFEEF-0122-1B25-7160-EC18412157A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2159F-B8DA-480D-8B09-FBD18EEB3405}" type="datetimeFigureOut">
              <a:rPr lang="nb-NO" smtClean="0"/>
              <a:t>27.11.2023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9117E-4C8F-48CF-8BF1-4D7119AA8D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10170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2159F-B8DA-480D-8B09-FBD18EEB3405}" type="datetimeFigureOut">
              <a:rPr lang="nb-NO" smtClean="0"/>
              <a:t>27.11.2023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9117E-4C8F-48CF-8BF1-4D7119AA8D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57440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2159F-B8DA-480D-8B09-FBD18EEB3405}" type="datetimeFigureOut">
              <a:rPr lang="nb-NO" smtClean="0"/>
              <a:t>27.11.2023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9117E-4C8F-48CF-8BF1-4D7119AA8D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5835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2159F-B8DA-480D-8B09-FBD18EEB3405}" type="datetimeFigureOut">
              <a:rPr lang="nb-NO" smtClean="0"/>
              <a:t>27.11.2023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9117E-4C8F-48CF-8BF1-4D7119AA8D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28926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2159F-B8DA-480D-8B09-FBD18EEB3405}" type="datetimeFigureOut">
              <a:rPr lang="nb-NO" smtClean="0"/>
              <a:t>27.11.2023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9117E-4C8F-48CF-8BF1-4D7119AA8D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82566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2159F-B8DA-480D-8B09-FBD18EEB3405}" type="datetimeFigureOut">
              <a:rPr lang="nb-NO" smtClean="0"/>
              <a:t>27.11.2023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9117E-4C8F-48CF-8BF1-4D7119AA8D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06338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2159F-B8DA-480D-8B09-FBD18EEB3405}" type="datetimeFigureOut">
              <a:rPr lang="nb-NO" smtClean="0"/>
              <a:t>27.11.2023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9117E-4C8F-48CF-8BF1-4D7119AA8D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33667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2159F-B8DA-480D-8B09-FBD18EEB3405}" type="datetimeFigureOut">
              <a:rPr lang="nb-NO" smtClean="0"/>
              <a:t>27.11.2023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9117E-4C8F-48CF-8BF1-4D7119AA8D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36483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2159F-B8DA-480D-8B09-FBD18EEB3405}" type="datetimeFigureOut">
              <a:rPr lang="nb-NO" smtClean="0"/>
              <a:t>27.11.2023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9117E-4C8F-48CF-8BF1-4D7119AA8D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2416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e med bilde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2159F-B8DA-480D-8B09-FBD18EEB3405}" type="datetimeFigureOut">
              <a:rPr lang="nb-NO" smtClean="0"/>
              <a:t>27.11.2023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9117E-4C8F-48CF-8BF1-4D7119AA8D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58901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2159F-B8DA-480D-8B09-FBD18EEB3405}" type="datetimeFigureOut">
              <a:rPr lang="nb-NO" smtClean="0"/>
              <a:t>27.11.2023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9117E-4C8F-48CF-8BF1-4D7119AA8D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21808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tat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2159F-B8DA-480D-8B09-FBD18EEB3405}" type="datetimeFigureOut">
              <a:rPr lang="nb-NO" smtClean="0"/>
              <a:t>27.11.2023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9117E-4C8F-48CF-8BF1-4D7119AA8DB1}" type="slidenum">
              <a:rPr lang="nb-NO" smtClean="0"/>
              <a:t>‹#›</a:t>
            </a:fld>
            <a:endParaRPr lang="nb-NO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443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2159F-B8DA-480D-8B09-FBD18EEB3405}" type="datetimeFigureOut">
              <a:rPr lang="nb-NO" smtClean="0"/>
              <a:t>27.11.2023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9117E-4C8F-48CF-8BF1-4D7119AA8D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04263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2159F-B8DA-480D-8B09-FBD18EEB3405}" type="datetimeFigureOut">
              <a:rPr lang="nb-NO" smtClean="0"/>
              <a:t>27.11.2023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9117E-4C8F-48CF-8BF1-4D7119AA8D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465572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for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2159F-B8DA-480D-8B09-FBD18EEB3405}" type="datetimeFigureOut">
              <a:rPr lang="nb-NO" smtClean="0"/>
              <a:t>27.11.2023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9117E-4C8F-48CF-8BF1-4D7119AA8D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3126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2159F-B8DA-480D-8B09-FBD18EEB3405}" type="datetimeFigureOut">
              <a:rPr lang="nb-NO" smtClean="0"/>
              <a:t>27.11.2023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9117E-4C8F-48CF-8BF1-4D7119AA8D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505447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2159F-B8DA-480D-8B09-FBD18EEB3405}" type="datetimeFigureOut">
              <a:rPr lang="nb-NO" smtClean="0"/>
              <a:t>27.11.2023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9117E-4C8F-48CF-8BF1-4D7119AA8D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0973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2159F-B8DA-480D-8B09-FBD18EEB3405}" type="datetimeFigureOut">
              <a:rPr lang="nb-NO" smtClean="0"/>
              <a:t>27.11.2023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9117E-4C8F-48CF-8BF1-4D7119AA8DB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2854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54" r:id="rId3"/>
    <p:sldLayoutId id="2147484055" r:id="rId4"/>
    <p:sldLayoutId id="2147484056" r:id="rId5"/>
    <p:sldLayoutId id="2147484057" r:id="rId6"/>
    <p:sldLayoutId id="2147484058" r:id="rId7"/>
    <p:sldLayoutId id="2147484059" r:id="rId8"/>
    <p:sldLayoutId id="2147484060" r:id="rId9"/>
    <p:sldLayoutId id="2147484061" r:id="rId10"/>
    <p:sldLayoutId id="2147484062" r:id="rId11"/>
    <p:sldLayoutId id="2147484063" r:id="rId12"/>
    <p:sldLayoutId id="2147484064" r:id="rId13"/>
    <p:sldLayoutId id="2147484065" r:id="rId14"/>
    <p:sldLayoutId id="2147484066" r:id="rId15"/>
    <p:sldLayoutId id="2147484067" r:id="rId16"/>
    <p:sldLayoutId id="2147484068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tenor.com/view/inception-deeper-go-deeper-we-need-to-go-deeper-leonardo-di-caprio-gif-16756828" TargetMode="External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pill.iktim.no/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The Matrix digital rain. Virtual background to use on Zoom, Microsoft Teams, Skype, Google Meet, WebEx or any other compatible app.">
            <a:extLst>
              <a:ext uri="{FF2B5EF4-FFF2-40B4-BE49-F238E27FC236}">
                <a16:creationId xmlns:a16="http://schemas.microsoft.com/office/drawing/2014/main" id="{2307F7C0-5AB8-C7F7-A7F8-220DE50FAC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"/>
          <a:stretch/>
        </p:blipFill>
        <p:spPr bwMode="auto">
          <a:xfrm>
            <a:off x="20" y="2030"/>
            <a:ext cx="12191980" cy="6855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1" name="Rectangle 6150">
            <a:extLst>
              <a:ext uri="{FF2B5EF4-FFF2-40B4-BE49-F238E27FC236}">
                <a16:creationId xmlns:a16="http://schemas.microsoft.com/office/drawing/2014/main" id="{BD1CAB03-F6A4-4736-85F6-261056424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3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3000"/>
                </a:schemeClr>
              </a:gs>
              <a:gs pos="100000">
                <a:sysClr val="windowText" lastClr="000000">
                  <a:alpha val="70000"/>
                </a:sys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3E2321B3-5D47-422E-8DD6-192DA485F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30000"/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>
                      <a14:imgEffect>
                        <a14:sharpenSoften amount="35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B338D527-9600-0C64-C64B-E201D08B4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490111"/>
            <a:ext cx="9001462" cy="2387600"/>
          </a:xfrm>
        </p:spPr>
        <p:txBody>
          <a:bodyPr>
            <a:normAutofit/>
          </a:bodyPr>
          <a:lstStyle/>
          <a:p>
            <a:r>
              <a:rPr lang="nb-NO" sz="6600" dirty="0"/>
              <a:t>Koding &amp; Programmering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BBC20AE-E894-0371-E71F-A654090BA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030" y="5203253"/>
            <a:ext cx="11511940" cy="1655762"/>
          </a:xfrm>
        </p:spPr>
        <p:txBody>
          <a:bodyPr>
            <a:normAutofit/>
          </a:bodyPr>
          <a:lstStyle/>
          <a:p>
            <a:r>
              <a:rPr lang="nb-NO" dirty="0"/>
              <a:t>(Bakgrunnen er ikke en nøyaktig representasjon av programmering) </a:t>
            </a:r>
          </a:p>
        </p:txBody>
      </p:sp>
    </p:spTree>
    <p:extLst>
      <p:ext uri="{BB962C8B-B14F-4D97-AF65-F5344CB8AC3E}">
        <p14:creationId xmlns:p14="http://schemas.microsoft.com/office/powerpoint/2010/main" val="380407536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65000"/>
                <a:lumOff val="35000"/>
              </a:schemeClr>
            </a:gs>
            <a:gs pos="10000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83235DF-E7F1-55A5-11EA-A4490BDC8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4000" dirty="0"/>
              <a:t>Først, kjapt om datamaskiner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A88246D-20E6-2B73-0A9E-B2FA52EED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3"/>
            <a:ext cx="5315555" cy="4031359"/>
          </a:xfrm>
        </p:spPr>
        <p:txBody>
          <a:bodyPr>
            <a:normAutofit/>
          </a:bodyPr>
          <a:lstStyle/>
          <a:p>
            <a:r>
              <a:rPr lang="nb-NO" sz="3200" dirty="0"/>
              <a:t>Hva er egentlig en datamaskin?</a:t>
            </a:r>
          </a:p>
          <a:p>
            <a:r>
              <a:rPr lang="nb-NO" sz="3200" dirty="0"/>
              <a:t>Ligger i navnet: «Data» «Maskin»</a:t>
            </a:r>
          </a:p>
          <a:p>
            <a:r>
              <a:rPr lang="nb-NO" sz="3200" dirty="0"/>
              <a:t>En maskin som behandler data.</a:t>
            </a:r>
          </a:p>
        </p:txBody>
      </p:sp>
      <p:pic>
        <p:nvPicPr>
          <p:cNvPr id="9218" name="Picture 2" descr="Computer PNG Images, Computer Icon Download - Free Transparent PNG Logos">
            <a:extLst>
              <a:ext uri="{FF2B5EF4-FFF2-40B4-BE49-F238E27FC236}">
                <a16:creationId xmlns:a16="http://schemas.microsoft.com/office/drawing/2014/main" id="{8A1E450D-BA78-A573-9ED4-9B039DA42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0706" y="2249604"/>
            <a:ext cx="4843282" cy="37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04344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65000"/>
                <a:lumOff val="35000"/>
              </a:schemeClr>
            </a:gs>
            <a:gs pos="10000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8D0A224-A592-800D-2231-31853FC8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Er dette en datamaskin?</a:t>
            </a:r>
          </a:p>
        </p:txBody>
      </p:sp>
      <p:pic>
        <p:nvPicPr>
          <p:cNvPr id="7" name="Plassholder for innhold 6" descr="Et bilde som inneholder Mobiltelefon, tekst, duppeditt, Bærbar kommunikasjonsenhet&#10;&#10;Automatisk generert beskrivelse">
            <a:extLst>
              <a:ext uri="{FF2B5EF4-FFF2-40B4-BE49-F238E27FC236}">
                <a16:creationId xmlns:a16="http://schemas.microsoft.com/office/drawing/2014/main" id="{24A39103-9D44-0015-82E1-947B81C029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463" y="2095500"/>
            <a:ext cx="5543549" cy="3695700"/>
          </a:xfrm>
        </p:spPr>
      </p:pic>
    </p:spTree>
    <p:extLst>
      <p:ext uri="{BB962C8B-B14F-4D97-AF65-F5344CB8AC3E}">
        <p14:creationId xmlns:p14="http://schemas.microsoft.com/office/powerpoint/2010/main" val="2770541154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65000"/>
                <a:lumOff val="35000"/>
              </a:schemeClr>
            </a:gs>
            <a:gs pos="10000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8D0A224-A592-800D-2231-31853FC8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Er dette en datamaskin?</a:t>
            </a:r>
          </a:p>
        </p:txBody>
      </p:sp>
      <p:pic>
        <p:nvPicPr>
          <p:cNvPr id="6" name="Plassholder for innhold 5" descr="Et bilde som inneholder tekst, vegg, innendørs, underholdningssenter&#10;&#10;Automatisk generert beskrivelse">
            <a:extLst>
              <a:ext uri="{FF2B5EF4-FFF2-40B4-BE49-F238E27FC236}">
                <a16:creationId xmlns:a16="http://schemas.microsoft.com/office/drawing/2014/main" id="{8B182BF8-C6C7-9178-2A86-A642E1226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248" y="2095500"/>
            <a:ext cx="6575978" cy="3695700"/>
          </a:xfrm>
        </p:spPr>
      </p:pic>
    </p:spTree>
    <p:extLst>
      <p:ext uri="{BB962C8B-B14F-4D97-AF65-F5344CB8AC3E}">
        <p14:creationId xmlns:p14="http://schemas.microsoft.com/office/powerpoint/2010/main" val="2199886368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65000"/>
                <a:lumOff val="35000"/>
              </a:schemeClr>
            </a:gs>
            <a:gs pos="10000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8D0A224-A592-800D-2231-31853FC8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Er dette en datamaskin?</a:t>
            </a:r>
          </a:p>
        </p:txBody>
      </p:sp>
      <p:pic>
        <p:nvPicPr>
          <p:cNvPr id="5" name="Plassholder for innhold 4" descr="Et bilde som inneholder sirkel, vegg&#10;&#10;Automatisk generert beskrivelse">
            <a:extLst>
              <a:ext uri="{FF2B5EF4-FFF2-40B4-BE49-F238E27FC236}">
                <a16:creationId xmlns:a16="http://schemas.microsoft.com/office/drawing/2014/main" id="{71363D1D-62D2-8B99-5142-22687C4782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174" y="2095500"/>
            <a:ext cx="5540127" cy="3695700"/>
          </a:xfrm>
        </p:spPr>
      </p:pic>
    </p:spTree>
    <p:extLst>
      <p:ext uri="{BB962C8B-B14F-4D97-AF65-F5344CB8AC3E}">
        <p14:creationId xmlns:p14="http://schemas.microsoft.com/office/powerpoint/2010/main" val="3552063632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65000"/>
                <a:lumOff val="35000"/>
              </a:schemeClr>
            </a:gs>
            <a:gs pos="10000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8D0A224-A592-800D-2231-31853FC8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Er dette en datamaskin?</a:t>
            </a:r>
          </a:p>
        </p:txBody>
      </p:sp>
      <p:pic>
        <p:nvPicPr>
          <p:cNvPr id="6" name="Plassholder for innhold 5" descr="Et bilde som inneholder kontorforsyninger, kalkulator, Kontorutstyr, Kontorredskap&#10;&#10;Automatisk generert beskrivelse">
            <a:extLst>
              <a:ext uri="{FF2B5EF4-FFF2-40B4-BE49-F238E27FC236}">
                <a16:creationId xmlns:a16="http://schemas.microsoft.com/office/drawing/2014/main" id="{59459585-FC58-1630-965C-FDBF4AA4A4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463" y="2095500"/>
            <a:ext cx="5543549" cy="3695700"/>
          </a:xfrm>
        </p:spPr>
      </p:pic>
    </p:spTree>
    <p:extLst>
      <p:ext uri="{BB962C8B-B14F-4D97-AF65-F5344CB8AC3E}">
        <p14:creationId xmlns:p14="http://schemas.microsoft.com/office/powerpoint/2010/main" val="385233313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65000"/>
                <a:lumOff val="35000"/>
              </a:schemeClr>
            </a:gs>
            <a:gs pos="10000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8D0A224-A592-800D-2231-31853FC8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Er dette en datamaskin?</a:t>
            </a:r>
          </a:p>
        </p:txBody>
      </p:sp>
      <p:pic>
        <p:nvPicPr>
          <p:cNvPr id="7" name="Plassholder for innhold 6" descr="Et bilde som inneholder sykkel, utendørs&#10;&#10;Automatisk generert beskrivelse">
            <a:extLst>
              <a:ext uri="{FF2B5EF4-FFF2-40B4-BE49-F238E27FC236}">
                <a16:creationId xmlns:a16="http://schemas.microsoft.com/office/drawing/2014/main" id="{77CA3E8B-3E5E-BCAF-E86C-79376E6709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462" y="2095500"/>
            <a:ext cx="5535550" cy="3695700"/>
          </a:xfrm>
        </p:spPr>
      </p:pic>
    </p:spTree>
    <p:extLst>
      <p:ext uri="{BB962C8B-B14F-4D97-AF65-F5344CB8AC3E}">
        <p14:creationId xmlns:p14="http://schemas.microsoft.com/office/powerpoint/2010/main" val="149107961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65000"/>
                <a:lumOff val="35000"/>
              </a:schemeClr>
            </a:gs>
            <a:gs pos="10000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8D0A224-A592-800D-2231-31853FC8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Er dette en datamaskin?</a:t>
            </a:r>
          </a:p>
        </p:txBody>
      </p:sp>
      <p:pic>
        <p:nvPicPr>
          <p:cNvPr id="6" name="Plassholder for innhold 5" descr="Et bilde som inneholder tekst, himmel, poengtavle, utendørs&#10;&#10;Automatisk generert beskrivelse">
            <a:extLst>
              <a:ext uri="{FF2B5EF4-FFF2-40B4-BE49-F238E27FC236}">
                <a16:creationId xmlns:a16="http://schemas.microsoft.com/office/drawing/2014/main" id="{EAA70A20-37B2-E587-5679-F09AB02A15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523" y="2095500"/>
            <a:ext cx="7039428" cy="3695700"/>
          </a:xfrm>
        </p:spPr>
      </p:pic>
      <p:sp>
        <p:nvSpPr>
          <p:cNvPr id="8" name="TekstSylinder 7">
            <a:extLst>
              <a:ext uri="{FF2B5EF4-FFF2-40B4-BE49-F238E27FC236}">
                <a16:creationId xmlns:a16="http://schemas.microsoft.com/office/drawing/2014/main" id="{E34C7104-B355-99CF-78F5-F9AFE82BA0F8}"/>
              </a:ext>
            </a:extLst>
          </p:cNvPr>
          <p:cNvSpPr txBox="1"/>
          <p:nvPr/>
        </p:nvSpPr>
        <p:spPr>
          <a:xfrm>
            <a:off x="5030833" y="5950779"/>
            <a:ext cx="2119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Bygget i </a:t>
            </a:r>
            <a:r>
              <a:rPr lang="nb-NO" dirty="0" err="1"/>
              <a:t>Minecraft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832253206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65000"/>
                <a:lumOff val="35000"/>
              </a:schemeClr>
            </a:gs>
            <a:gs pos="10000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8D0A224-A592-800D-2231-31853FC8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er dette?</a:t>
            </a:r>
          </a:p>
        </p:txBody>
      </p:sp>
      <p:pic>
        <p:nvPicPr>
          <p:cNvPr id="6" name="Plassholder for innhold 5" descr="Et bilde som inneholder sort og hvit, klær, innendørs, mann&#10;&#10;Automatisk generert beskrivelse">
            <a:extLst>
              <a:ext uri="{FF2B5EF4-FFF2-40B4-BE49-F238E27FC236}">
                <a16:creationId xmlns:a16="http://schemas.microsoft.com/office/drawing/2014/main" id="{BAAD8071-B613-B2E7-0E74-FDBA137642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0628" y="2095500"/>
            <a:ext cx="4681219" cy="3695700"/>
          </a:xfrm>
        </p:spPr>
      </p:pic>
    </p:spTree>
    <p:extLst>
      <p:ext uri="{BB962C8B-B14F-4D97-AF65-F5344CB8AC3E}">
        <p14:creationId xmlns:p14="http://schemas.microsoft.com/office/powerpoint/2010/main" val="1954831475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65000"/>
                <a:lumOff val="35000"/>
              </a:schemeClr>
            </a:gs>
            <a:gs pos="10000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8D0A224-A592-800D-2231-31853FC86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er dette?</a:t>
            </a:r>
          </a:p>
        </p:txBody>
      </p:sp>
      <p:pic>
        <p:nvPicPr>
          <p:cNvPr id="7" name="Plassholder for innhold 6" descr="Et bilde som inneholder stearinlys, innendørs, kunst&#10;&#10;Automatisk generert beskrivelse">
            <a:extLst>
              <a:ext uri="{FF2B5EF4-FFF2-40B4-BE49-F238E27FC236}">
                <a16:creationId xmlns:a16="http://schemas.microsoft.com/office/drawing/2014/main" id="{F322D4CB-777F-8B40-4269-ED2FF8BF1B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462" y="2095500"/>
            <a:ext cx="5543550" cy="3695700"/>
          </a:xfrm>
        </p:spPr>
      </p:pic>
    </p:spTree>
    <p:extLst>
      <p:ext uri="{BB962C8B-B14F-4D97-AF65-F5344CB8AC3E}">
        <p14:creationId xmlns:p14="http://schemas.microsoft.com/office/powerpoint/2010/main" val="3214968740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65000"/>
                <a:lumOff val="35000"/>
              </a:schemeClr>
            </a:gs>
            <a:gs pos="10000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8D0A224-A592-800D-2231-31853FC86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65839"/>
            <a:ext cx="10353761" cy="1326321"/>
          </a:xfrm>
        </p:spPr>
        <p:txBody>
          <a:bodyPr>
            <a:normAutofit/>
          </a:bodyPr>
          <a:lstStyle/>
          <a:p>
            <a:r>
              <a:rPr lang="nb-NO" sz="4400" dirty="0"/>
              <a:t>Er </a:t>
            </a:r>
            <a:r>
              <a:rPr lang="nb-NO" sz="6600" dirty="0">
                <a:solidFill>
                  <a:srgbClr val="FFC000"/>
                </a:solidFill>
              </a:rPr>
              <a:t>DU</a:t>
            </a:r>
            <a:r>
              <a:rPr lang="nb-NO" sz="4400" dirty="0"/>
              <a:t> en datamaskin?</a:t>
            </a:r>
          </a:p>
        </p:txBody>
      </p:sp>
    </p:spTree>
    <p:extLst>
      <p:ext uri="{BB962C8B-B14F-4D97-AF65-F5344CB8AC3E}">
        <p14:creationId xmlns:p14="http://schemas.microsoft.com/office/powerpoint/2010/main" val="3155570706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65000"/>
                <a:lumOff val="35000"/>
              </a:schemeClr>
            </a:gs>
            <a:gs pos="10000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510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C41DEA0-7F45-86E7-58A2-A0755FD47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643467"/>
            <a:ext cx="9600217" cy="35858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000" dirty="0" err="1"/>
              <a:t>Hva</a:t>
            </a:r>
            <a:r>
              <a:rPr lang="en-US" sz="5000" dirty="0"/>
              <a:t> er et </a:t>
            </a:r>
            <a:r>
              <a:rPr lang="en-US" sz="5000" dirty="0" err="1"/>
              <a:t>programmeringsspråk</a:t>
            </a:r>
            <a:r>
              <a:rPr lang="en-US" sz="5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83933937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65000"/>
                <a:lumOff val="35000"/>
              </a:schemeClr>
            </a:gs>
            <a:gs pos="10000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510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C41DEA0-7F45-86E7-58A2-A0755FD47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643467"/>
            <a:ext cx="9600217" cy="35858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000" dirty="0" err="1"/>
              <a:t>Trenger</a:t>
            </a:r>
            <a:r>
              <a:rPr lang="en-US" sz="5000" dirty="0"/>
              <a:t> </a:t>
            </a:r>
            <a:r>
              <a:rPr lang="en-US" sz="5000" dirty="0" err="1"/>
              <a:t>datamaskinen</a:t>
            </a:r>
            <a:r>
              <a:rPr lang="en-US" sz="5000" dirty="0"/>
              <a:t> </a:t>
            </a:r>
            <a:r>
              <a:rPr lang="en-US" sz="5000" dirty="0" err="1"/>
              <a:t>programmeringsspråk</a:t>
            </a:r>
            <a:r>
              <a:rPr lang="en-US" sz="5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50278734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65000"/>
                <a:lumOff val="35000"/>
              </a:schemeClr>
            </a:gs>
            <a:gs pos="10000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510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C41DEA0-7F45-86E7-58A2-A0755FD47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643467"/>
            <a:ext cx="9600217" cy="35858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8000" dirty="0" err="1">
                <a:solidFill>
                  <a:srgbClr val="FF0000"/>
                </a:solidFill>
                <a:effectLst/>
              </a:rPr>
              <a:t>Nei</a:t>
            </a:r>
            <a:r>
              <a:rPr lang="en-US" sz="8000" dirty="0">
                <a:solidFill>
                  <a:srgbClr val="FF0000"/>
                </a:solidFill>
                <a:effectLst/>
              </a:rPr>
              <a:t>! </a:t>
            </a:r>
            <a:r>
              <a:rPr lang="en-US" sz="3600" dirty="0">
                <a:effectLst/>
              </a:rPr>
              <a:t>Det er </a:t>
            </a:r>
            <a:r>
              <a:rPr lang="en-US" sz="4800" dirty="0">
                <a:solidFill>
                  <a:srgbClr val="FFC000"/>
                </a:solidFill>
                <a:effectLst/>
              </a:rPr>
              <a:t>DU</a:t>
            </a:r>
            <a:r>
              <a:rPr lang="en-US" sz="3600" dirty="0">
                <a:effectLst/>
              </a:rPr>
              <a:t> </a:t>
            </a:r>
            <a:r>
              <a:rPr lang="en-US" sz="3600" dirty="0" err="1">
                <a:effectLst/>
              </a:rPr>
              <a:t>som</a:t>
            </a:r>
            <a:r>
              <a:rPr lang="en-US" sz="3600" dirty="0">
                <a:effectLst/>
              </a:rPr>
              <a:t> </a:t>
            </a:r>
            <a:r>
              <a:rPr lang="en-US" sz="3600" dirty="0" err="1">
                <a:effectLst/>
              </a:rPr>
              <a:t>trenger</a:t>
            </a:r>
            <a:r>
              <a:rPr lang="en-US" sz="5000" dirty="0">
                <a:effectLst/>
              </a:rPr>
              <a:t> </a:t>
            </a:r>
            <a:r>
              <a:rPr lang="en-US" sz="5000" dirty="0" err="1">
                <a:effectLst/>
              </a:rPr>
              <a:t>programmeringsspråk</a:t>
            </a:r>
            <a:r>
              <a:rPr lang="en-US" sz="5000" dirty="0">
                <a:effectLst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42920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65000"/>
                <a:lumOff val="35000"/>
              </a:schemeClr>
            </a:gs>
            <a:gs pos="10000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510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D7029E19-4BF9-9F05-C4D3-527190D10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643467"/>
            <a:ext cx="9600217" cy="35858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8800" dirty="0">
                <a:solidFill>
                  <a:srgbClr val="92D050"/>
                </a:solidFill>
                <a:latin typeface="Consolas" panose="020B0609020204030204" pitchFamily="49" charset="0"/>
              </a:rPr>
              <a:t>"Hello World!"</a:t>
            </a: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2BA173A8-4FED-4213-FDAE-06EEBF81F448}"/>
              </a:ext>
            </a:extLst>
          </p:cNvPr>
          <p:cNvSpPr txBox="1"/>
          <p:nvPr/>
        </p:nvSpPr>
        <p:spPr>
          <a:xfrm>
            <a:off x="7918882" y="31693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143784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76AB962-FB13-5447-2E04-F801E8587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85" y="-248574"/>
            <a:ext cx="4470626" cy="4431360"/>
          </a:xfrm>
        </p:spPr>
        <p:txBody>
          <a:bodyPr anchor="ctr">
            <a:normAutofit/>
          </a:bodyPr>
          <a:lstStyle/>
          <a:p>
            <a:pPr algn="ctr"/>
            <a:r>
              <a:rPr lang="nb-NO" dirty="0"/>
              <a:t>«</a:t>
            </a:r>
            <a:r>
              <a:rPr lang="nb-NO" dirty="0" err="1"/>
              <a:t>Hello</a:t>
            </a:r>
            <a:r>
              <a:rPr lang="nb-NO" dirty="0"/>
              <a:t> World!»</a:t>
            </a:r>
            <a:br>
              <a:rPr lang="nb-NO" dirty="0"/>
            </a:br>
            <a:br>
              <a:rPr lang="nb-NO" dirty="0"/>
            </a:br>
            <a:r>
              <a:rPr lang="nb-NO" dirty="0"/>
              <a:t>Python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D02779E-28A4-4EEA-1405-740E44C39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511" y="1213320"/>
            <a:ext cx="6102559" cy="443135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nb-NO" sz="4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nb-NO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4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nb-NO" sz="4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World!"</a:t>
            </a:r>
            <a:r>
              <a:rPr lang="nb-NO" sz="4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2050" name="Picture 2" descr="Python (programming language) - Wikipedia">
            <a:extLst>
              <a:ext uri="{FF2B5EF4-FFF2-40B4-BE49-F238E27FC236}">
                <a16:creationId xmlns:a16="http://schemas.microsoft.com/office/drawing/2014/main" id="{337B0965-6954-815C-882E-B42332E91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547" y="3624252"/>
            <a:ext cx="2353303" cy="2578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8511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76AB962-FB13-5447-2E04-F801E8587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85" y="-257453"/>
            <a:ext cx="4470626" cy="4431360"/>
          </a:xfrm>
        </p:spPr>
        <p:txBody>
          <a:bodyPr anchor="ctr">
            <a:normAutofit/>
          </a:bodyPr>
          <a:lstStyle/>
          <a:p>
            <a:pPr algn="ctr"/>
            <a:r>
              <a:rPr lang="nb-NO" dirty="0"/>
              <a:t>«</a:t>
            </a:r>
            <a:r>
              <a:rPr lang="nb-NO" dirty="0" err="1"/>
              <a:t>Hello</a:t>
            </a:r>
            <a:r>
              <a:rPr lang="nb-NO" dirty="0"/>
              <a:t> World!»</a:t>
            </a:r>
            <a:br>
              <a:rPr lang="nb-NO" dirty="0"/>
            </a:br>
            <a:br>
              <a:rPr lang="nb-NO" dirty="0"/>
            </a:br>
            <a:r>
              <a:rPr lang="nb-NO" dirty="0"/>
              <a:t>Javascript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D02779E-28A4-4EEA-1405-740E44C39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7863" y="1213320"/>
            <a:ext cx="7317252" cy="443135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nb-NO" sz="3600" b="0" dirty="0"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nb-NO" sz="3600" b="0" dirty="0">
                <a:effectLst/>
                <a:latin typeface="Consolas" panose="020B0609020204030204" pitchFamily="49" charset="0"/>
              </a:rPr>
              <a:t>.</a:t>
            </a:r>
            <a:r>
              <a:rPr lang="nb-NO" sz="3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nb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nb-NO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b-NO" sz="3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nb-NO" sz="3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World!"</a:t>
            </a:r>
            <a:r>
              <a:rPr lang="nb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3074" name="Picture 2" descr="javascript-logo - Canadian Web Hosting Blog">
            <a:extLst>
              <a:ext uri="{FF2B5EF4-FFF2-40B4-BE49-F238E27FC236}">
                <a16:creationId xmlns:a16="http://schemas.microsoft.com/office/drawing/2014/main" id="{A368834B-70B0-4112-7EDA-90D20DCC5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3390" y="3198180"/>
            <a:ext cx="5591175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69832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76AB962-FB13-5447-2E04-F801E8587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885" y="-257453"/>
            <a:ext cx="4470626" cy="4431360"/>
          </a:xfrm>
        </p:spPr>
        <p:txBody>
          <a:bodyPr anchor="ctr">
            <a:normAutofit/>
          </a:bodyPr>
          <a:lstStyle/>
          <a:p>
            <a:pPr algn="ctr"/>
            <a:r>
              <a:rPr lang="nb-NO" dirty="0"/>
              <a:t>«</a:t>
            </a:r>
            <a:r>
              <a:rPr lang="nb-NO" dirty="0" err="1"/>
              <a:t>Hello</a:t>
            </a:r>
            <a:r>
              <a:rPr lang="nb-NO" dirty="0"/>
              <a:t> World!»</a:t>
            </a:r>
            <a:br>
              <a:rPr lang="nb-NO" dirty="0"/>
            </a:br>
            <a:br>
              <a:rPr lang="nb-NO" dirty="0"/>
            </a:br>
            <a:r>
              <a:rPr lang="nb-NO" dirty="0"/>
              <a:t>HTML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D02779E-28A4-4EEA-1405-740E44C39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7863" y="1213320"/>
            <a:ext cx="7317252" cy="4431359"/>
          </a:xfrm>
        </p:spPr>
        <p:txBody>
          <a:bodyPr anchor="ctr">
            <a:normAutofit fontScale="77500" lnSpcReduction="20000"/>
          </a:bodyPr>
          <a:lstStyle/>
          <a:p>
            <a:pPr marL="0" indent="0">
              <a:buNone/>
            </a:pPr>
            <a:r>
              <a:rPr lang="nb-NO" sz="36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nb-NO" sz="360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nb-NO" sz="36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3600" dirty="0">
                <a:solidFill>
                  <a:srgbClr val="9FE6FF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sz="36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nb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nb-NO" sz="36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nb-NO" sz="36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&lt;</a:t>
            </a:r>
            <a:r>
              <a:rPr lang="nb-NO" sz="360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nb-NO" sz="36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nb-NO" sz="36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&lt;/</a:t>
            </a:r>
            <a:r>
              <a:rPr lang="nb-NO" sz="360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nb-NO" sz="36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nb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&lt;</a:t>
            </a:r>
            <a:r>
              <a:rPr lang="nb-NO" sz="36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nb-NO" sz="36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nb-NO" sz="360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nb-NO" sz="36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World!</a:t>
            </a:r>
          </a:p>
          <a:p>
            <a:pPr marL="0" indent="0">
              <a:buNone/>
            </a:pPr>
            <a:r>
              <a:rPr lang="nb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&lt;/</a:t>
            </a:r>
            <a:r>
              <a:rPr lang="nb-NO" sz="36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nb-NO" sz="3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nb-NO" sz="36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nb-NO" sz="360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nb-NO" sz="36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&gt;</a:t>
            </a:r>
            <a:endParaRPr lang="nb-NO" sz="3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098" name="Picture 2" descr="Html 5 Brands Color icon">
            <a:extLst>
              <a:ext uri="{FF2B5EF4-FFF2-40B4-BE49-F238E27FC236}">
                <a16:creationId xmlns:a16="http://schemas.microsoft.com/office/drawing/2014/main" id="{E3C65FB1-C94F-A576-A315-A9741B123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370" y="3340223"/>
            <a:ext cx="2909656" cy="290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023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59F2BFB-E2D5-A218-76CE-31FFFE802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902" y="-266331"/>
            <a:ext cx="4226520" cy="4431360"/>
          </a:xfrm>
        </p:spPr>
        <p:txBody>
          <a:bodyPr anchor="ctr">
            <a:normAutofit/>
          </a:bodyPr>
          <a:lstStyle/>
          <a:p>
            <a:r>
              <a:rPr lang="nb-NO" dirty="0"/>
              <a:t>«</a:t>
            </a:r>
            <a:r>
              <a:rPr lang="nb-NO" dirty="0" err="1"/>
              <a:t>Hello</a:t>
            </a:r>
            <a:r>
              <a:rPr lang="nb-NO" dirty="0"/>
              <a:t> World!»</a:t>
            </a:r>
            <a:br>
              <a:rPr lang="nb-NO" dirty="0"/>
            </a:br>
            <a:br>
              <a:rPr lang="nb-NO" dirty="0"/>
            </a:br>
            <a:r>
              <a:rPr lang="nb-NO" dirty="0"/>
              <a:t> </a:t>
            </a:r>
            <a:r>
              <a:rPr lang="nb-NO" sz="2000" dirty="0"/>
              <a:t>x</a:t>
            </a:r>
            <a:r>
              <a:rPr lang="nb-NO" dirty="0"/>
              <a:t>86 Assembly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3D344F5-89C0-4762-EDF6-3B326C6B2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7539" y="1384806"/>
            <a:ext cx="6102559" cy="4431359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b-NO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nb-NO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0x100</a:t>
            </a:r>
            <a:endParaRPr lang="nb-NO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nb-NO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nb-NO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dx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b-NO" sz="2400" b="0" i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nb-NO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ah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b-NO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nb-NO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0x21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nb-NO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dl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b-NO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0x0d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nb-NO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ah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b-NO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nb-NO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0x21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nb-NO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dl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b-NO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0x0a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nb-NO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ah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b-NO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nb-NO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0x21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mov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nb-NO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ah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nb-NO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0x4c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nb-NO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0x21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b-NO" sz="2400" b="0" i="1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nb-NO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nb-NO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nb-NO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nb-NO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World!$'</a:t>
            </a:r>
            <a:endParaRPr lang="nb-NO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nb-NO" sz="2400" dirty="0"/>
          </a:p>
        </p:txBody>
      </p:sp>
      <p:pic>
        <p:nvPicPr>
          <p:cNvPr id="5122" name="Picture 2" descr="Icon for x86-64 Assembly track · Issue #30 · exercism/website-icons · GitHub">
            <a:extLst>
              <a:ext uri="{FF2B5EF4-FFF2-40B4-BE49-F238E27FC236}">
                <a16:creationId xmlns:a16="http://schemas.microsoft.com/office/drawing/2014/main" id="{6649C15A-E310-C7C5-44A1-45A938909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902" y="2663302"/>
            <a:ext cx="4486498" cy="409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48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59F2BFB-E2D5-A218-76CE-31FFFE802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nb-NO" dirty="0"/>
              <a:t>Kan vi gå enda</a:t>
            </a:r>
            <a:br>
              <a:rPr lang="nb-NO" dirty="0"/>
            </a:br>
            <a:r>
              <a:rPr lang="nb-NO" dirty="0"/>
              <a:t>lengre?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3D344F5-89C0-4762-EDF6-3B326C6B2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0464" y="2322420"/>
            <a:ext cx="6900421" cy="47288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b-NO" sz="2400" b="0" dirty="0">
                <a:effectLst/>
                <a:latin typeface="Consolas" panose="020B0609020204030204" pitchFamily="49" charset="0"/>
              </a:rPr>
              <a:t>011001101000101100010101000000000000000000000000000000001011010000001001110011010010000110110010000011011011010000000010110011010010000110110010000010101011010000000010110011010010000110110100010011001100110100100001010010000110010101101100011011000110111100100000010101110110111101110010011011000110010000100001</a:t>
            </a:r>
            <a:endParaRPr lang="nb-NO" sz="2400" dirty="0"/>
          </a:p>
        </p:txBody>
      </p:sp>
      <p:pic>
        <p:nvPicPr>
          <p:cNvPr id="5" name="Bilde 4" descr="Et bilde som inneholder Menneskeansikt, mann, skjermbilde, klær">
            <a:extLst>
              <a:ext uri="{FF2B5EF4-FFF2-40B4-BE49-F238E27FC236}">
                <a16:creationId xmlns:a16="http://schemas.microsoft.com/office/drawing/2014/main" id="{BA05BCFF-F693-D6FB-2A77-070A58AD8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500488" y="2124764"/>
            <a:ext cx="6933494" cy="38983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0315095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uman Resource Machine on Steam">
            <a:extLst>
              <a:ext uri="{FF2B5EF4-FFF2-40B4-BE49-F238E27FC236}">
                <a16:creationId xmlns:a16="http://schemas.microsoft.com/office/drawing/2014/main" id="{BCC0016A-815E-32BF-B669-D6E6521748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/>
          <a:stretch/>
        </p:blipFill>
        <p:spPr bwMode="auto">
          <a:xfrm>
            <a:off x="305" y="10"/>
            <a:ext cx="1219169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F2B08C81-5E26-9068-C993-E223AAFF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3" y="1193800"/>
            <a:ext cx="3193050" cy="4699000"/>
          </a:xfrm>
        </p:spPr>
        <p:txBody>
          <a:bodyPr anchor="ctr">
            <a:normAutofit/>
          </a:bodyPr>
          <a:lstStyle/>
          <a:p>
            <a:r>
              <a:rPr lang="nb-NO" sz="3600" dirty="0"/>
              <a:t>Human Resource Machine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9056A038-B77B-08B5-CCD1-1D21BE1D7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636" y="1079500"/>
            <a:ext cx="6085091" cy="4699000"/>
          </a:xfrm>
        </p:spPr>
        <p:txBody>
          <a:bodyPr anchor="ctr">
            <a:normAutofit/>
          </a:bodyPr>
          <a:lstStyle/>
          <a:p>
            <a:r>
              <a:rPr lang="nb-NO" sz="2800" dirty="0"/>
              <a:t>Gå til </a:t>
            </a:r>
            <a:r>
              <a:rPr lang="nb-NO" sz="2800" dirty="0">
                <a:hlinkClick r:id="rId3"/>
              </a:rPr>
              <a:t>https://spill.iktim.no/</a:t>
            </a:r>
            <a:endParaRPr lang="nb-NO" sz="2800" dirty="0"/>
          </a:p>
          <a:p>
            <a:r>
              <a:rPr lang="nb-NO" sz="2800" dirty="0"/>
              <a:t>Søk «Human Resource Machine»</a:t>
            </a:r>
          </a:p>
          <a:p>
            <a:r>
              <a:rPr lang="nb-NO" sz="2800" dirty="0"/>
              <a:t>Trykk på bildet så last ned</a:t>
            </a:r>
          </a:p>
        </p:txBody>
      </p:sp>
    </p:spTree>
    <p:extLst>
      <p:ext uri="{BB962C8B-B14F-4D97-AF65-F5344CB8AC3E}">
        <p14:creationId xmlns:p14="http://schemas.microsoft.com/office/powerpoint/2010/main" val="4119836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0">
              <a:schemeClr val="bg1">
                <a:lumMod val="75000"/>
                <a:lumOff val="2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8BCFEAB-E541-4BCB-E340-4339FD33F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85750"/>
            <a:ext cx="3823758" cy="1625527"/>
          </a:xfrm>
        </p:spPr>
        <p:txBody>
          <a:bodyPr anchor="b">
            <a:normAutofit/>
          </a:bodyPr>
          <a:lstStyle/>
          <a:p>
            <a:pPr algn="l"/>
            <a:r>
              <a:rPr lang="nb-NO" sz="3600" dirty="0"/>
              <a:t>Installering av </a:t>
            </a:r>
            <a:r>
              <a:rPr lang="nb-NO" sz="3600" dirty="0" err="1"/>
              <a:t>VSCode</a:t>
            </a:r>
            <a:endParaRPr lang="nb-NO" sz="3600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1E3F39C-BD1A-72BC-C6FC-4297FAA9AA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96063"/>
            <a:ext cx="4010023" cy="4028512"/>
          </a:xfrm>
        </p:spPr>
        <p:txBody>
          <a:bodyPr>
            <a:normAutofit/>
          </a:bodyPr>
          <a:lstStyle/>
          <a:p>
            <a:r>
              <a:rPr lang="nb-NO" dirty="0"/>
              <a:t>Gå til: </a:t>
            </a:r>
            <a:r>
              <a:rPr lang="nb-NO" u="sng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https://code.visualstudio.com/</a:t>
            </a:r>
            <a:endParaRPr lang="nb-NO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nb-NO" dirty="0"/>
              <a:t>Kjør installasjonsfilen</a:t>
            </a:r>
          </a:p>
          <a:p>
            <a:r>
              <a:rPr lang="nb-NO" dirty="0"/>
              <a:t>Installer</a:t>
            </a:r>
          </a:p>
          <a:p>
            <a:pPr lvl="1"/>
            <a:r>
              <a:rPr lang="nb-NO" dirty="0"/>
              <a:t>Installeringsspråk?</a:t>
            </a:r>
          </a:p>
          <a:p>
            <a:pPr lvl="1"/>
            <a:r>
              <a:rPr lang="nb-NO" dirty="0"/>
              <a:t>Engelsk har sine fordeler</a:t>
            </a:r>
          </a:p>
          <a:p>
            <a:pPr lvl="2"/>
            <a:r>
              <a:rPr lang="nb-NO" dirty="0"/>
              <a:t>Lettere å søke opp informasjon om </a:t>
            </a:r>
            <a:r>
              <a:rPr lang="nb-NO" dirty="0" err="1"/>
              <a:t>VSCode</a:t>
            </a:r>
            <a:endParaRPr lang="nb-NO" dirty="0"/>
          </a:p>
          <a:p>
            <a:r>
              <a:rPr lang="nb-NO" dirty="0"/>
              <a:t>Åpne </a:t>
            </a:r>
            <a:r>
              <a:rPr lang="nb-NO" dirty="0" err="1"/>
              <a:t>VSCode</a:t>
            </a:r>
            <a:endParaRPr lang="nb-NO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007713-5891-46A9-BACA-FAD760FE2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8793" y="733425"/>
            <a:ext cx="6696075" cy="539115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0" cap="sq">
            <a:solidFill>
              <a:schemeClr val="bg2">
                <a:lumMod val="75000"/>
              </a:schemeClr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BB6AA7-7EAD-4D3B-9335-B6E8BD7E6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3972" y="799817"/>
            <a:ext cx="6565717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7B3B2A16-5B9B-77E2-CB98-3BE8BA384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072" y="533058"/>
            <a:ext cx="7041650" cy="5967799"/>
          </a:xfrm>
          <a:prstGeom prst="rect">
            <a:avLst/>
          </a:prstGeom>
        </p:spPr>
      </p:pic>
      <p:sp>
        <p:nvSpPr>
          <p:cNvPr id="8" name="TekstSylinder 7">
            <a:extLst>
              <a:ext uri="{FF2B5EF4-FFF2-40B4-BE49-F238E27FC236}">
                <a16:creationId xmlns:a16="http://schemas.microsoft.com/office/drawing/2014/main" id="{FF76009D-1A03-CF28-629F-DD1F58A1AA10}"/>
              </a:ext>
            </a:extLst>
          </p:cNvPr>
          <p:cNvSpPr txBox="1"/>
          <p:nvPr/>
        </p:nvSpPr>
        <p:spPr>
          <a:xfrm>
            <a:off x="4597072" y="6382583"/>
            <a:ext cx="2972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Slik ser det ut på Windows</a:t>
            </a:r>
          </a:p>
        </p:txBody>
      </p:sp>
    </p:spTree>
    <p:extLst>
      <p:ext uri="{BB962C8B-B14F-4D97-AF65-F5344CB8AC3E}">
        <p14:creationId xmlns:p14="http://schemas.microsoft.com/office/powerpoint/2010/main" val="130294488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0">
              <a:schemeClr val="bg1">
                <a:lumMod val="75000"/>
                <a:lumOff val="2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6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510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A62800DF-3A9E-518E-75A4-3ED781E4E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643467"/>
            <a:ext cx="9600217" cy="35858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7200"/>
              <a:t>Oppsett av VSCode</a:t>
            </a:r>
          </a:p>
        </p:txBody>
      </p:sp>
    </p:spTree>
    <p:extLst>
      <p:ext uri="{BB962C8B-B14F-4D97-AF65-F5344CB8AC3E}">
        <p14:creationId xmlns:p14="http://schemas.microsoft.com/office/powerpoint/2010/main" val="117847445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65000"/>
                <a:lumOff val="35000"/>
              </a:schemeClr>
            </a:gs>
            <a:gs pos="10000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D799898-B030-8E81-53BA-3B290C377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3" y="403639"/>
            <a:ext cx="10353761" cy="1326321"/>
          </a:xfrm>
        </p:spPr>
        <p:txBody>
          <a:bodyPr>
            <a:normAutofit/>
          </a:bodyPr>
          <a:lstStyle/>
          <a:p>
            <a:r>
              <a:rPr lang="nb-NO" sz="4800" dirty="0"/>
              <a:t>Extensions</a:t>
            </a:r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E1B61653-2CEA-6C42-F129-4B9542490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591" y="1533470"/>
            <a:ext cx="6392167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190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65000"/>
                <a:lumOff val="35000"/>
              </a:schemeClr>
            </a:gs>
            <a:gs pos="10000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D799898-B030-8E81-53BA-3B290C377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8" y="422867"/>
            <a:ext cx="10353761" cy="1326321"/>
          </a:xfrm>
        </p:spPr>
        <p:txBody>
          <a:bodyPr>
            <a:normAutofit/>
          </a:bodyPr>
          <a:lstStyle/>
          <a:p>
            <a:r>
              <a:rPr lang="nb-NO" sz="4800" dirty="0"/>
              <a:t>Extensions</a:t>
            </a:r>
          </a:p>
        </p:txBody>
      </p:sp>
      <p:sp>
        <p:nvSpPr>
          <p:cNvPr id="7" name="Plassholder for innhold 6">
            <a:extLst>
              <a:ext uri="{FF2B5EF4-FFF2-40B4-BE49-F238E27FC236}">
                <a16:creationId xmlns:a16="http://schemas.microsoft.com/office/drawing/2014/main" id="{2F5DFEEF-0122-1B25-7160-EC1841215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794" y="2363714"/>
            <a:ext cx="10353762" cy="3695136"/>
          </a:xfrm>
        </p:spPr>
        <p:txBody>
          <a:bodyPr>
            <a:normAutofit/>
          </a:bodyPr>
          <a:lstStyle/>
          <a:p>
            <a:r>
              <a:rPr lang="nb-NO" sz="2800" dirty="0"/>
              <a:t>Vi kommer til å trenge:</a:t>
            </a:r>
          </a:p>
          <a:p>
            <a:r>
              <a:rPr lang="nb-NO" sz="2600" dirty="0"/>
              <a:t>HTML/CSS</a:t>
            </a:r>
          </a:p>
          <a:p>
            <a:r>
              <a:rPr lang="nb-NO" sz="2600" dirty="0"/>
              <a:t>JavaScript</a:t>
            </a:r>
          </a:p>
          <a:p>
            <a:r>
              <a:rPr lang="nb-NO" sz="2600" dirty="0"/>
              <a:t>Python</a:t>
            </a:r>
          </a:p>
          <a:p>
            <a:r>
              <a:rPr lang="nb-NO" sz="2600" dirty="0" err="1"/>
              <a:t>open</a:t>
            </a:r>
            <a:r>
              <a:rPr lang="nb-NO" sz="2600" dirty="0"/>
              <a:t> in </a:t>
            </a:r>
            <a:r>
              <a:rPr lang="nb-NO" sz="2600" dirty="0" err="1"/>
              <a:t>browser</a:t>
            </a:r>
            <a:endParaRPr lang="nb-NO" sz="2600" dirty="0"/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AD12E8B2-8F8B-5C0D-56E3-19E6DBD0B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336" y="1448325"/>
            <a:ext cx="7173326" cy="847843"/>
          </a:xfrm>
          <a:prstGeom prst="rect">
            <a:avLst/>
          </a:prstGeom>
        </p:spPr>
      </p:pic>
      <p:pic>
        <p:nvPicPr>
          <p:cNvPr id="8" name="Bilde 7">
            <a:extLst>
              <a:ext uri="{FF2B5EF4-FFF2-40B4-BE49-F238E27FC236}">
                <a16:creationId xmlns:a16="http://schemas.microsoft.com/office/drawing/2014/main" id="{01E94973-0655-FE93-9CD1-23C570A9A5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838" y="2460982"/>
            <a:ext cx="3048425" cy="933580"/>
          </a:xfrm>
          <a:prstGeom prst="rect">
            <a:avLst/>
          </a:prstGeom>
        </p:spPr>
      </p:pic>
      <p:pic>
        <p:nvPicPr>
          <p:cNvPr id="10" name="Bilde 9">
            <a:extLst>
              <a:ext uri="{FF2B5EF4-FFF2-40B4-BE49-F238E27FC236}">
                <a16:creationId xmlns:a16="http://schemas.microsoft.com/office/drawing/2014/main" id="{854F22A9-77A9-7F15-651F-8CBD67D15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468" y="3470970"/>
            <a:ext cx="3905795" cy="866896"/>
          </a:xfrm>
          <a:prstGeom prst="rect">
            <a:avLst/>
          </a:prstGeom>
        </p:spPr>
      </p:pic>
      <p:pic>
        <p:nvPicPr>
          <p:cNvPr id="12" name="Bilde 11">
            <a:extLst>
              <a:ext uri="{FF2B5EF4-FFF2-40B4-BE49-F238E27FC236}">
                <a16:creationId xmlns:a16="http://schemas.microsoft.com/office/drawing/2014/main" id="{E02FE925-E778-848E-26C1-2AF456128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046" y="4389512"/>
            <a:ext cx="4782217" cy="933580"/>
          </a:xfrm>
          <a:prstGeom prst="rect">
            <a:avLst/>
          </a:prstGeom>
        </p:spPr>
      </p:pic>
      <p:pic>
        <p:nvPicPr>
          <p:cNvPr id="14" name="Bilde 13">
            <a:extLst>
              <a:ext uri="{FF2B5EF4-FFF2-40B4-BE49-F238E27FC236}">
                <a16:creationId xmlns:a16="http://schemas.microsoft.com/office/drawing/2014/main" id="{4D559A56-731F-17DB-0B6F-F3971C7110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9149" y="5399500"/>
            <a:ext cx="6373114" cy="876422"/>
          </a:xfrm>
          <a:prstGeom prst="rect">
            <a:avLst/>
          </a:prstGeom>
        </p:spPr>
      </p:pic>
      <p:pic>
        <p:nvPicPr>
          <p:cNvPr id="16" name="Bilde 15">
            <a:extLst>
              <a:ext uri="{FF2B5EF4-FFF2-40B4-BE49-F238E27FC236}">
                <a16:creationId xmlns:a16="http://schemas.microsoft.com/office/drawing/2014/main" id="{C84E9796-5F13-44F3-1227-779D3E34E2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3426" y="1167610"/>
            <a:ext cx="1978999" cy="111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34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65000"/>
                <a:lumOff val="35000"/>
              </a:schemeClr>
            </a:gs>
            <a:gs pos="100000">
              <a:schemeClr val="bg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6148048-41A7-AD57-862A-F9184C963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z="4400" dirty="0"/>
              <a:t>Mappestruktur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0244F52-7852-250F-78E9-FF2B60FB1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5938418" cy="3695136"/>
          </a:xfrm>
        </p:spPr>
        <p:txBody>
          <a:bodyPr>
            <a:normAutofit/>
          </a:bodyPr>
          <a:lstStyle/>
          <a:p>
            <a:r>
              <a:rPr lang="nb-NO" sz="2800" dirty="0"/>
              <a:t>I «IKT» mappen din, lag en mappe som heter «Kode»</a:t>
            </a:r>
          </a:p>
          <a:p>
            <a:r>
              <a:rPr lang="nb-NO" sz="2800" dirty="0"/>
              <a:t>Deretter, i </a:t>
            </a:r>
            <a:r>
              <a:rPr lang="nb-NO" sz="2800" dirty="0" err="1"/>
              <a:t>VSCode</a:t>
            </a:r>
            <a:r>
              <a:rPr lang="nb-NO" sz="2800" dirty="0"/>
              <a:t>, trykk «Open Folder»</a:t>
            </a:r>
          </a:p>
          <a:p>
            <a:r>
              <a:rPr lang="nb-NO" sz="2800" dirty="0"/>
              <a:t>Finn «Kode» mappen din</a:t>
            </a:r>
          </a:p>
          <a:p>
            <a:pPr marL="0" indent="0">
              <a:buNone/>
            </a:pPr>
            <a:endParaRPr lang="nb-NO" sz="2800" dirty="0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0C23E223-C9A3-10AF-8AA3-D94962A96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512" y="1797024"/>
            <a:ext cx="4698358" cy="475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02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1"/>
            </a:gs>
            <a:gs pos="0">
              <a:schemeClr val="bg1">
                <a:lumMod val="75000"/>
                <a:lumOff val="2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6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510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A62800DF-3A9E-518E-75A4-3ED781E4E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891" y="482600"/>
            <a:ext cx="9600217" cy="35858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/>
              <a:t>You’re all set!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154E7853-6099-AA69-3ACB-64AE98F20DA0}"/>
              </a:ext>
            </a:extLst>
          </p:cNvPr>
          <p:cNvSpPr txBox="1"/>
          <p:nvPr/>
        </p:nvSpPr>
        <p:spPr>
          <a:xfrm>
            <a:off x="307042" y="4919687"/>
            <a:ext cx="11577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2800" dirty="0"/>
              <a:t>(Installasjon av Python tar vi når vi kommer til Python-delen av faget!)</a:t>
            </a:r>
          </a:p>
        </p:txBody>
      </p:sp>
    </p:spTree>
    <p:extLst>
      <p:ext uri="{BB962C8B-B14F-4D97-AF65-F5344CB8AC3E}">
        <p14:creationId xmlns:p14="http://schemas.microsoft.com/office/powerpoint/2010/main" val="405740718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f681af4-b657-4b5a-8179-809605163d28" xsi:nil="true"/>
    <lcf76f155ced4ddcb4097134ff3c332f xmlns="378a66ac-eb65-4c48-aeff-c371a53ffd7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AE740601303664D89A49B4379666EAF" ma:contentTypeVersion="11" ma:contentTypeDescription="Opprett et nytt dokument." ma:contentTypeScope="" ma:versionID="bab265c8af60ab04d26a74db93fda490">
  <xsd:schema xmlns:xsd="http://www.w3.org/2001/XMLSchema" xmlns:xs="http://www.w3.org/2001/XMLSchema" xmlns:p="http://schemas.microsoft.com/office/2006/metadata/properties" xmlns:ns2="af681af4-b657-4b5a-8179-809605163d28" xmlns:ns3="378a66ac-eb65-4c48-aeff-c371a53ffd72" targetNamespace="http://schemas.microsoft.com/office/2006/metadata/properties" ma:root="true" ma:fieldsID="3e147aff7170a36a0d108e4f2ae3c7ae" ns2:_="" ns3:_="">
    <xsd:import namespace="af681af4-b657-4b5a-8179-809605163d28"/>
    <xsd:import namespace="378a66ac-eb65-4c48-aeff-c371a53ffd7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681af4-b657-4b5a-8179-809605163d2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8e92dff-9770-449a-a2b1-8a7a45e58194}" ma:internalName="TaxCatchAll" ma:showField="CatchAllData" ma:web="af681af4-b657-4b5a-8179-809605163d2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8a66ac-eb65-4c48-aeff-c371a53ff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ildemerkelapper" ma:readOnly="false" ma:fieldId="{5cf76f15-5ced-4ddc-b409-7134ff3c332f}" ma:taxonomyMulti="true" ma:sspId="77bb5f2b-d4a0-4b54-bd97-63e1ab2bf3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61B70B7-2C38-4769-9BCB-70C391A0928C}">
  <ds:schemaRefs>
    <ds:schemaRef ds:uri="http://schemas.microsoft.com/office/2006/metadata/properties"/>
    <ds:schemaRef ds:uri="http://schemas.microsoft.com/office/infopath/2007/PartnerControls"/>
    <ds:schemaRef ds:uri="af681af4-b657-4b5a-8179-809605163d28"/>
    <ds:schemaRef ds:uri="378a66ac-eb65-4c48-aeff-c371a53ffd72"/>
  </ds:schemaRefs>
</ds:datastoreItem>
</file>

<file path=customXml/itemProps2.xml><?xml version="1.0" encoding="utf-8"?>
<ds:datastoreItem xmlns:ds="http://schemas.openxmlformats.org/officeDocument/2006/customXml" ds:itemID="{A5F4684A-A35D-4863-9F0E-CEDEA62FAF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681af4-b657-4b5a-8179-809605163d28"/>
    <ds:schemaRef ds:uri="378a66ac-eb65-4c48-aeff-c371a53ffd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1EFDE8-7FA7-4E68-9D75-34342EAB7E8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297</TotalTime>
  <Words>364</Words>
  <Application>Microsoft Office PowerPoint</Application>
  <PresentationFormat>Widescreen</PresentationFormat>
  <Paragraphs>76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Bookman Old Style</vt:lpstr>
      <vt:lpstr>Calibri</vt:lpstr>
      <vt:lpstr>Consolas</vt:lpstr>
      <vt:lpstr>Rockwell</vt:lpstr>
      <vt:lpstr>Damask</vt:lpstr>
      <vt:lpstr>Koding &amp; Programmering</vt:lpstr>
      <vt:lpstr>Først, kjapt om datamaskiner</vt:lpstr>
      <vt:lpstr>Er dette en datamaskin?</vt:lpstr>
      <vt:lpstr>Er dette en datamaskin?</vt:lpstr>
      <vt:lpstr>Er dette en datamaskin?</vt:lpstr>
      <vt:lpstr>Er dette en datamaskin?</vt:lpstr>
      <vt:lpstr>Er dette en datamaskin?</vt:lpstr>
      <vt:lpstr>Er dette en datamaskin?</vt:lpstr>
      <vt:lpstr>Hva er dette?</vt:lpstr>
      <vt:lpstr>Hva er dette?</vt:lpstr>
      <vt:lpstr>Er DU en datamaskin?</vt:lpstr>
      <vt:lpstr>Hva er et programmeringsspråk?</vt:lpstr>
      <vt:lpstr>Trenger datamaskinen programmeringsspråk?</vt:lpstr>
      <vt:lpstr>Nei! Det er DU som trenger programmeringsspråk!</vt:lpstr>
      <vt:lpstr>"Hello World!"</vt:lpstr>
      <vt:lpstr>«Hello World!»  Python</vt:lpstr>
      <vt:lpstr>«Hello World!»  Javascript</vt:lpstr>
      <vt:lpstr>«Hello World!»  HTML</vt:lpstr>
      <vt:lpstr>«Hello World!»   x86 Assembly</vt:lpstr>
      <vt:lpstr>Kan vi gå enda lengre?</vt:lpstr>
      <vt:lpstr>Human Resource Machine</vt:lpstr>
      <vt:lpstr>Installering av VSCode</vt:lpstr>
      <vt:lpstr>Oppsett av VSCode</vt:lpstr>
      <vt:lpstr>Extensions</vt:lpstr>
      <vt:lpstr>Extensions</vt:lpstr>
      <vt:lpstr>Mappestruktur</vt:lpstr>
      <vt:lpstr>You’re all set!</vt:lpstr>
    </vt:vector>
  </TitlesOfParts>
  <Company>Rogaland fylkeskommune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Koding &amp; Programmering</dc:title>
  <dc:creator>Sindre Vatland Hvidsten</dc:creator>
  <cp:lastModifiedBy>Sindre Vatland Hvidsten</cp:lastModifiedBy>
  <cp:revision>6</cp:revision>
  <dcterms:created xsi:type="dcterms:W3CDTF">2023-08-31T09:06:33Z</dcterms:created>
  <dcterms:modified xsi:type="dcterms:W3CDTF">2023-11-27T08:26:27Z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0x010100DAE740601303664D89A49B4379666EAF</vt:lpwstr>
  </property>
  <property fmtid="{D5CDD505-2E9C-101B-9397-08002B2CF9AE}" pid="3" name="MediaServiceImageTags">
    <vt:lpwstr/>
  </property>
</Properties>
</file>