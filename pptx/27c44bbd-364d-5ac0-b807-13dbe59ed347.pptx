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9" r:id="rId6"/>
    <p:sldId id="270" r:id="rId7"/>
    <p:sldId id="271" r:id="rId8"/>
    <p:sldId id="278" r:id="rId9"/>
    <p:sldId id="277" r:id="rId10"/>
    <p:sldId id="279" r:id="rId11"/>
    <p:sldId id="280" r:id="rId12"/>
    <p:sldId id="281" r:id="rId13"/>
    <p:sldId id="282" r:id="rId14"/>
    <p:sldId id="283" r:id="rId15"/>
    <p:sldId id="265" r:id="rId16"/>
    <p:sldId id="266" r:id="rId17"/>
    <p:sldId id="258" r:id="rId18"/>
    <p:sldId id="259" r:id="rId19"/>
    <p:sldId id="276" r:id="rId20"/>
    <p:sldId id="261" r:id="rId21"/>
    <p:sldId id="275" r:id="rId22"/>
    <p:sldId id="260" r:id="rId23"/>
    <p:sldId id="262" r:id="rId24"/>
    <p:sldId id="263" r:id="rId25"/>
    <p:sldId id="264" r:id="rId26"/>
    <p:sldId id="274" r:id="rId27"/>
    <p:sldId id="267" r:id="rId28"/>
    <p:sldId id="268" r:id="rId29"/>
    <p:sldId id="257" r:id="rId30"/>
    <p:sldId id="272" r:id="rId31"/>
    <p:sldId id="273" r:id="rId32"/>
    <p:sldId id="284" r:id="rId33"/>
    <p:sldId id="28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11409-9559-4720-92AC-B7EF242BA9E4}" v="1189" dt="2021-04-18T21:42:25.108"/>
    <p1510:client id="{900D2307-24C0-4F22-9ED7-5A71E91308F3}" v="2953" dt="2021-04-18T21:32:18.407"/>
    <p1510:client id="{B9C33737-DCAE-49BA-A5A2-5E30EB50F977}" v="878" dt="2021-04-18T11:14:28.334"/>
    <p1510:client id="{BD236B38-7070-4F0C-88F2-5C37619096D0}" v="1992" dt="2021-04-18T12:18:13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F3608C-4C2E-469F-8824-C864EEFDF619}" type="doc">
      <dgm:prSet loTypeId="urn:microsoft.com/office/officeart/2018/2/layout/IconLabelList" loCatId="icon" qsTypeId="urn:microsoft.com/office/officeart/2005/8/quickstyle/simple1#2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CD4091-1E0A-41C6-B573-043B637DDDEC}">
      <dgm:prSet/>
      <dgm:spPr/>
      <dgm:t>
        <a:bodyPr/>
        <a:lstStyle/>
        <a:p>
          <a:r>
            <a:rPr lang="nb-NO"/>
            <a:t>Den første er et Mesh / Node system koblet til en og samme kontroller</a:t>
          </a:r>
          <a:endParaRPr lang="en-US"/>
        </a:p>
      </dgm:t>
    </dgm:pt>
    <dgm:pt modelId="{C5CDD660-F258-4813-859C-F4957290BEF3}" type="parTrans" cxnId="{574CCD6C-5B0D-4764-9D86-836793B4C529}">
      <dgm:prSet/>
      <dgm:spPr/>
      <dgm:t>
        <a:bodyPr/>
        <a:lstStyle/>
        <a:p>
          <a:endParaRPr lang="en-US"/>
        </a:p>
      </dgm:t>
    </dgm:pt>
    <dgm:pt modelId="{CB108F64-CB22-4D19-BB77-CC81C050FE6A}" type="sibTrans" cxnId="{574CCD6C-5B0D-4764-9D86-836793B4C529}">
      <dgm:prSet/>
      <dgm:spPr/>
      <dgm:t>
        <a:bodyPr/>
        <a:lstStyle/>
        <a:p>
          <a:endParaRPr lang="en-US"/>
        </a:p>
      </dgm:t>
    </dgm:pt>
    <dgm:pt modelId="{6B06FB83-EF10-4F07-9890-440006413D59}">
      <dgm:prSet/>
      <dgm:spPr/>
      <dgm:t>
        <a:bodyPr/>
        <a:lstStyle/>
        <a:p>
          <a:r>
            <a:rPr lang="nb-NO"/>
            <a:t>Den andre krever en egen sentralisert styringsenhet, i form av hub eller server.</a:t>
          </a:r>
          <a:endParaRPr lang="en-US"/>
        </a:p>
      </dgm:t>
    </dgm:pt>
    <dgm:pt modelId="{5B5941EC-9069-4C35-8983-5C65AE018244}" type="parTrans" cxnId="{28D0060D-7C74-4AC1-A0F1-2D89AADB1602}">
      <dgm:prSet/>
      <dgm:spPr/>
      <dgm:t>
        <a:bodyPr/>
        <a:lstStyle/>
        <a:p>
          <a:endParaRPr lang="en-US"/>
        </a:p>
      </dgm:t>
    </dgm:pt>
    <dgm:pt modelId="{11554345-6884-4B56-B1F0-0DCC0C3D0DA8}" type="sibTrans" cxnId="{28D0060D-7C74-4AC1-A0F1-2D89AADB1602}">
      <dgm:prSet/>
      <dgm:spPr/>
      <dgm:t>
        <a:bodyPr/>
        <a:lstStyle/>
        <a:p>
          <a:endParaRPr lang="en-US"/>
        </a:p>
      </dgm:t>
    </dgm:pt>
    <dgm:pt modelId="{2466998A-C293-4620-9E25-2FCFA25C7C64}" type="pres">
      <dgm:prSet presAssocID="{8AF3608C-4C2E-469F-8824-C864EEFDF619}" presName="root" presStyleCnt="0">
        <dgm:presLayoutVars>
          <dgm:dir/>
          <dgm:resizeHandles val="exact"/>
        </dgm:presLayoutVars>
      </dgm:prSet>
      <dgm:spPr/>
    </dgm:pt>
    <dgm:pt modelId="{8392E51C-9511-45B0-8C9D-371572F7878F}" type="pres">
      <dgm:prSet presAssocID="{DACD4091-1E0A-41C6-B573-043B637DDDEC}" presName="compNode" presStyleCnt="0"/>
      <dgm:spPr/>
    </dgm:pt>
    <dgm:pt modelId="{02928203-A7EF-419D-8E59-C6B845E4E763}" type="pres">
      <dgm:prSet presAssocID="{DACD4091-1E0A-41C6-B573-043B637DDDE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akoblet"/>
        </a:ext>
      </dgm:extLst>
    </dgm:pt>
    <dgm:pt modelId="{9134845F-4376-4A11-8AFF-85D3AA64105F}" type="pres">
      <dgm:prSet presAssocID="{DACD4091-1E0A-41C6-B573-043B637DDDEC}" presName="spaceRect" presStyleCnt="0"/>
      <dgm:spPr/>
    </dgm:pt>
    <dgm:pt modelId="{8EF1B3CF-92AD-4A9E-89DF-B0D33891E4C8}" type="pres">
      <dgm:prSet presAssocID="{DACD4091-1E0A-41C6-B573-043B637DDDEC}" presName="textRect" presStyleLbl="revTx" presStyleIdx="0" presStyleCnt="2">
        <dgm:presLayoutVars>
          <dgm:chMax val="1"/>
          <dgm:chPref val="1"/>
        </dgm:presLayoutVars>
      </dgm:prSet>
      <dgm:spPr/>
    </dgm:pt>
    <dgm:pt modelId="{43C1330B-EA21-47A9-8786-12210C798195}" type="pres">
      <dgm:prSet presAssocID="{CB108F64-CB22-4D19-BB77-CC81C050FE6A}" presName="sibTrans" presStyleCnt="0"/>
      <dgm:spPr/>
    </dgm:pt>
    <dgm:pt modelId="{ADE6E039-C012-49D4-9FF8-8E3E151331F4}" type="pres">
      <dgm:prSet presAssocID="{6B06FB83-EF10-4F07-9890-440006413D59}" presName="compNode" presStyleCnt="0"/>
      <dgm:spPr/>
    </dgm:pt>
    <dgm:pt modelId="{93B7A1EB-AA75-486E-9F2C-88D18F5BFE56}" type="pres">
      <dgm:prSet presAssocID="{6B06FB83-EF10-4F07-9890-440006413D5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sessor"/>
        </a:ext>
      </dgm:extLst>
    </dgm:pt>
    <dgm:pt modelId="{0D38EA45-A867-44D8-AFE5-C9F0B97B0125}" type="pres">
      <dgm:prSet presAssocID="{6B06FB83-EF10-4F07-9890-440006413D59}" presName="spaceRect" presStyleCnt="0"/>
      <dgm:spPr/>
    </dgm:pt>
    <dgm:pt modelId="{02395E74-F938-46FB-A7A6-5DACE308C146}" type="pres">
      <dgm:prSet presAssocID="{6B06FB83-EF10-4F07-9890-440006413D5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8D0060D-7C74-4AC1-A0F1-2D89AADB1602}" srcId="{8AF3608C-4C2E-469F-8824-C864EEFDF619}" destId="{6B06FB83-EF10-4F07-9890-440006413D59}" srcOrd="1" destOrd="0" parTransId="{5B5941EC-9069-4C35-8983-5C65AE018244}" sibTransId="{11554345-6884-4B56-B1F0-0DCC0C3D0DA8}"/>
    <dgm:cxn modelId="{643ED226-C254-4758-8FB5-510550B19D47}" type="presOf" srcId="{DACD4091-1E0A-41C6-B573-043B637DDDEC}" destId="{8EF1B3CF-92AD-4A9E-89DF-B0D33891E4C8}" srcOrd="0" destOrd="0" presId="urn:microsoft.com/office/officeart/2018/2/layout/IconLabelList"/>
    <dgm:cxn modelId="{844F452E-A634-467E-9A7D-7A59497B7467}" type="presOf" srcId="{8AF3608C-4C2E-469F-8824-C864EEFDF619}" destId="{2466998A-C293-4620-9E25-2FCFA25C7C64}" srcOrd="0" destOrd="0" presId="urn:microsoft.com/office/officeart/2018/2/layout/IconLabelList"/>
    <dgm:cxn modelId="{8874CC5F-65AD-4124-ADEF-80D54145F0ED}" type="presOf" srcId="{6B06FB83-EF10-4F07-9890-440006413D59}" destId="{02395E74-F938-46FB-A7A6-5DACE308C146}" srcOrd="0" destOrd="0" presId="urn:microsoft.com/office/officeart/2018/2/layout/IconLabelList"/>
    <dgm:cxn modelId="{574CCD6C-5B0D-4764-9D86-836793B4C529}" srcId="{8AF3608C-4C2E-469F-8824-C864EEFDF619}" destId="{DACD4091-1E0A-41C6-B573-043B637DDDEC}" srcOrd="0" destOrd="0" parTransId="{C5CDD660-F258-4813-859C-F4957290BEF3}" sibTransId="{CB108F64-CB22-4D19-BB77-CC81C050FE6A}"/>
    <dgm:cxn modelId="{7CB288B9-0C90-406B-A6A1-24FDC7F3CD30}" type="presParOf" srcId="{2466998A-C293-4620-9E25-2FCFA25C7C64}" destId="{8392E51C-9511-45B0-8C9D-371572F7878F}" srcOrd="0" destOrd="0" presId="urn:microsoft.com/office/officeart/2018/2/layout/IconLabelList"/>
    <dgm:cxn modelId="{0DBB6CB1-9D88-4AB4-BBFB-009F2D977D8F}" type="presParOf" srcId="{8392E51C-9511-45B0-8C9D-371572F7878F}" destId="{02928203-A7EF-419D-8E59-C6B845E4E763}" srcOrd="0" destOrd="0" presId="urn:microsoft.com/office/officeart/2018/2/layout/IconLabelList"/>
    <dgm:cxn modelId="{9881133A-5969-4BBD-BB89-E38637FCDE9C}" type="presParOf" srcId="{8392E51C-9511-45B0-8C9D-371572F7878F}" destId="{9134845F-4376-4A11-8AFF-85D3AA64105F}" srcOrd="1" destOrd="0" presId="urn:microsoft.com/office/officeart/2018/2/layout/IconLabelList"/>
    <dgm:cxn modelId="{3B260847-F753-486F-A449-0C65037BDBD6}" type="presParOf" srcId="{8392E51C-9511-45B0-8C9D-371572F7878F}" destId="{8EF1B3CF-92AD-4A9E-89DF-B0D33891E4C8}" srcOrd="2" destOrd="0" presId="urn:microsoft.com/office/officeart/2018/2/layout/IconLabelList"/>
    <dgm:cxn modelId="{CAF86A13-A4F1-494A-9E4F-E0EAE59E5B5C}" type="presParOf" srcId="{2466998A-C293-4620-9E25-2FCFA25C7C64}" destId="{43C1330B-EA21-47A9-8786-12210C798195}" srcOrd="1" destOrd="0" presId="urn:microsoft.com/office/officeart/2018/2/layout/IconLabelList"/>
    <dgm:cxn modelId="{08EF67C3-A402-4A54-9566-C85191C28C41}" type="presParOf" srcId="{2466998A-C293-4620-9E25-2FCFA25C7C64}" destId="{ADE6E039-C012-49D4-9FF8-8E3E151331F4}" srcOrd="2" destOrd="0" presId="urn:microsoft.com/office/officeart/2018/2/layout/IconLabelList"/>
    <dgm:cxn modelId="{E9C72E55-17AF-4AD9-ADA3-9CB10B832DF5}" type="presParOf" srcId="{ADE6E039-C012-49D4-9FF8-8E3E151331F4}" destId="{93B7A1EB-AA75-486E-9F2C-88D18F5BFE56}" srcOrd="0" destOrd="0" presId="urn:microsoft.com/office/officeart/2018/2/layout/IconLabelList"/>
    <dgm:cxn modelId="{B628745C-D2A3-4CB6-8BB2-208E3A8A0C9E}" type="presParOf" srcId="{ADE6E039-C012-49D4-9FF8-8E3E151331F4}" destId="{0D38EA45-A867-44D8-AFE5-C9F0B97B0125}" srcOrd="1" destOrd="0" presId="urn:microsoft.com/office/officeart/2018/2/layout/IconLabelList"/>
    <dgm:cxn modelId="{FAFC92B5-2134-4CB4-9985-4717186FEA0F}" type="presParOf" srcId="{ADE6E039-C012-49D4-9FF8-8E3E151331F4}" destId="{02395E74-F938-46FB-A7A6-5DACE308C14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28203-A7EF-419D-8E59-C6B845E4E763}">
      <dsp:nvSpPr>
        <dsp:cNvPr id="0" name=""/>
        <dsp:cNvSpPr/>
      </dsp:nvSpPr>
      <dsp:spPr>
        <a:xfrm>
          <a:off x="1766850" y="8828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1B3CF-92AD-4A9E-89DF-B0D33891E4C8}">
      <dsp:nvSpPr>
        <dsp:cNvPr id="0" name=""/>
        <dsp:cNvSpPr/>
      </dsp:nvSpPr>
      <dsp:spPr>
        <a:xfrm>
          <a:off x="578850" y="250252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/>
            <a:t>Den første er et Mesh / Node system koblet til en og samme kontroller</a:t>
          </a:r>
          <a:endParaRPr lang="en-US" sz="1700" kern="1200"/>
        </a:p>
      </dsp:txBody>
      <dsp:txXfrm>
        <a:off x="578850" y="2502527"/>
        <a:ext cx="4320000" cy="720000"/>
      </dsp:txXfrm>
    </dsp:sp>
    <dsp:sp modelId="{93B7A1EB-AA75-486E-9F2C-88D18F5BFE56}">
      <dsp:nvSpPr>
        <dsp:cNvPr id="0" name=""/>
        <dsp:cNvSpPr/>
      </dsp:nvSpPr>
      <dsp:spPr>
        <a:xfrm>
          <a:off x="6842850" y="8828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95E74-F938-46FB-A7A6-5DACE308C146}">
      <dsp:nvSpPr>
        <dsp:cNvPr id="0" name=""/>
        <dsp:cNvSpPr/>
      </dsp:nvSpPr>
      <dsp:spPr>
        <a:xfrm>
          <a:off x="5654850" y="250252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/>
            <a:t>Den andre krever en egen sentralisert styringsenhet, i form av hub eller server.</a:t>
          </a:r>
          <a:endParaRPr lang="en-US" sz="1700" kern="1200"/>
        </a:p>
      </dsp:txBody>
      <dsp:txXfrm>
        <a:off x="5654850" y="2502527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8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02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1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09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62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99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47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42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45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7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51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71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56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1996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zNK_Tgkb30?feature=oembed" TargetMode="External"/><Relationship Id="rId4" Type="http://schemas.openxmlformats.org/officeDocument/2006/relationships/hyperlink" Target="https://www.youtube.com/watch?v=azNK_Tgkb30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4vZb-prIto?feature=oembed" TargetMode="External"/><Relationship Id="rId4" Type="http://schemas.openxmlformats.org/officeDocument/2006/relationships/hyperlink" Target="https://www.youtube.com/watch?v=p4vZb-prIto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cnlAVDXd7k?feature=oembed" TargetMode="External"/><Relationship Id="rId4" Type="http://schemas.openxmlformats.org/officeDocument/2006/relationships/hyperlink" Target="https://www.youtube.com/watch?v=ccnlAVDXd7k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54047A07-72EC-41BC-A55F-C264F639F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e 4" descr="Et bilde som inneholder innendørs&#10;&#10;Automatisk generert beskrivelse">
            <a:extLst>
              <a:ext uri="{FF2B5EF4-FFF2-40B4-BE49-F238E27FC236}">
                <a16:creationId xmlns:a16="http://schemas.microsoft.com/office/drawing/2014/main" id="{E9BA4129-756B-4A62-A3D7-3331DA1DB6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3732453"/>
          </a:xfrm>
        </p:spPr>
        <p:txBody>
          <a:bodyPr>
            <a:normAutofit/>
          </a:bodyPr>
          <a:lstStyle/>
          <a:p>
            <a:r>
              <a:rPr lang="en-US" dirty="0"/>
              <a:t>IoT, </a:t>
            </a:r>
            <a:r>
              <a:rPr lang="en-US" dirty="0" err="1"/>
              <a:t>Tingenes</a:t>
            </a:r>
            <a:r>
              <a:rPr lang="en-US" dirty="0"/>
              <a:t> </a:t>
            </a:r>
            <a:r>
              <a:rPr lang="en-US" dirty="0" err="1"/>
              <a:t>Internett</a:t>
            </a:r>
          </a:p>
        </p:txBody>
      </p:sp>
    </p:spTree>
    <p:extLst>
      <p:ext uri="{BB962C8B-B14F-4D97-AF65-F5344CB8AC3E}">
        <p14:creationId xmlns:p14="http://schemas.microsoft.com/office/powerpoint/2010/main" val="425312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64458A7-360E-49B3-8754-1B7B8FBE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3600" dirty="0"/>
              <a:t>Vi skal snakke om forskjellen på "Smarthus"</a:t>
            </a:r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4C35D678-E374-49A1-B1B3-9009E1EDD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089" y="2010621"/>
            <a:ext cx="6775098" cy="4596066"/>
          </a:xfrm>
        </p:spPr>
      </p:pic>
      <p:pic>
        <p:nvPicPr>
          <p:cNvPr id="5" name="Bilde 5" descr="Et bilde som inneholder tekst&#10;&#10;Automatisk generert beskrivelse">
            <a:extLst>
              <a:ext uri="{FF2B5EF4-FFF2-40B4-BE49-F238E27FC236}">
                <a16:creationId xmlns:a16="http://schemas.microsoft.com/office/drawing/2014/main" id="{A1EEBCEF-BD11-49B1-9B08-8B7395048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789" y="2332895"/>
            <a:ext cx="5092700" cy="632931"/>
          </a:xfrm>
          <a:prstGeom prst="rect">
            <a:avLst/>
          </a:prstGeom>
        </p:spPr>
      </p:pic>
      <p:pic>
        <p:nvPicPr>
          <p:cNvPr id="6" name="Bilde 6" descr="Et bilde som inneholder tekst&#10;&#10;Automatisk generert beskrivelse">
            <a:extLst>
              <a:ext uri="{FF2B5EF4-FFF2-40B4-BE49-F238E27FC236}">
                <a16:creationId xmlns:a16="http://schemas.microsoft.com/office/drawing/2014/main" id="{1B50F6A9-7055-49CF-8B2D-C2A1A574B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844" y="3611389"/>
            <a:ext cx="5085644" cy="630056"/>
          </a:xfrm>
          <a:prstGeom prst="rect">
            <a:avLst/>
          </a:prstGeom>
        </p:spPr>
      </p:pic>
      <p:pic>
        <p:nvPicPr>
          <p:cNvPr id="7" name="Bilde 7" descr="Et bilde som inneholder tekst&#10;&#10;Automatisk generert beskrivelse">
            <a:extLst>
              <a:ext uri="{FF2B5EF4-FFF2-40B4-BE49-F238E27FC236}">
                <a16:creationId xmlns:a16="http://schemas.microsoft.com/office/drawing/2014/main" id="{5B67A528-7F74-4431-B39C-D5989C698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844" y="4389337"/>
            <a:ext cx="5057422" cy="1536547"/>
          </a:xfrm>
          <a:prstGeom prst="rect">
            <a:avLst/>
          </a:prstGeom>
        </p:spPr>
      </p:pic>
      <p:pic>
        <p:nvPicPr>
          <p:cNvPr id="8" name="Bilde 8">
            <a:extLst>
              <a:ext uri="{FF2B5EF4-FFF2-40B4-BE49-F238E27FC236}">
                <a16:creationId xmlns:a16="http://schemas.microsoft.com/office/drawing/2014/main" id="{50B629E3-75F1-4167-8BAF-E8F135C1B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141" y="6016625"/>
            <a:ext cx="2276827" cy="55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2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8D763D1-A0E2-454B-85A0-FDB9AF1A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Radiosignaler kan og vil forstyrres</a:t>
            </a:r>
          </a:p>
        </p:txBody>
      </p:sp>
      <p:pic>
        <p:nvPicPr>
          <p:cNvPr id="5" name="Bilde 5" descr="Et bilde som inneholder tekst, klokke&#10;&#10;Automatisk generert beskrivelse">
            <a:extLst>
              <a:ext uri="{FF2B5EF4-FFF2-40B4-BE49-F238E27FC236}">
                <a16:creationId xmlns:a16="http://schemas.microsoft.com/office/drawing/2014/main" id="{DA5D9A64-60ED-49A1-82B7-4CF868891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66" y="4279899"/>
            <a:ext cx="2214034" cy="2214034"/>
          </a:xfrm>
          <a:prstGeom prst="rect">
            <a:avLst/>
          </a:prstGeom>
        </p:spPr>
      </p:pic>
      <p:pic>
        <p:nvPicPr>
          <p:cNvPr id="6" name="Bilde 6" descr="Et bilde som inneholder elektronikk, rad&#10;&#10;Automatisk generert beskrivelse">
            <a:extLst>
              <a:ext uri="{FF2B5EF4-FFF2-40B4-BE49-F238E27FC236}">
                <a16:creationId xmlns:a16="http://schemas.microsoft.com/office/drawing/2014/main" id="{21638967-67F9-4287-BF48-44375C746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956" y="3256844"/>
            <a:ext cx="2460978" cy="2460978"/>
          </a:xfrm>
          <a:prstGeom prst="rect">
            <a:avLst/>
          </a:prstGeom>
        </p:spPr>
      </p:pic>
      <p:pic>
        <p:nvPicPr>
          <p:cNvPr id="7" name="Bilde 7" descr="Et bilde som inneholder tekst&#10;&#10;Automatisk generert beskrivelse">
            <a:extLst>
              <a:ext uri="{FF2B5EF4-FFF2-40B4-BE49-F238E27FC236}">
                <a16:creationId xmlns:a16="http://schemas.microsoft.com/office/drawing/2014/main" id="{EACE8DB7-B903-4748-83EB-80441D11A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178" y="2434966"/>
            <a:ext cx="6764866" cy="3970679"/>
          </a:xfrm>
          <a:prstGeom prst="rect">
            <a:avLst/>
          </a:prstGeom>
        </p:spPr>
      </p:pic>
      <p:pic>
        <p:nvPicPr>
          <p:cNvPr id="4" name="Bilde 4">
            <a:extLst>
              <a:ext uri="{FF2B5EF4-FFF2-40B4-BE49-F238E27FC236}">
                <a16:creationId xmlns:a16="http://schemas.microsoft.com/office/drawing/2014/main" id="{8AF0FD6E-94D2-4543-A24B-8BCB5C60B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03388" y="2213154"/>
            <a:ext cx="2455334" cy="1841501"/>
          </a:xfrm>
        </p:spPr>
      </p:pic>
    </p:spTree>
    <p:extLst>
      <p:ext uri="{BB962C8B-B14F-4D97-AF65-F5344CB8AC3E}">
        <p14:creationId xmlns:p14="http://schemas.microsoft.com/office/powerpoint/2010/main" val="59708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AA374B-9D34-40DA-B5E9-50ECB5E56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Og Smarte smarthus</a:t>
            </a:r>
          </a:p>
        </p:txBody>
      </p:sp>
      <p:pic>
        <p:nvPicPr>
          <p:cNvPr id="4" name="Bilde 4" descr="Et bilde som inneholder tekst, kontakt, fil&#10;&#10;Automatisk generert beskrivelse">
            <a:extLst>
              <a:ext uri="{FF2B5EF4-FFF2-40B4-BE49-F238E27FC236}">
                <a16:creationId xmlns:a16="http://schemas.microsoft.com/office/drawing/2014/main" id="{30FDA1C8-8BB3-47E7-A080-5E8D75996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299" y="2405731"/>
            <a:ext cx="3636511" cy="3636511"/>
          </a:xfrm>
        </p:spPr>
      </p:pic>
      <p:pic>
        <p:nvPicPr>
          <p:cNvPr id="3" name="Bilde 4" descr="Et bilde som inneholder tekst&#10;&#10;Automatisk generert beskrivelse">
            <a:extLst>
              <a:ext uri="{FF2B5EF4-FFF2-40B4-BE49-F238E27FC236}">
                <a16:creationId xmlns:a16="http://schemas.microsoft.com/office/drawing/2014/main" id="{5AC4CFDA-EA78-4618-AC30-DBE97DD5D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338" y="5029773"/>
            <a:ext cx="3716866" cy="1651350"/>
          </a:xfrm>
          <a:prstGeom prst="rect">
            <a:avLst/>
          </a:prstGeom>
        </p:spPr>
      </p:pic>
      <p:pic>
        <p:nvPicPr>
          <p:cNvPr id="6" name="Bilde 6">
            <a:extLst>
              <a:ext uri="{FF2B5EF4-FFF2-40B4-BE49-F238E27FC236}">
                <a16:creationId xmlns:a16="http://schemas.microsoft.com/office/drawing/2014/main" id="{4DF79791-2A4F-40F2-BF1C-63C2D2A57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844" y="2249824"/>
            <a:ext cx="4217811" cy="419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4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>
            <a:extLst>
              <a:ext uri="{FF2B5EF4-FFF2-40B4-BE49-F238E27FC236}">
                <a16:creationId xmlns:a16="http://schemas.microsoft.com/office/drawing/2014/main" id="{C60D8E68-3C34-4C0E-AD3E-80B283FF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Bilde 9">
            <a:hlinkClick r:id="" action="ppaction://media"/>
            <a:extLst>
              <a:ext uri="{FF2B5EF4-FFF2-40B4-BE49-F238E27FC236}">
                <a16:creationId xmlns:a16="http://schemas.microsoft.com/office/drawing/2014/main" id="{30A44447-378A-4373-AA75-B1070BDF109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810256" y="964692"/>
            <a:ext cx="6571488" cy="4928616"/>
          </a:xfrm>
          <a:prstGeom prst="rect">
            <a:avLst/>
          </a:prstGeom>
        </p:spPr>
      </p:pic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7188AEC5-C3B6-4F84-960F-0246A53F7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prstGeom prst="roundRect">
            <a:avLst>
              <a:gd name="adj" fmla="val 351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kstSylinder 1">
            <a:extLst>
              <a:ext uri="{FF2B5EF4-FFF2-40B4-BE49-F238E27FC236}">
                <a16:creationId xmlns:a16="http://schemas.microsoft.com/office/drawing/2014/main" id="{9A19D77E-25E9-4E81-83A7-32221DB81822}"/>
              </a:ext>
            </a:extLst>
          </p:cNvPr>
          <p:cNvSpPr txBox="1"/>
          <p:nvPr/>
        </p:nvSpPr>
        <p:spPr>
          <a:xfrm>
            <a:off x="4724400" y="5874456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highlight>
                  <a:srgbClr val="FFFF00"/>
                </a:highlight>
                <a:hlinkClick r:id="rId4"/>
              </a:rPr>
              <a:t>Link</a:t>
            </a:r>
            <a:endParaRPr lang="en-US">
              <a:highlight>
                <a:srgbClr val="FFFF00"/>
              </a:highlight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306173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4F1482-69C3-47D5-95FE-67C0FA2DF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E23EF22-3173-4C87-B6C6-D3A6AF7D3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effectLst/>
        </p:spPr>
        <p:txBody>
          <a:bodyPr anchor="ctr">
            <a:normAutofit/>
          </a:bodyPr>
          <a:lstStyle/>
          <a:p>
            <a:pPr algn="ctr"/>
            <a:r>
              <a:rPr lang="nb-NO" sz="3200">
                <a:solidFill>
                  <a:schemeClr val="tx1"/>
                </a:solidFill>
              </a:rPr>
              <a:t>Faren med smarthus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7E8DC98-C96D-4B31-A9A9-3F440B76A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1610745"/>
            <a:ext cx="10554574" cy="3636511"/>
          </a:xfrm>
          <a:effectLst/>
        </p:spPr>
        <p:txBody>
          <a:bodyPr anchor="ctr">
            <a:normAutofit/>
          </a:bodyPr>
          <a:lstStyle/>
          <a:p>
            <a:r>
              <a:rPr lang="nb-NO" dirty="0"/>
              <a:t>Kan fort bli tingene som eier deg, enn du som eier tingene</a:t>
            </a:r>
          </a:p>
          <a:p>
            <a:r>
              <a:rPr lang="nb-NO" dirty="0"/>
              <a:t>Sett regler, ellers går ting fort galt!</a:t>
            </a:r>
          </a:p>
          <a:p>
            <a:r>
              <a:rPr lang="nb-NO" dirty="0"/>
              <a:t>Mange </a:t>
            </a:r>
            <a:r>
              <a:rPr lang="nb-NO" dirty="0" err="1"/>
              <a:t>YouTubere</a:t>
            </a:r>
            <a:r>
              <a:rPr lang="nb-NO" dirty="0"/>
              <a:t> gjør det </a:t>
            </a:r>
            <a:r>
              <a:rPr lang="nb-NO" dirty="0" err="1"/>
              <a:t>aaaaltfor</a:t>
            </a:r>
            <a:r>
              <a:rPr lang="nb-NO" dirty="0"/>
              <a:t> komplisert. KISS </a:t>
            </a:r>
            <a:r>
              <a:rPr lang="nb-NO" dirty="0" err="1"/>
              <a:t>Keep</a:t>
            </a:r>
            <a:r>
              <a:rPr lang="nb-NO" dirty="0"/>
              <a:t> It Simple Stupid</a:t>
            </a:r>
          </a:p>
          <a:p>
            <a:endParaRPr lang="nb-NO" dirty="0"/>
          </a:p>
          <a:p>
            <a:r>
              <a:rPr lang="nb-NO" dirty="0"/>
              <a:t>Et ordtak: Skal være laget slik at bestemor kan bruke det</a:t>
            </a:r>
          </a:p>
          <a:p>
            <a:r>
              <a:rPr lang="nb-NO" dirty="0"/>
              <a:t>Behold lysbrytere og styring over ting, ikke la alt styres automatisk – det vil gå galt!</a:t>
            </a:r>
          </a:p>
          <a:p>
            <a:r>
              <a:rPr lang="nb-NO" dirty="0"/>
              <a:t>Et 'smart' smarthus skal ikke merkes eller oppleves, usynlighet er best!</a:t>
            </a:r>
          </a:p>
          <a:p>
            <a:r>
              <a:rPr lang="nb-NO" dirty="0"/>
              <a:t>Eksempel: Robot støvsuger aktiv når ingen er hjemme, lys på bevegelsessensor, ta ned temperaturen når strømmen er dyr, lad bilen når det er billigst!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1CA5367-149E-428C-B4D8-C1ECC9E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835350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E446B7E6-8568-417F-959E-DB3D1E7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pic>
        <p:nvPicPr>
          <p:cNvPr id="4" name="Bilde 8">
            <a:extLst>
              <a:ext uri="{FF2B5EF4-FFF2-40B4-BE49-F238E27FC236}">
                <a16:creationId xmlns:a16="http://schemas.microsoft.com/office/drawing/2014/main" id="{D3603B2B-6F16-4D8D-97E5-EDFDD2C39F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6DCB648-5207-43C1-A5E9-AA0E6F6D2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9" y="0"/>
            <a:ext cx="12192001" cy="6880304"/>
          </a:xfrm>
          <a:prstGeom prst="rect">
            <a:avLst/>
          </a:prstGeom>
          <a:solidFill>
            <a:schemeClr val="accent1">
              <a:alpha val="6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5C834E9A-5D73-4D16-A65C-0638CA2E7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25094"/>
            <a:ext cx="12192000" cy="2332906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68CE9089-F01E-4F4B-9D33-A683F9F64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35" y="4902200"/>
            <a:ext cx="11595054" cy="103352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IoT </a:t>
            </a:r>
            <a:r>
              <a:rPr lang="en-US" sz="2800" dirty="0" err="1"/>
              <a:t>enheter</a:t>
            </a:r>
            <a:r>
              <a:rPr lang="en-US" sz="2800" dirty="0"/>
              <a:t> – </a:t>
            </a:r>
            <a:r>
              <a:rPr lang="en-US" sz="2800" dirty="0" err="1"/>
              <a:t>lys</a:t>
            </a:r>
            <a:r>
              <a:rPr lang="en-US" sz="2800" dirty="0"/>
              <a:t>, </a:t>
            </a:r>
            <a:r>
              <a:rPr lang="en-US" sz="2800" dirty="0" err="1"/>
              <a:t>sensorer</a:t>
            </a:r>
            <a:r>
              <a:rPr lang="en-US" sz="2800" dirty="0"/>
              <a:t>, </a:t>
            </a:r>
            <a:r>
              <a:rPr lang="en-US" sz="2800" dirty="0" err="1"/>
              <a:t>dører</a:t>
            </a:r>
            <a:r>
              <a:rPr lang="en-US" sz="2800" dirty="0"/>
              <a:t>, </a:t>
            </a:r>
            <a:r>
              <a:rPr lang="en-US" sz="2800" dirty="0" err="1"/>
              <a:t>bil</a:t>
            </a:r>
            <a:r>
              <a:rPr lang="en-US" sz="2800" dirty="0"/>
              <a:t>, </a:t>
            </a:r>
            <a:r>
              <a:rPr lang="en-US" sz="2800" dirty="0" err="1"/>
              <a:t>internett</a:t>
            </a:r>
            <a:r>
              <a:rPr lang="en-US" sz="2800" dirty="0"/>
              <a:t>, tv </a:t>
            </a:r>
            <a:r>
              <a:rPr lang="en-US" sz="2800" dirty="0" err="1"/>
              <a:t>og</a:t>
            </a:r>
            <a:r>
              <a:rPr lang="en-US" sz="2800" dirty="0"/>
              <a:t> </a:t>
            </a:r>
            <a:r>
              <a:rPr lang="en-US" sz="2800" dirty="0" err="1"/>
              <a:t>mye</a:t>
            </a:r>
            <a:r>
              <a:rPr lang="en-US" sz="2800" dirty="0"/>
              <a:t> </a:t>
            </a:r>
            <a:r>
              <a:rPr lang="en-US" sz="2800" dirty="0" err="1"/>
              <a:t>mye</a:t>
            </a:r>
            <a:r>
              <a:rPr lang="en-US" sz="2800" dirty="0"/>
              <a:t> </a:t>
            </a:r>
            <a:r>
              <a:rPr lang="en-US" sz="2800" dirty="0" err="1"/>
              <a:t>mer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269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C094528-A5F2-4188-B3D5-04B8AD51C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1309116"/>
          </a:xfrm>
        </p:spPr>
        <p:txBody>
          <a:bodyPr/>
          <a:lstStyle/>
          <a:p>
            <a:r>
              <a:rPr lang="nb-NO" dirty="0"/>
              <a:t>Eksempel på smarthus funksjon</a:t>
            </a:r>
            <a:br>
              <a:rPr lang="nb-NO" dirty="0"/>
            </a:br>
            <a:r>
              <a:rPr lang="nb-NO" dirty="0"/>
              <a:t>Bevegelsessensor + Lys</a:t>
            </a:r>
          </a:p>
        </p:txBody>
      </p:sp>
      <p:pic>
        <p:nvPicPr>
          <p:cNvPr id="4" name="Bilde 4" descr="Et bilde som inneholder innendørs, person, vegg&#10;&#10;Automatisk generert beskrivelse">
            <a:extLst>
              <a:ext uri="{FF2B5EF4-FFF2-40B4-BE49-F238E27FC236}">
                <a16:creationId xmlns:a16="http://schemas.microsoft.com/office/drawing/2014/main" id="{980422F5-E08B-464F-B667-7C94B8272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855" y="2455121"/>
            <a:ext cx="3636511" cy="3636511"/>
          </a:xfrm>
        </p:spPr>
      </p:pic>
      <p:sp>
        <p:nvSpPr>
          <p:cNvPr id="5" name="Pil: i fire retninger 4">
            <a:extLst>
              <a:ext uri="{FF2B5EF4-FFF2-40B4-BE49-F238E27FC236}">
                <a16:creationId xmlns:a16="http://schemas.microsoft.com/office/drawing/2014/main" id="{F7AD973A-F70F-4814-9D2B-F11577F3815F}"/>
              </a:ext>
            </a:extLst>
          </p:cNvPr>
          <p:cNvSpPr/>
          <p:nvPr/>
        </p:nvSpPr>
        <p:spPr>
          <a:xfrm>
            <a:off x="4648312" y="3074923"/>
            <a:ext cx="2046110" cy="2060221"/>
          </a:xfrm>
          <a:prstGeom prst="quad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6" name="Bilde 6" descr="Et bilde som inneholder tekst, innendørs, vegg, tak&#10;&#10;Automatisk generert beskrivelse">
            <a:extLst>
              <a:ext uri="{FF2B5EF4-FFF2-40B4-BE49-F238E27FC236}">
                <a16:creationId xmlns:a16="http://schemas.microsoft.com/office/drawing/2014/main" id="{B28A883C-AAD5-4AFC-9FA5-C4407FD63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2726266"/>
            <a:ext cx="4782255" cy="319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73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2D3D64-3F43-4B3D-B0D8-79DA28E5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55" y="447188"/>
            <a:ext cx="10557888" cy="1203283"/>
          </a:xfrm>
        </p:spPr>
        <p:txBody>
          <a:bodyPr/>
          <a:lstStyle/>
          <a:p>
            <a:r>
              <a:rPr lang="nb-NO" dirty="0"/>
              <a:t>Eksempel 2</a:t>
            </a:r>
            <a:br>
              <a:rPr lang="nb-NO" dirty="0"/>
            </a:br>
            <a:r>
              <a:rPr lang="nb-NO" dirty="0"/>
              <a:t>Live strømpris + temperatur-enheter</a:t>
            </a:r>
          </a:p>
        </p:txBody>
      </p:sp>
      <p:pic>
        <p:nvPicPr>
          <p:cNvPr id="4" name="Bilde 4" descr="Et bilde som inneholder tekst&#10;&#10;Automatisk generert beskrivelse">
            <a:extLst>
              <a:ext uri="{FF2B5EF4-FFF2-40B4-BE49-F238E27FC236}">
                <a16:creationId xmlns:a16="http://schemas.microsoft.com/office/drawing/2014/main" id="{09CA3BAD-08CB-4097-BFF8-D1D2BBB6F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213" y="2836121"/>
            <a:ext cx="5189851" cy="2726345"/>
          </a:xfrm>
        </p:spPr>
      </p:pic>
      <p:pic>
        <p:nvPicPr>
          <p:cNvPr id="5" name="Bilde 5">
            <a:extLst>
              <a:ext uri="{FF2B5EF4-FFF2-40B4-BE49-F238E27FC236}">
                <a16:creationId xmlns:a16="http://schemas.microsoft.com/office/drawing/2014/main" id="{DDE716AA-1735-4CCF-9FB7-614B0728B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99" y="3040944"/>
            <a:ext cx="1157112" cy="1157112"/>
          </a:xfrm>
          <a:prstGeom prst="rect">
            <a:avLst/>
          </a:prstGeom>
        </p:spPr>
      </p:pic>
      <p:sp>
        <p:nvSpPr>
          <p:cNvPr id="7" name="Pil: i fire retninger 6">
            <a:extLst>
              <a:ext uri="{FF2B5EF4-FFF2-40B4-BE49-F238E27FC236}">
                <a16:creationId xmlns:a16="http://schemas.microsoft.com/office/drawing/2014/main" id="{4F2A4A20-815A-420A-B019-F2AD37EC9E7A}"/>
              </a:ext>
            </a:extLst>
          </p:cNvPr>
          <p:cNvSpPr/>
          <p:nvPr/>
        </p:nvSpPr>
        <p:spPr>
          <a:xfrm>
            <a:off x="5734868" y="3096090"/>
            <a:ext cx="2046110" cy="2060221"/>
          </a:xfrm>
          <a:prstGeom prst="quad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" name="Bilde 9" descr="Et bilde som inneholder gulv, innendørs, vegg, vindu&#10;&#10;Automatisk generert beskrivelse">
            <a:extLst>
              <a:ext uri="{FF2B5EF4-FFF2-40B4-BE49-F238E27FC236}">
                <a16:creationId xmlns:a16="http://schemas.microsoft.com/office/drawing/2014/main" id="{2235138C-FCAD-438F-86D4-1D2AE6783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789" y="4650006"/>
            <a:ext cx="2743200" cy="1875989"/>
          </a:xfrm>
          <a:prstGeom prst="rect">
            <a:avLst/>
          </a:prstGeom>
        </p:spPr>
      </p:pic>
      <p:pic>
        <p:nvPicPr>
          <p:cNvPr id="8" name="Bilde 8" descr="Et bilde som inneholder tekst, vegg, innendørs, kjøkken apparat&#10;&#10;Automatisk generert beskrivelse">
            <a:extLst>
              <a:ext uri="{FF2B5EF4-FFF2-40B4-BE49-F238E27FC236}">
                <a16:creationId xmlns:a16="http://schemas.microsoft.com/office/drawing/2014/main" id="{5170888B-2EDC-4154-93D2-DADB7CF2EE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845" r="199" b="-267"/>
          <a:stretch/>
        </p:blipFill>
        <p:spPr>
          <a:xfrm>
            <a:off x="8202787" y="2118078"/>
            <a:ext cx="2355697" cy="289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1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 useBgFill="1">
        <p:nvSpPr>
          <p:cNvPr id="6" name="Rectangle 9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51DE4777-501F-4A4B-AA42-3F18DD33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559" y="1286935"/>
            <a:ext cx="9638153" cy="266837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Kommer du på noen?</a:t>
            </a:r>
          </a:p>
        </p:txBody>
      </p:sp>
    </p:spTree>
    <p:extLst>
      <p:ext uri="{BB962C8B-B14F-4D97-AF65-F5344CB8AC3E}">
        <p14:creationId xmlns:p14="http://schemas.microsoft.com/office/powerpoint/2010/main" val="1517527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52C56CE-B795-404E-A847-B7E2F31C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nb-NO" dirty="0"/>
              <a:t>Flere ideer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C7E1C46-6602-4FC4-9AA3-07C2C1821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r>
              <a:rPr lang="nb-NO" dirty="0"/>
              <a:t>Personlig kalender + vekkerklokke med lys og musikk</a:t>
            </a:r>
          </a:p>
          <a:p>
            <a:r>
              <a:rPr lang="nb-NO" dirty="0"/>
              <a:t>Demp lyset når du ser på film, men hold det på når du ser på vanlig TV</a:t>
            </a:r>
          </a:p>
          <a:p>
            <a:r>
              <a:rPr lang="nb-NO" dirty="0"/>
              <a:t>Skru ned viftene når </a:t>
            </a:r>
            <a:r>
              <a:rPr lang="nb-NO" dirty="0" err="1"/>
              <a:t>TV'en</a:t>
            </a:r>
            <a:r>
              <a:rPr lang="nb-NO" dirty="0"/>
              <a:t> er på</a:t>
            </a:r>
          </a:p>
          <a:p>
            <a:r>
              <a:rPr lang="nb-NO" dirty="0"/>
              <a:t>Send varsel om noen åpner en dør de ikke burde</a:t>
            </a:r>
          </a:p>
          <a:p>
            <a:r>
              <a:rPr lang="nb-NO" dirty="0"/>
              <a:t>Nattlys, dersom huset er i sovemodus og det er aktivitet</a:t>
            </a:r>
          </a:p>
          <a:p>
            <a:r>
              <a:rPr lang="nb-NO" dirty="0"/>
              <a:t>Sikkerhetsalarm ved innbrudd</a:t>
            </a:r>
          </a:p>
          <a:p>
            <a:r>
              <a:rPr lang="nb-NO" dirty="0"/>
              <a:t>Vann plantene om jorda mangler fuktighet</a:t>
            </a:r>
          </a:p>
        </p:txBody>
      </p:sp>
    </p:spTree>
    <p:extLst>
      <p:ext uri="{BB962C8B-B14F-4D97-AF65-F5344CB8AC3E}">
        <p14:creationId xmlns:p14="http://schemas.microsoft.com/office/powerpoint/2010/main" val="3255229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DF55C9E-76FA-4F72-B75B-4CF646C6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nb-NO" dirty="0"/>
              <a:t>2 Kategorier for kommunikasjon</a:t>
            </a:r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4C1F5E4B-A7E5-4A8A-9368-C9A81819DF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9869133"/>
              </p:ext>
            </p:extLst>
          </p:nvPr>
        </p:nvGraphicFramePr>
        <p:xfrm>
          <a:off x="819150" y="2548647"/>
          <a:ext cx="10553700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0568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7364260-9A41-48B8-838D-18C56B2C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et </a:t>
            </a:r>
            <a:r>
              <a:rPr lang="nb-NO" dirty="0" err="1"/>
              <a:t>Mesh</a:t>
            </a:r>
            <a:r>
              <a:rPr lang="nb-NO" dirty="0"/>
              <a:t>/Node system?</a:t>
            </a:r>
          </a:p>
        </p:txBody>
      </p:sp>
      <p:pic>
        <p:nvPicPr>
          <p:cNvPr id="4" name="Bilde 4" descr="Et bilde som inneholder himmel, bunt&#10;&#10;Automatisk generert beskrivelse">
            <a:extLst>
              <a:ext uri="{FF2B5EF4-FFF2-40B4-BE49-F238E27FC236}">
                <a16:creationId xmlns:a16="http://schemas.microsoft.com/office/drawing/2014/main" id="{F0ED8D8B-21A0-4418-B9D5-48824CDAD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92" b="15116"/>
          <a:stretch/>
        </p:blipFill>
        <p:spPr>
          <a:xfrm>
            <a:off x="1231913" y="2356343"/>
            <a:ext cx="9728177" cy="3933476"/>
          </a:xfrm>
        </p:spPr>
      </p:pic>
    </p:spTree>
    <p:extLst>
      <p:ext uri="{BB962C8B-B14F-4D97-AF65-F5344CB8AC3E}">
        <p14:creationId xmlns:p14="http://schemas.microsoft.com/office/powerpoint/2010/main" val="469569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2EFC45F-1D0E-49E5-8739-8AED23EF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nb-NO" sz="3200">
                <a:solidFill>
                  <a:schemeClr val="tx1"/>
                </a:solidFill>
              </a:rPr>
              <a:t>ZigBee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7A84AFB-FBBB-4C92-83A8-91E1D32B2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 lnSpcReduction="10000"/>
          </a:bodyPr>
          <a:lstStyle/>
          <a:p>
            <a:endParaRPr lang="nb-NO" sz="1600" dirty="0"/>
          </a:p>
          <a:p>
            <a:r>
              <a:rPr lang="nb-NO" sz="1600" dirty="0"/>
              <a:t>Fysisk begrenset (10-100 meter) - men kan snakke via andre </a:t>
            </a:r>
            <a:r>
              <a:rPr lang="nb-NO" sz="1600" dirty="0" err="1"/>
              <a:t>ZigBee</a:t>
            </a:r>
            <a:r>
              <a:rPr lang="nb-NO" sz="1600" dirty="0"/>
              <a:t> enheter</a:t>
            </a:r>
          </a:p>
          <a:p>
            <a:r>
              <a:rPr lang="nb-NO" sz="1600" dirty="0"/>
              <a:t>Krever en </a:t>
            </a:r>
            <a:r>
              <a:rPr lang="nb-NO" sz="1600" dirty="0" err="1"/>
              <a:t>ZigBee</a:t>
            </a:r>
            <a:r>
              <a:rPr lang="nb-NO" sz="1600" dirty="0"/>
              <a:t> kontroller for å kunne styre </a:t>
            </a:r>
            <a:r>
              <a:rPr lang="nb-NO" sz="1600" dirty="0" err="1"/>
              <a:t>ZigBee</a:t>
            </a:r>
            <a:r>
              <a:rPr lang="nb-NO" sz="1600" dirty="0"/>
              <a:t> enheter (Lese data, og sende data)</a:t>
            </a:r>
          </a:p>
          <a:p>
            <a:r>
              <a:rPr lang="nb-NO" sz="1600" dirty="0"/>
              <a:t>Veldig lik Z-</a:t>
            </a:r>
            <a:r>
              <a:rPr lang="nb-NO" sz="1600" dirty="0" err="1"/>
              <a:t>Wave</a:t>
            </a:r>
            <a:r>
              <a:rPr lang="nb-NO" sz="1600" dirty="0"/>
              <a:t>, men er mer </a:t>
            </a:r>
            <a:r>
              <a:rPr lang="nb-NO" sz="1600" dirty="0" err="1"/>
              <a:t>consumer</a:t>
            </a:r>
            <a:r>
              <a:rPr lang="nb-NO" sz="1600" dirty="0"/>
              <a:t>-vennlig</a:t>
            </a:r>
          </a:p>
          <a:p>
            <a:r>
              <a:rPr lang="nb-NO" sz="1600" dirty="0"/>
              <a:t>Ikea, Philips og flere bruker </a:t>
            </a:r>
            <a:r>
              <a:rPr lang="nb-NO" sz="1600" dirty="0" err="1"/>
              <a:t>ZigBee</a:t>
            </a:r>
            <a:r>
              <a:rPr lang="nb-NO" sz="1600" dirty="0"/>
              <a:t>. Du kan koble Ikea til Philips eller vis-a vis.</a:t>
            </a:r>
          </a:p>
          <a:p>
            <a:r>
              <a:rPr lang="nb-NO" sz="1600" dirty="0"/>
              <a:t>Bruker samme frekvenser som 2.4GHz </a:t>
            </a:r>
            <a:r>
              <a:rPr lang="nb-NO" sz="1600" dirty="0" err="1"/>
              <a:t>WiFi</a:t>
            </a:r>
            <a:r>
              <a:rPr lang="nb-NO" sz="1600" dirty="0"/>
              <a:t>, men lager lite forstyrrelse</a:t>
            </a:r>
          </a:p>
          <a:p>
            <a:endParaRPr lang="nb-NO" sz="1600" dirty="0"/>
          </a:p>
          <a:p>
            <a:r>
              <a:rPr lang="nb-NO" sz="1600" dirty="0" err="1"/>
              <a:t>ZigBee</a:t>
            </a:r>
            <a:r>
              <a:rPr lang="nb-NO" sz="1600" dirty="0"/>
              <a:t> finnes i alt av småelektronikk, som regel lyspærer, smartdører og flere</a:t>
            </a:r>
            <a:endParaRPr lang="nb-NO" dirty="0"/>
          </a:p>
          <a:p>
            <a:r>
              <a:rPr lang="nb-NO" sz="1600" dirty="0"/>
              <a:t>Middels-dyrt.</a:t>
            </a:r>
          </a:p>
        </p:txBody>
      </p:sp>
      <p:sp>
        <p:nvSpPr>
          <p:cNvPr id="4" name="Rektangel: klippede hjørner diagonalt 3">
            <a:extLst>
              <a:ext uri="{FF2B5EF4-FFF2-40B4-BE49-F238E27FC236}">
                <a16:creationId xmlns:a16="http://schemas.microsoft.com/office/drawing/2014/main" id="{6D401BB8-0BF2-48FD-933C-1AD786D5F6C8}"/>
              </a:ext>
            </a:extLst>
          </p:cNvPr>
          <p:cNvSpPr/>
          <p:nvPr/>
        </p:nvSpPr>
        <p:spPr>
          <a:xfrm>
            <a:off x="1411" y="1411"/>
            <a:ext cx="2511777" cy="917222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Mesh</a:t>
            </a:r>
            <a:r>
              <a:rPr lang="nb-NO" dirty="0"/>
              <a:t>/Node</a:t>
            </a:r>
          </a:p>
        </p:txBody>
      </p:sp>
      <p:pic>
        <p:nvPicPr>
          <p:cNvPr id="5" name="Bilde 5">
            <a:extLst>
              <a:ext uri="{FF2B5EF4-FFF2-40B4-BE49-F238E27FC236}">
                <a16:creationId xmlns:a16="http://schemas.microsoft.com/office/drawing/2014/main" id="{625D25DA-65E7-4EB7-A36D-21B7944E7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33" y="3950969"/>
            <a:ext cx="1360312" cy="193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702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0262C28-1998-4D5A-9316-5B84DC4A6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nb-NO" sz="3200" dirty="0">
                <a:solidFill>
                  <a:schemeClr val="tx1"/>
                </a:solidFill>
              </a:rPr>
              <a:t>Z-</a:t>
            </a:r>
            <a:r>
              <a:rPr lang="nb-NO" sz="3200" dirty="0" err="1">
                <a:solidFill>
                  <a:schemeClr val="tx1"/>
                </a:solidFill>
              </a:rPr>
              <a:t>Wave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9DE9D17-8D57-4E4D-A556-5B1CE3597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nb-NO" sz="1600" dirty="0"/>
              <a:t>Fysisk begrenset (100m) - men lengre desto flere enheter du har</a:t>
            </a:r>
          </a:p>
          <a:p>
            <a:r>
              <a:rPr lang="nb-NO" sz="1600" dirty="0"/>
              <a:t>Krever en kontroller for programmering – men ikke nødvendigvis for å fungere</a:t>
            </a:r>
          </a:p>
          <a:p>
            <a:r>
              <a:rPr lang="nb-NO" sz="1600" dirty="0"/>
              <a:t>Egen frekvens! Forstyrrer ikke </a:t>
            </a:r>
            <a:r>
              <a:rPr lang="nb-NO" sz="1600" dirty="0" err="1"/>
              <a:t>WiFi</a:t>
            </a:r>
            <a:r>
              <a:rPr lang="nb-NO" sz="1600" dirty="0"/>
              <a:t> eller radio.</a:t>
            </a:r>
          </a:p>
          <a:p>
            <a:r>
              <a:rPr lang="nb-NO" sz="1600" dirty="0"/>
              <a:t>Z-</a:t>
            </a:r>
            <a:r>
              <a:rPr lang="nb-NO" sz="1600" dirty="0" err="1"/>
              <a:t>wave</a:t>
            </a:r>
            <a:r>
              <a:rPr lang="nb-NO" sz="1600" dirty="0"/>
              <a:t> lysbryter kan i teori snakke direkte med en Z-</a:t>
            </a:r>
            <a:r>
              <a:rPr lang="nb-NO" sz="1600" dirty="0" err="1"/>
              <a:t>wave</a:t>
            </a:r>
            <a:r>
              <a:rPr lang="nb-NO" sz="1600" dirty="0"/>
              <a:t> dimmer / lys</a:t>
            </a:r>
          </a:p>
          <a:p>
            <a:r>
              <a:rPr lang="nb-NO" sz="1600" dirty="0"/>
              <a:t>Støtter kryptering - </a:t>
            </a:r>
            <a:r>
              <a:rPr lang="nb-NO" sz="1600" dirty="0">
                <a:ea typeface="+mn-lt"/>
                <a:cs typeface="+mn-lt"/>
              </a:rPr>
              <a:t>18 446 744 073 709 552 000 ulike kombinasjoner av nøkler (+ må være i nærheten for å prøve å knekke)</a:t>
            </a:r>
          </a:p>
          <a:p>
            <a:endParaRPr lang="nb-NO" sz="1600" dirty="0"/>
          </a:p>
          <a:p>
            <a:r>
              <a:rPr lang="nb-NO" sz="1600" dirty="0"/>
              <a:t>Z-</a:t>
            </a:r>
            <a:r>
              <a:rPr lang="nb-NO" sz="1600" dirty="0" err="1"/>
              <a:t>wave</a:t>
            </a:r>
            <a:r>
              <a:rPr lang="nb-NO" sz="1600" dirty="0"/>
              <a:t> finnes i: Bevegelsessensor, dørssensor, lysbrytere, smart-dører, temperatursensorer, strømplugger og mer.</a:t>
            </a:r>
          </a:p>
          <a:p>
            <a:r>
              <a:rPr lang="nb-NO" sz="1600" dirty="0"/>
              <a:t>Dyrt, selve </a:t>
            </a:r>
            <a:r>
              <a:rPr lang="nb-NO" sz="1600" dirty="0" err="1"/>
              <a:t>chippen</a:t>
            </a:r>
            <a:r>
              <a:rPr lang="nb-NO" sz="1600" dirty="0"/>
              <a:t> koster 80kr</a:t>
            </a:r>
          </a:p>
        </p:txBody>
      </p:sp>
      <p:sp>
        <p:nvSpPr>
          <p:cNvPr id="4" name="Rektangel: klippede hjørner diagonalt 3">
            <a:extLst>
              <a:ext uri="{FF2B5EF4-FFF2-40B4-BE49-F238E27FC236}">
                <a16:creationId xmlns:a16="http://schemas.microsoft.com/office/drawing/2014/main" id="{6CBB03BB-85A6-4396-AC21-1CF3062ADDB3}"/>
              </a:ext>
            </a:extLst>
          </p:cNvPr>
          <p:cNvSpPr/>
          <p:nvPr/>
        </p:nvSpPr>
        <p:spPr>
          <a:xfrm>
            <a:off x="1411" y="1411"/>
            <a:ext cx="2511777" cy="917222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Mesh</a:t>
            </a:r>
            <a:r>
              <a:rPr lang="nb-NO" dirty="0"/>
              <a:t>/Node</a:t>
            </a:r>
          </a:p>
        </p:txBody>
      </p:sp>
      <p:pic>
        <p:nvPicPr>
          <p:cNvPr id="9" name="Bilde 10" descr="Et bilde som inneholder tekst, utendørs, skilt&#10;&#10;Automatisk generert beskrivelse">
            <a:extLst>
              <a:ext uri="{FF2B5EF4-FFF2-40B4-BE49-F238E27FC236}">
                <a16:creationId xmlns:a16="http://schemas.microsoft.com/office/drawing/2014/main" id="{AC51C227-C9E4-49D4-AAB8-9C07289E6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89" y="3755932"/>
            <a:ext cx="2743200" cy="2422358"/>
          </a:xfrm>
          <a:prstGeom prst="rect">
            <a:avLst/>
          </a:prstGeom>
        </p:spPr>
      </p:pic>
      <p:pic>
        <p:nvPicPr>
          <p:cNvPr id="5" name="Bilde 5">
            <a:extLst>
              <a:ext uri="{FF2B5EF4-FFF2-40B4-BE49-F238E27FC236}">
                <a16:creationId xmlns:a16="http://schemas.microsoft.com/office/drawing/2014/main" id="{0D67B1DA-8533-4581-90BF-7C897785A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957" y="5301237"/>
            <a:ext cx="1148998" cy="140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A01907A-BF04-440F-BA0D-49BC96273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ilde 5">
            <a:hlinkClick r:id="" action="ppaction://media"/>
            <a:extLst>
              <a:ext uri="{FF2B5EF4-FFF2-40B4-BE49-F238E27FC236}">
                <a16:creationId xmlns:a16="http://schemas.microsoft.com/office/drawing/2014/main" id="{7AF97802-D945-4638-9CFD-C96803E821D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381956" y="643467"/>
            <a:ext cx="7428088" cy="5571066"/>
          </a:xfrm>
          <a:prstGeom prst="rect">
            <a:avLst/>
          </a:prstGeo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772D92C5-3B9E-40B5-8F6A-3A9D33185F23}"/>
              </a:ext>
            </a:extLst>
          </p:cNvPr>
          <p:cNvSpPr txBox="1"/>
          <p:nvPr/>
        </p:nvSpPr>
        <p:spPr>
          <a:xfrm>
            <a:off x="4724400" y="629073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68087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F69968F-3461-4A81-ACE5-4813CA9E7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nb-NO" sz="3200">
                <a:solidFill>
                  <a:schemeClr val="tx1"/>
                </a:solidFill>
              </a:rPr>
              <a:t>LoRa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2229919-4635-446E-964C-E360610FB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nb-NO" sz="1600" dirty="0"/>
              <a:t>Nerdenes alternativ. Spesiallaga for små dingser som går på batteri, som trenger ekstra lang avstand (10km+)</a:t>
            </a:r>
            <a:endParaRPr lang="nb-NO" dirty="0"/>
          </a:p>
          <a:p>
            <a:endParaRPr lang="nb-NO" sz="1600" dirty="0"/>
          </a:p>
          <a:p>
            <a:r>
              <a:rPr lang="nb-NO" sz="1600" dirty="0"/>
              <a:t>God støtte for mikrokontrollere (</a:t>
            </a:r>
            <a:r>
              <a:rPr lang="nb-NO" sz="1600" dirty="0" err="1"/>
              <a:t>Micro:bit</a:t>
            </a:r>
            <a:r>
              <a:rPr lang="nb-NO" sz="1600" dirty="0"/>
              <a:t>, ESP8266)</a:t>
            </a:r>
          </a:p>
          <a:p>
            <a:endParaRPr lang="nb-NO" sz="1600" dirty="0"/>
          </a:p>
        </p:txBody>
      </p:sp>
      <p:sp>
        <p:nvSpPr>
          <p:cNvPr id="4" name="Rektangel: klippede hjørner diagonalt 3">
            <a:extLst>
              <a:ext uri="{FF2B5EF4-FFF2-40B4-BE49-F238E27FC236}">
                <a16:creationId xmlns:a16="http://schemas.microsoft.com/office/drawing/2014/main" id="{4BC61648-F9F6-457B-9A66-17740B00512A}"/>
              </a:ext>
            </a:extLst>
          </p:cNvPr>
          <p:cNvSpPr/>
          <p:nvPr/>
        </p:nvSpPr>
        <p:spPr>
          <a:xfrm>
            <a:off x="1411" y="1411"/>
            <a:ext cx="2511777" cy="917222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Mesh</a:t>
            </a:r>
            <a:r>
              <a:rPr lang="nb-NO" dirty="0"/>
              <a:t>/Node</a:t>
            </a:r>
          </a:p>
        </p:txBody>
      </p:sp>
      <p:pic>
        <p:nvPicPr>
          <p:cNvPr id="5" name="Bilde 5">
            <a:extLst>
              <a:ext uri="{FF2B5EF4-FFF2-40B4-BE49-F238E27FC236}">
                <a16:creationId xmlns:a16="http://schemas.microsoft.com/office/drawing/2014/main" id="{61EEA70B-73CE-4AC6-8328-D5444ED2D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89" y="4181475"/>
            <a:ext cx="2743200" cy="1543050"/>
          </a:xfrm>
          <a:prstGeom prst="rect">
            <a:avLst/>
          </a:prstGeom>
        </p:spPr>
      </p:pic>
      <p:pic>
        <p:nvPicPr>
          <p:cNvPr id="9" name="Bilde 10">
            <a:extLst>
              <a:ext uri="{FF2B5EF4-FFF2-40B4-BE49-F238E27FC236}">
                <a16:creationId xmlns:a16="http://schemas.microsoft.com/office/drawing/2014/main" id="{DB2C859C-4EE8-46C0-876D-B91230BCF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1" y="4075642"/>
            <a:ext cx="3970866" cy="223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20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ACA2408-B302-4AB4-9CDD-1D72B4CA5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nb-NO" sz="3200">
                <a:solidFill>
                  <a:schemeClr val="tx1"/>
                </a:solidFill>
              </a:rPr>
              <a:t>MQTT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33C25F4-58DD-4B15-A9D0-4576A917A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nb-NO" sz="1600" dirty="0"/>
              <a:t>Snakk og lytt, tingenes RSS </a:t>
            </a:r>
            <a:r>
              <a:rPr lang="nb-NO" sz="1600" dirty="0" err="1"/>
              <a:t>feed</a:t>
            </a:r>
            <a:endParaRPr lang="nb-NO" sz="1600" dirty="0"/>
          </a:p>
          <a:p>
            <a:r>
              <a:rPr lang="nb-NO" sz="1600" dirty="0"/>
              <a:t>"437284" = Temperatur sensor i gang, en MQTT tjener kan abonnere på "437284", og se hva 437284 spytter ut.</a:t>
            </a:r>
          </a:p>
          <a:p>
            <a:endParaRPr lang="nb-NO" sz="1600" dirty="0"/>
          </a:p>
          <a:p>
            <a:r>
              <a:rPr lang="nb-NO" sz="1600" dirty="0"/>
              <a:t>Litt mer komplekst, men av og til nødvendig for å oversette mer utradisjonelle konvensjoner. (Eaton, </a:t>
            </a:r>
            <a:r>
              <a:rPr lang="nb-NO" sz="1600" dirty="0" err="1"/>
              <a:t>xComfort</a:t>
            </a:r>
            <a:r>
              <a:rPr lang="nb-NO" sz="1600" dirty="0"/>
              <a:t>, </a:t>
            </a:r>
            <a:r>
              <a:rPr lang="nb-NO" sz="1600" dirty="0" err="1"/>
              <a:t>HomeKit</a:t>
            </a:r>
            <a:r>
              <a:rPr lang="nb-NO" sz="1600" dirty="0"/>
              <a:t>, </a:t>
            </a:r>
            <a:r>
              <a:rPr lang="nb-NO" sz="1600" dirty="0" err="1"/>
              <a:t>Zipato</a:t>
            </a:r>
            <a:r>
              <a:rPr lang="nb-NO" sz="1600" dirty="0"/>
              <a:t> og fler)</a:t>
            </a:r>
          </a:p>
          <a:p>
            <a:r>
              <a:rPr lang="nb-NO" sz="1600" dirty="0"/>
              <a:t>Software basert.</a:t>
            </a:r>
          </a:p>
        </p:txBody>
      </p:sp>
      <p:sp>
        <p:nvSpPr>
          <p:cNvPr id="9" name="Rektangel: klippede hjørner diagonalt 8">
            <a:extLst>
              <a:ext uri="{FF2B5EF4-FFF2-40B4-BE49-F238E27FC236}">
                <a16:creationId xmlns:a16="http://schemas.microsoft.com/office/drawing/2014/main" id="{1065DB55-C45C-4954-A97D-7B8AD840D882}"/>
              </a:ext>
            </a:extLst>
          </p:cNvPr>
          <p:cNvSpPr/>
          <p:nvPr/>
        </p:nvSpPr>
        <p:spPr>
          <a:xfrm>
            <a:off x="1411" y="1411"/>
            <a:ext cx="2511777" cy="917222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b-NO" dirty="0" err="1"/>
              <a:t>Wildcard</a:t>
            </a:r>
          </a:p>
        </p:txBody>
      </p:sp>
      <p:pic>
        <p:nvPicPr>
          <p:cNvPr id="6" name="Bilde 6" descr="Et bilde som inneholder tekst, utklipp&#10;&#10;Automatisk generert beskrivelse">
            <a:extLst>
              <a:ext uri="{FF2B5EF4-FFF2-40B4-BE49-F238E27FC236}">
                <a16:creationId xmlns:a16="http://schemas.microsoft.com/office/drawing/2014/main" id="{51C8B4E9-5B78-4480-B804-DE67FBC87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78" y="4434105"/>
            <a:ext cx="2743200" cy="79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23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5FA6606-0343-4ECF-AA3C-F5A7D32E2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nb-NO" sz="3200">
                <a:solidFill>
                  <a:schemeClr val="tx1"/>
                </a:solidFill>
              </a:rPr>
              <a:t>Bluetooth – The Apple Way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5A39355-E8A2-4440-81FA-AC3761181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nb-NO" sz="1600" dirty="0"/>
              <a:t>Fysisk begrenset – Bluetooth 5.0 har en teoretisk maksimum på 240 meter, som reduseres gjennom vegger</a:t>
            </a:r>
          </a:p>
          <a:p>
            <a:r>
              <a:rPr lang="nb-NO" sz="1600" dirty="0"/>
              <a:t>Ligger fysisk i nedre frekvenser av 2.4Ghz </a:t>
            </a:r>
            <a:r>
              <a:rPr lang="nb-NO" sz="1600" dirty="0" err="1"/>
              <a:t>WiFi</a:t>
            </a:r>
            <a:r>
              <a:rPr lang="nb-NO" sz="1600" dirty="0"/>
              <a:t>. Om 2.4GHz </a:t>
            </a:r>
            <a:r>
              <a:rPr lang="nb-NO" sz="1600" dirty="0" err="1"/>
              <a:t>WiFi</a:t>
            </a:r>
            <a:r>
              <a:rPr lang="nb-NO" sz="1600" dirty="0"/>
              <a:t> blir mye brukt, vil dette forstyrre eller svekke signalene.</a:t>
            </a:r>
          </a:p>
          <a:p>
            <a:r>
              <a:rPr lang="nb-NO" sz="1600" dirty="0" err="1"/>
              <a:t>Wanna</a:t>
            </a:r>
            <a:r>
              <a:rPr lang="nb-NO" sz="1600" dirty="0"/>
              <a:t>-be smarthus, men det fungerer med nok </a:t>
            </a:r>
            <a:r>
              <a:rPr lang="nb-NO" sz="1600" dirty="0" err="1"/>
              <a:t>hubber</a:t>
            </a:r>
            <a:endParaRPr lang="nb-NO" sz="1600"/>
          </a:p>
          <a:p>
            <a:r>
              <a:rPr lang="nb-NO" sz="1600" dirty="0"/>
              <a:t>Populær hos Apple </a:t>
            </a:r>
            <a:r>
              <a:rPr lang="nb-NO" sz="1600" dirty="0" err="1"/>
              <a:t>HomeKit</a:t>
            </a:r>
            <a:r>
              <a:rPr lang="nb-NO" sz="1600" dirty="0"/>
              <a:t>, krever at du har flere Apple </a:t>
            </a:r>
            <a:r>
              <a:rPr lang="nb-NO" sz="1600" dirty="0" err="1"/>
              <a:t>TV'er</a:t>
            </a:r>
            <a:r>
              <a:rPr lang="nb-NO" sz="1600" dirty="0"/>
              <a:t> eller </a:t>
            </a:r>
            <a:r>
              <a:rPr lang="nb-NO" sz="1600" dirty="0" err="1"/>
              <a:t>HomePods</a:t>
            </a:r>
            <a:r>
              <a:rPr lang="nb-NO" sz="1600" dirty="0"/>
              <a:t> høyttalere for å ha god nok dekning</a:t>
            </a:r>
          </a:p>
          <a:p>
            <a:r>
              <a:rPr lang="nb-NO" sz="1600" dirty="0"/>
              <a:t>Billig!</a:t>
            </a:r>
          </a:p>
        </p:txBody>
      </p:sp>
      <p:sp>
        <p:nvSpPr>
          <p:cNvPr id="4" name="Rektangel: klippede hjørner diagonalt 3">
            <a:extLst>
              <a:ext uri="{FF2B5EF4-FFF2-40B4-BE49-F238E27FC236}">
                <a16:creationId xmlns:a16="http://schemas.microsoft.com/office/drawing/2014/main" id="{EBFBD672-0DE3-4335-A009-90316DBDC299}"/>
              </a:ext>
            </a:extLst>
          </p:cNvPr>
          <p:cNvSpPr/>
          <p:nvPr/>
        </p:nvSpPr>
        <p:spPr>
          <a:xfrm>
            <a:off x="1411" y="1411"/>
            <a:ext cx="2511777" cy="917222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b-NO" dirty="0"/>
              <a:t>Sentralisert</a:t>
            </a:r>
          </a:p>
        </p:txBody>
      </p:sp>
      <p:pic>
        <p:nvPicPr>
          <p:cNvPr id="5" name="Bilde 5">
            <a:extLst>
              <a:ext uri="{FF2B5EF4-FFF2-40B4-BE49-F238E27FC236}">
                <a16:creationId xmlns:a16="http://schemas.microsoft.com/office/drawing/2014/main" id="{F8C57E63-39AC-41D9-A311-2FE0784B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5046631"/>
            <a:ext cx="2743200" cy="1506071"/>
          </a:xfrm>
          <a:prstGeom prst="rect">
            <a:avLst/>
          </a:prstGeom>
        </p:spPr>
      </p:pic>
      <p:pic>
        <p:nvPicPr>
          <p:cNvPr id="6" name="Bilde 6">
            <a:extLst>
              <a:ext uri="{FF2B5EF4-FFF2-40B4-BE49-F238E27FC236}">
                <a16:creationId xmlns:a16="http://schemas.microsoft.com/office/drawing/2014/main" id="{2B147A3B-989B-43DF-9BF6-1251F8C2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790" y="4181121"/>
            <a:ext cx="1296812" cy="12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03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E5A9864-9D7F-42BB-897A-B6B9A369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nb-NO" sz="3200">
                <a:solidFill>
                  <a:schemeClr val="tx1"/>
                </a:solidFill>
              </a:rPr>
              <a:t>WiFi / Ethernet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91E8398-8BAD-46C3-8D4A-845F275AF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nb-NO" sz="1600" dirty="0"/>
              <a:t>Enheter som kobles direkte til </a:t>
            </a:r>
            <a:r>
              <a:rPr lang="nb-NO" sz="1600" dirty="0" err="1"/>
              <a:t>WiFi</a:t>
            </a:r>
            <a:r>
              <a:rPr lang="nb-NO" sz="1600" dirty="0"/>
              <a:t> eller kablet nett, vil kunne kommunisere til og fra andre enheter på samme nett – eller det store internett</a:t>
            </a:r>
          </a:p>
          <a:p>
            <a:r>
              <a:rPr lang="nb-NO" sz="1600" dirty="0"/>
              <a:t>Sikkerhetsutfordringer. Vil du ha en billig </a:t>
            </a:r>
            <a:r>
              <a:rPr lang="nb-NO" sz="1600" dirty="0" err="1"/>
              <a:t>WiFi</a:t>
            </a:r>
            <a:r>
              <a:rPr lang="nb-NO" sz="1600" dirty="0"/>
              <a:t> printer til 200kr koblet til samme nett som en </a:t>
            </a:r>
            <a:r>
              <a:rPr lang="nb-NO" sz="1600" dirty="0" err="1"/>
              <a:t>backupserver</a:t>
            </a:r>
            <a:r>
              <a:rPr lang="nb-NO" sz="1600" dirty="0"/>
              <a:t>?</a:t>
            </a:r>
          </a:p>
          <a:p>
            <a:r>
              <a:rPr lang="nb-NO" sz="1600" dirty="0"/>
              <a:t>Vil du ha 20$ </a:t>
            </a:r>
            <a:r>
              <a:rPr lang="nb-NO" sz="1600" dirty="0" err="1"/>
              <a:t>WiFi</a:t>
            </a:r>
            <a:r>
              <a:rPr lang="nb-NO" sz="1600" dirty="0"/>
              <a:t> kamera i huset, som har tilgang til offentlig nett?</a:t>
            </a:r>
          </a:p>
          <a:p>
            <a:endParaRPr lang="nb-NO" sz="1600" dirty="0"/>
          </a:p>
          <a:p>
            <a:r>
              <a:rPr lang="nb-NO" sz="1600" dirty="0"/>
              <a:t>Fungerer greit – om du har brannmur som begrenser tilgang, eller stoler fullt på produsenten.</a:t>
            </a:r>
          </a:p>
          <a:p>
            <a:r>
              <a:rPr lang="nb-NO" sz="1600" dirty="0"/>
              <a:t>Ofte billigere å integrere enn </a:t>
            </a:r>
            <a:r>
              <a:rPr lang="nb-NO" sz="1600" dirty="0" err="1"/>
              <a:t>ZigBee</a:t>
            </a:r>
            <a:r>
              <a:rPr lang="nb-NO" sz="1600" dirty="0"/>
              <a:t>/Z-</a:t>
            </a:r>
            <a:r>
              <a:rPr lang="nb-NO" sz="1600" dirty="0" err="1"/>
              <a:t>Wave</a:t>
            </a:r>
            <a:r>
              <a:rPr lang="nb-NO" sz="1600" dirty="0"/>
              <a:t>, og mer brukervennlig i og med den kun krever internett, tar opp mer plass på nettverket enn hva </a:t>
            </a:r>
            <a:r>
              <a:rPr lang="nb-NO" sz="1600" dirty="0" err="1"/>
              <a:t>ZigBee</a:t>
            </a:r>
            <a:r>
              <a:rPr lang="nb-NO" sz="1600" dirty="0"/>
              <a:t> gjør.</a:t>
            </a:r>
          </a:p>
          <a:p>
            <a:r>
              <a:rPr lang="nb-NO" sz="1600" dirty="0"/>
              <a:t>Som regel billig, men unngå om du kan</a:t>
            </a:r>
          </a:p>
        </p:txBody>
      </p:sp>
      <p:sp>
        <p:nvSpPr>
          <p:cNvPr id="4" name="Rektangel: klippede hjørner diagonalt 3">
            <a:extLst>
              <a:ext uri="{FF2B5EF4-FFF2-40B4-BE49-F238E27FC236}">
                <a16:creationId xmlns:a16="http://schemas.microsoft.com/office/drawing/2014/main" id="{D81D9AC6-AB6A-46BD-B785-648CF86C3C1F}"/>
              </a:ext>
            </a:extLst>
          </p:cNvPr>
          <p:cNvSpPr/>
          <p:nvPr/>
        </p:nvSpPr>
        <p:spPr>
          <a:xfrm>
            <a:off x="1411" y="1411"/>
            <a:ext cx="2511777" cy="917222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b-NO" dirty="0"/>
              <a:t>Sentralisert</a:t>
            </a:r>
          </a:p>
        </p:txBody>
      </p:sp>
      <p:pic>
        <p:nvPicPr>
          <p:cNvPr id="5" name="Bilde 5">
            <a:extLst>
              <a:ext uri="{FF2B5EF4-FFF2-40B4-BE49-F238E27FC236}">
                <a16:creationId xmlns:a16="http://schemas.microsoft.com/office/drawing/2014/main" id="{1102A8D4-AAB7-481B-9F89-BB327F9C1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233" y="4766837"/>
            <a:ext cx="2743200" cy="11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42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70BBBAD-1A0F-44A3-9BEC-9E700A58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Lokal API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8B7B89E-BE49-4FB0-849B-1A8AD0F99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Vil alltid fungere, selv om selskapet går konkurs</a:t>
            </a:r>
          </a:p>
          <a:p>
            <a:endParaRPr lang="nb-NO" dirty="0"/>
          </a:p>
          <a:p>
            <a:r>
              <a:rPr lang="nb-NO" dirty="0"/>
              <a:t>Enhet er koblet til lokalt nett, men krever ikke internett-tilgang. Smarthjem </a:t>
            </a:r>
            <a:r>
              <a:rPr lang="nb-NO" dirty="0" err="1"/>
              <a:t>hubben</a:t>
            </a:r>
            <a:r>
              <a:rPr lang="nb-NO" dirty="0"/>
              <a:t> kommuniserer direkte med enheten, uten å gå gjennom en server i kina</a:t>
            </a:r>
          </a:p>
          <a:p>
            <a:endParaRPr lang="nb-NO" dirty="0"/>
          </a:p>
          <a:p>
            <a:r>
              <a:rPr lang="nb-NO" dirty="0"/>
              <a:t>Sikkert, pålitelig og bra.</a:t>
            </a:r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2DE6FFC7-A2CB-4F1A-80F7-E6E576072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789" y="4392777"/>
            <a:ext cx="4591755" cy="236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45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795D6EC-B844-4D83-B911-ECA83C59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Offentlig API via nett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2927670-60FB-40AF-8689-CFB998A9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Krever at produsent tilbyr en server. Går serveren ned, så går tjenestene ned.</a:t>
            </a:r>
          </a:p>
          <a:p>
            <a:endParaRPr lang="nb-NO" dirty="0"/>
          </a:p>
          <a:p>
            <a:r>
              <a:rPr lang="nb-NO" dirty="0"/>
              <a:t>Dessverre påtvunget av mange produsenter. Mill ovner, for eksempel. Google enheter osv.</a:t>
            </a:r>
          </a:p>
          <a:p>
            <a:endParaRPr lang="nb-NO" dirty="0"/>
          </a:p>
          <a:p>
            <a:r>
              <a:rPr lang="nb-NO" dirty="0"/>
              <a:t>Sikkerhetsrisiko. Sjeldent det blir sendt ut oppdateringer på lyspærer eller små duppeditter, er et åpent ledd til omverdenen som kan utsettes for data-angrep</a:t>
            </a:r>
          </a:p>
        </p:txBody>
      </p:sp>
    </p:spTree>
    <p:extLst>
      <p:ext uri="{BB962C8B-B14F-4D97-AF65-F5344CB8AC3E}">
        <p14:creationId xmlns:p14="http://schemas.microsoft.com/office/powerpoint/2010/main" val="2066248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81BB642-DA80-41BD-B1DC-F731A3E7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nb-NO" dirty="0"/>
              <a:t>Ulemper med API via nett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ABDAA65-B501-4BF0-9E4C-0A42BCD1D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r>
              <a:rPr lang="nb-NO" sz="1600" dirty="0"/>
              <a:t>"</a:t>
            </a:r>
            <a:r>
              <a:rPr lang="nb-NO" sz="1600" dirty="0" err="1"/>
              <a:t>Sorry</a:t>
            </a:r>
            <a:r>
              <a:rPr lang="nb-NO" sz="1600" dirty="0"/>
              <a:t> for at jeg er sen – fungerte ikke å lade bilen siden serveren var nede" - </a:t>
            </a:r>
            <a:r>
              <a:rPr lang="nb-NO" sz="1600" dirty="0" err="1"/>
              <a:t>CloudCharge</a:t>
            </a:r>
            <a:endParaRPr lang="nb-NO" sz="1600"/>
          </a:p>
          <a:p>
            <a:r>
              <a:rPr lang="nb-NO" sz="1600" dirty="0"/>
              <a:t>"Nei, denne høyttaleren fungerer ikke lenger, du må kjøpe versjon 2" - </a:t>
            </a:r>
            <a:r>
              <a:rPr lang="nb-NO" sz="1600" dirty="0" err="1"/>
              <a:t>Sonos</a:t>
            </a:r>
            <a:endParaRPr lang="nb-NO" sz="1600"/>
          </a:p>
          <a:p>
            <a:r>
              <a:rPr lang="nb-NO" sz="1600" dirty="0"/>
              <a:t>"Nullstill varmeovnen først hvis du vil justere temperaturen manuelt, serveren i Kina er nede" - Mill</a:t>
            </a:r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3E0CF39E-AD27-4E3A-93DF-F17C5F6D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804" y="2413000"/>
            <a:ext cx="5717442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414552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5180415-B5CE-426E-B011-D0E5E2164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78" y="623577"/>
            <a:ext cx="10571998" cy="970450"/>
          </a:xfrm>
        </p:spPr>
        <p:txBody>
          <a:bodyPr/>
          <a:lstStyle/>
          <a:p>
            <a:pPr algn="ctr"/>
            <a:r>
              <a:rPr lang="nb-NO" dirty="0"/>
              <a:t>Mange protokoller, mange leverandører.</a:t>
            </a:r>
            <a:br>
              <a:rPr lang="nb-NO" dirty="0"/>
            </a:br>
            <a:r>
              <a:rPr lang="nb-NO" dirty="0">
                <a:ea typeface="+mj-lt"/>
                <a:cs typeface="+mj-lt"/>
              </a:rPr>
              <a:t>Jo flere kokker jo mere søl</a:t>
            </a:r>
            <a:r>
              <a:rPr lang="nb-NO" dirty="0"/>
              <a:t>.</a:t>
            </a:r>
            <a:endParaRPr lang="nb-NO"/>
          </a:p>
        </p:txBody>
      </p:sp>
      <p:pic>
        <p:nvPicPr>
          <p:cNvPr id="4" name="Bilde 4" descr="Et bilde som inneholder tekst&#10;&#10;Automatisk generert beskrivelse">
            <a:extLst>
              <a:ext uri="{FF2B5EF4-FFF2-40B4-BE49-F238E27FC236}">
                <a16:creationId xmlns:a16="http://schemas.microsoft.com/office/drawing/2014/main" id="{9FBB90FD-6422-41BB-A258-612818402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543" y="2408239"/>
            <a:ext cx="2590800" cy="1924050"/>
          </a:xfrm>
        </p:spPr>
      </p:pic>
      <p:pic>
        <p:nvPicPr>
          <p:cNvPr id="5" name="Bilde 5" descr="Et bilde som inneholder tekst&#10;&#10;Automatisk generert beskrivelse">
            <a:extLst>
              <a:ext uri="{FF2B5EF4-FFF2-40B4-BE49-F238E27FC236}">
                <a16:creationId xmlns:a16="http://schemas.microsoft.com/office/drawing/2014/main" id="{BC21F068-7B7E-4E4E-B5EA-0C9D53FCF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844" y="2409595"/>
            <a:ext cx="7216422" cy="1932976"/>
          </a:xfrm>
          <a:prstGeom prst="rect">
            <a:avLst/>
          </a:prstGeom>
        </p:spPr>
      </p:pic>
      <p:pic>
        <p:nvPicPr>
          <p:cNvPr id="6" name="Bilde 6" descr="Et bilde som inneholder tekst&#10;&#10;Automatisk generert beskrivelse">
            <a:extLst>
              <a:ext uri="{FF2B5EF4-FFF2-40B4-BE49-F238E27FC236}">
                <a16:creationId xmlns:a16="http://schemas.microsoft.com/office/drawing/2014/main" id="{F4847BAC-B933-40C4-8CCD-FD32F699B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67" y="5435029"/>
            <a:ext cx="10440811" cy="750440"/>
          </a:xfrm>
          <a:prstGeom prst="rect">
            <a:avLst/>
          </a:prstGeo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3B4B57D0-0AA4-465C-B1FA-4EEFF9FE3A75}"/>
              </a:ext>
            </a:extLst>
          </p:cNvPr>
          <p:cNvSpPr txBox="1"/>
          <p:nvPr/>
        </p:nvSpPr>
        <p:spPr>
          <a:xfrm>
            <a:off x="730956" y="4364566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dirty="0"/>
              <a:t>Philips Hue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B8BB365B-829C-4510-887D-CA7C4566C0B5}"/>
              </a:ext>
            </a:extLst>
          </p:cNvPr>
          <p:cNvSpPr txBox="1"/>
          <p:nvPr/>
        </p:nvSpPr>
        <p:spPr>
          <a:xfrm>
            <a:off x="3327400" y="4336344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dirty="0"/>
              <a:t>LIFX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8EAFC93B-F737-4F28-A2B4-70540CA01F9C}"/>
              </a:ext>
            </a:extLst>
          </p:cNvPr>
          <p:cNvSpPr txBox="1"/>
          <p:nvPr/>
        </p:nvSpPr>
        <p:spPr>
          <a:xfrm>
            <a:off x="730956" y="6191955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dirty="0"/>
              <a:t>Ikea </a:t>
            </a:r>
            <a:r>
              <a:rPr lang="nb-NO" dirty="0" err="1"/>
              <a:t>Trådfri</a:t>
            </a:r>
          </a:p>
        </p:txBody>
      </p:sp>
    </p:spTree>
    <p:extLst>
      <p:ext uri="{BB962C8B-B14F-4D97-AF65-F5344CB8AC3E}">
        <p14:creationId xmlns:p14="http://schemas.microsoft.com/office/powerpoint/2010/main" val="2967147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8E51ACA-4E94-47AA-B2A3-396DD3F2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En Smarthus sentral, standardiserer</a:t>
            </a:r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49053987-5C13-4EA8-BEAB-2C642B463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421" r="-211"/>
          <a:stretch/>
        </p:blipFill>
        <p:spPr>
          <a:xfrm>
            <a:off x="5851877" y="3027541"/>
            <a:ext cx="2943410" cy="657225"/>
          </a:xfrm>
        </p:spPr>
      </p:pic>
      <p:pic>
        <p:nvPicPr>
          <p:cNvPr id="5" name="Bilde 5" descr="Et bilde som inneholder tekst, overvåke, skjerm, skjermbilde&#10;&#10;Automatisk generert beskrivelse">
            <a:extLst>
              <a:ext uri="{FF2B5EF4-FFF2-40B4-BE49-F238E27FC236}">
                <a16:creationId xmlns:a16="http://schemas.microsoft.com/office/drawing/2014/main" id="{B6725FA1-2288-456E-B793-7AA5F7D3D6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405" t="64259" r="34783" b="190"/>
          <a:stretch/>
        </p:blipFill>
        <p:spPr>
          <a:xfrm>
            <a:off x="371122" y="4230706"/>
            <a:ext cx="2894978" cy="1481057"/>
          </a:xfrm>
          <a:prstGeom prst="rect">
            <a:avLst/>
          </a:prstGeom>
        </p:spPr>
      </p:pic>
      <p:pic>
        <p:nvPicPr>
          <p:cNvPr id="6" name="Bilde 6">
            <a:extLst>
              <a:ext uri="{FF2B5EF4-FFF2-40B4-BE49-F238E27FC236}">
                <a16:creationId xmlns:a16="http://schemas.microsoft.com/office/drawing/2014/main" id="{429AC733-A881-474C-9563-1022BC325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955" y="2332805"/>
            <a:ext cx="1508478" cy="661336"/>
          </a:xfrm>
          <a:prstGeom prst="rect">
            <a:avLst/>
          </a:prstGeom>
        </p:spPr>
      </p:pic>
      <p:pic>
        <p:nvPicPr>
          <p:cNvPr id="7" name="Bilde 7">
            <a:extLst>
              <a:ext uri="{FF2B5EF4-FFF2-40B4-BE49-F238E27FC236}">
                <a16:creationId xmlns:a16="http://schemas.microsoft.com/office/drawing/2014/main" id="{4056875D-395A-4D6D-BA3A-E0F72B046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56" y="5779030"/>
            <a:ext cx="2743200" cy="718606"/>
          </a:xfrm>
          <a:prstGeom prst="rect">
            <a:avLst/>
          </a:prstGeom>
        </p:spPr>
      </p:pic>
      <p:pic>
        <p:nvPicPr>
          <p:cNvPr id="8" name="Bilde 8">
            <a:extLst>
              <a:ext uri="{FF2B5EF4-FFF2-40B4-BE49-F238E27FC236}">
                <a16:creationId xmlns:a16="http://schemas.microsoft.com/office/drawing/2014/main" id="{1E8CB85B-A116-4644-813F-2C01128D76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411" y="2295878"/>
            <a:ext cx="2057400" cy="4114800"/>
          </a:xfrm>
          <a:prstGeom prst="rect">
            <a:avLst/>
          </a:prstGeom>
        </p:spPr>
      </p:pic>
      <p:pic>
        <p:nvPicPr>
          <p:cNvPr id="9" name="Bilde 9" descr="Et bilde som inneholder tekst&#10;&#10;Automatisk generert beskrivelse">
            <a:extLst>
              <a:ext uri="{FF2B5EF4-FFF2-40B4-BE49-F238E27FC236}">
                <a16:creationId xmlns:a16="http://schemas.microsoft.com/office/drawing/2014/main" id="{544C8679-CF60-4909-9B11-6B3C1B30E2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7732" y="4228450"/>
            <a:ext cx="3371143" cy="2267543"/>
          </a:xfrm>
          <a:prstGeom prst="rect">
            <a:avLst/>
          </a:prstGeom>
        </p:spPr>
      </p:pic>
      <p:sp>
        <p:nvSpPr>
          <p:cNvPr id="10" name="TekstSylinder 9">
            <a:extLst>
              <a:ext uri="{FF2B5EF4-FFF2-40B4-BE49-F238E27FC236}">
                <a16:creationId xmlns:a16="http://schemas.microsoft.com/office/drawing/2014/main" id="{58355AD3-BA52-478A-B601-39C143DE0F1E}"/>
              </a:ext>
            </a:extLst>
          </p:cNvPr>
          <p:cNvSpPr txBox="1"/>
          <p:nvPr/>
        </p:nvSpPr>
        <p:spPr>
          <a:xfrm>
            <a:off x="371123" y="2205565"/>
            <a:ext cx="488808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dirty="0"/>
              <a:t>En felles standard, uavhengig av produsent. Samme kommando for å endre Philips Hue Pærer, som </a:t>
            </a:r>
            <a:r>
              <a:rPr lang="nb-NO" dirty="0" err="1"/>
              <a:t>Lifx</a:t>
            </a:r>
            <a:r>
              <a:rPr lang="nb-NO" dirty="0"/>
              <a:t> eller </a:t>
            </a:r>
            <a:r>
              <a:rPr lang="nb-NO" dirty="0" err="1"/>
              <a:t>Trådfri</a:t>
            </a:r>
            <a:r>
              <a:rPr lang="nb-NO" dirty="0"/>
              <a:t> pærer.</a:t>
            </a:r>
            <a:br>
              <a:rPr lang="nb-NO" dirty="0"/>
            </a:br>
            <a:br>
              <a:rPr lang="nb-NO" dirty="0"/>
            </a:br>
            <a:r>
              <a:rPr lang="nb-NO" dirty="0"/>
              <a:t>Det betyr: Du er IKKE låst til ÉT system!</a:t>
            </a:r>
          </a:p>
        </p:txBody>
      </p:sp>
      <p:pic>
        <p:nvPicPr>
          <p:cNvPr id="11" name="Bilde 11">
            <a:extLst>
              <a:ext uri="{FF2B5EF4-FFF2-40B4-BE49-F238E27FC236}">
                <a16:creationId xmlns:a16="http://schemas.microsoft.com/office/drawing/2014/main" id="{833964FF-93D3-4B63-874B-2AF6E98B13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761572"/>
            <a:ext cx="922867" cy="661798"/>
          </a:xfrm>
          <a:prstGeom prst="rect">
            <a:avLst/>
          </a:prstGeom>
        </p:spPr>
      </p:pic>
      <p:pic>
        <p:nvPicPr>
          <p:cNvPr id="12" name="Bilde 12">
            <a:extLst>
              <a:ext uri="{FF2B5EF4-FFF2-40B4-BE49-F238E27FC236}">
                <a16:creationId xmlns:a16="http://schemas.microsoft.com/office/drawing/2014/main" id="{956830F8-531E-46EA-89EE-0ABB114981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3233" y="4230511"/>
            <a:ext cx="781756" cy="78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92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BCC03C4-1D56-4304-A751-787DD269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S'en</a:t>
            </a:r>
            <a:r>
              <a:rPr lang="nb-NO" dirty="0"/>
              <a:t> i </a:t>
            </a:r>
            <a:r>
              <a:rPr lang="nb-NO" dirty="0" err="1"/>
              <a:t>IoT</a:t>
            </a:r>
            <a:r>
              <a:rPr lang="nb-NO" dirty="0"/>
              <a:t> står for sikkerhet</a:t>
            </a:r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3FEEB255-E85E-40E1-97EF-CD52368DC8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390" y="2222287"/>
            <a:ext cx="5997217" cy="3636511"/>
          </a:xfrm>
        </p:spPr>
      </p:pic>
    </p:spTree>
    <p:extLst>
      <p:ext uri="{BB962C8B-B14F-4D97-AF65-F5344CB8AC3E}">
        <p14:creationId xmlns:p14="http://schemas.microsoft.com/office/powerpoint/2010/main" val="3293196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23F5823-7551-49F4-AAE1-8294C445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nb-NO" dirty="0"/>
              <a:t>Men det finnes grep mot det også.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A1846E2-429B-4A6E-A5FD-FBAD570A3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881" y="2413000"/>
            <a:ext cx="4922137" cy="3632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500"/>
              <a:t>TRENGER IoT enhetene tilgang til (Eksternt) internett?</a:t>
            </a:r>
          </a:p>
          <a:p>
            <a:pPr>
              <a:lnSpc>
                <a:spcPct val="90000"/>
              </a:lnSpc>
            </a:pPr>
            <a:r>
              <a:rPr lang="nb-NO" sz="1500"/>
              <a:t>Hvis nei, men du ønsker styring via nettet: Bruk en Smarthjem server!</a:t>
            </a:r>
          </a:p>
          <a:p>
            <a:pPr>
              <a:lnSpc>
                <a:spcPct val="90000"/>
              </a:lnSpc>
            </a:pPr>
            <a:r>
              <a:rPr lang="nb-NO" sz="1500"/>
              <a:t>Hvis ja – trenger den tilgang til andre ting på lokalnettet?</a:t>
            </a:r>
          </a:p>
          <a:p>
            <a:pPr>
              <a:lnSpc>
                <a:spcPct val="90000"/>
              </a:lnSpc>
            </a:pPr>
            <a:r>
              <a:rPr lang="nb-NO" sz="1500"/>
              <a:t>Hvis ja – trenger den tilgang til ALT av andre ting på lokalnettet?</a:t>
            </a:r>
          </a:p>
          <a:p>
            <a:pPr>
              <a:lnSpc>
                <a:spcPct val="90000"/>
              </a:lnSpc>
            </a:pPr>
            <a:r>
              <a:rPr lang="nb-NO" sz="1500"/>
              <a:t>I en brannmur kan du spesifisere at enkelte enheter, kan KUN kommunisere med andre enkelte enheter. For eksempel Lysbryter KAN kommunisere med lyspære, men ikke mer enn det.</a:t>
            </a:r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449D299A-E177-43AF-BF83-E9044A7FB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228" y="2413000"/>
            <a:ext cx="6142707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871340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CA54857-F302-42E6-AC56-88FEB09E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Proxy – bruk alltid en mann i midten.</a:t>
            </a:r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AD7C5E27-F9D7-4C0F-9DDE-38EFBACE3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402" y="2416000"/>
            <a:ext cx="1675695" cy="1675695"/>
          </a:xfrm>
        </p:spPr>
      </p:pic>
      <p:pic>
        <p:nvPicPr>
          <p:cNvPr id="5" name="Bilde 5">
            <a:extLst>
              <a:ext uri="{FF2B5EF4-FFF2-40B4-BE49-F238E27FC236}">
                <a16:creationId xmlns:a16="http://schemas.microsoft.com/office/drawing/2014/main" id="{810B2AA0-4D0C-4E7D-B27D-FDFDB6FAE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2501900"/>
            <a:ext cx="1564923" cy="1564923"/>
          </a:xfrm>
          <a:prstGeom prst="rect">
            <a:avLst/>
          </a:prstGeom>
        </p:spPr>
      </p:pic>
      <p:cxnSp>
        <p:nvCxnSpPr>
          <p:cNvPr id="6" name="Rett pilkobling 5">
            <a:extLst>
              <a:ext uri="{FF2B5EF4-FFF2-40B4-BE49-F238E27FC236}">
                <a16:creationId xmlns:a16="http://schemas.microsoft.com/office/drawing/2014/main" id="{0546C6FE-2A07-4F3A-B850-987FD8FF8781}"/>
              </a:ext>
            </a:extLst>
          </p:cNvPr>
          <p:cNvCxnSpPr/>
          <p:nvPr/>
        </p:nvCxnSpPr>
        <p:spPr>
          <a:xfrm flipV="1">
            <a:off x="2372078" y="3222976"/>
            <a:ext cx="632177" cy="28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Rett pilkobling 6">
            <a:extLst>
              <a:ext uri="{FF2B5EF4-FFF2-40B4-BE49-F238E27FC236}">
                <a16:creationId xmlns:a16="http://schemas.microsoft.com/office/drawing/2014/main" id="{4468A0CF-475E-4798-AA4A-397752AC7221}"/>
              </a:ext>
            </a:extLst>
          </p:cNvPr>
          <p:cNvCxnSpPr>
            <a:cxnSpLocks/>
          </p:cNvCxnSpPr>
          <p:nvPr/>
        </p:nvCxnSpPr>
        <p:spPr>
          <a:xfrm flipH="1">
            <a:off x="2623256" y="4227688"/>
            <a:ext cx="757767" cy="434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" name="Bilde 8" descr="Et bilde som inneholder tekst, person, bærbar PC, mann&#10;&#10;Automatisk generert beskrivelse">
            <a:extLst>
              <a:ext uri="{FF2B5EF4-FFF2-40B4-BE49-F238E27FC236}">
                <a16:creationId xmlns:a16="http://schemas.microsoft.com/office/drawing/2014/main" id="{2279B1C9-1F41-4538-AD5B-7E51D1D13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22" y="4546600"/>
            <a:ext cx="1741312" cy="1158523"/>
          </a:xfrm>
          <a:prstGeom prst="rect">
            <a:avLst/>
          </a:prstGeom>
        </p:spPr>
      </p:pic>
      <p:cxnSp>
        <p:nvCxnSpPr>
          <p:cNvPr id="9" name="Rett pilkobling 8">
            <a:extLst>
              <a:ext uri="{FF2B5EF4-FFF2-40B4-BE49-F238E27FC236}">
                <a16:creationId xmlns:a16="http://schemas.microsoft.com/office/drawing/2014/main" id="{94190DBF-08AB-430D-BB3E-4CC05E4C7503}"/>
              </a:ext>
            </a:extLst>
          </p:cNvPr>
          <p:cNvCxnSpPr>
            <a:cxnSpLocks/>
          </p:cNvCxnSpPr>
          <p:nvPr/>
        </p:nvCxnSpPr>
        <p:spPr>
          <a:xfrm flipH="1">
            <a:off x="3364089" y="4277077"/>
            <a:ext cx="426155" cy="667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Bilde 10">
            <a:extLst>
              <a:ext uri="{FF2B5EF4-FFF2-40B4-BE49-F238E27FC236}">
                <a16:creationId xmlns:a16="http://schemas.microsoft.com/office/drawing/2014/main" id="{484EAA59-5D9B-45C0-9685-4FE397116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2956" y="4992509"/>
            <a:ext cx="1212145" cy="1205090"/>
          </a:xfrm>
          <a:prstGeom prst="rect">
            <a:avLst/>
          </a:prstGeom>
        </p:spPr>
      </p:pic>
      <p:pic>
        <p:nvPicPr>
          <p:cNvPr id="11" name="Bilde 11">
            <a:extLst>
              <a:ext uri="{FF2B5EF4-FFF2-40B4-BE49-F238E27FC236}">
                <a16:creationId xmlns:a16="http://schemas.microsoft.com/office/drawing/2014/main" id="{A4875A6A-5450-478E-AEA4-91048FCDEEA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9897" r="9511" b="457"/>
          <a:stretch/>
        </p:blipFill>
        <p:spPr>
          <a:xfrm>
            <a:off x="5295900" y="4047419"/>
            <a:ext cx="1347184" cy="2439116"/>
          </a:xfrm>
          <a:prstGeom prst="rect">
            <a:avLst/>
          </a:prstGeom>
        </p:spPr>
      </p:pic>
      <p:cxnSp>
        <p:nvCxnSpPr>
          <p:cNvPr id="12" name="Rett pilkobling 11">
            <a:extLst>
              <a:ext uri="{FF2B5EF4-FFF2-40B4-BE49-F238E27FC236}">
                <a16:creationId xmlns:a16="http://schemas.microsoft.com/office/drawing/2014/main" id="{8E0242E0-407D-4B01-9899-26A3F5111C5E}"/>
              </a:ext>
            </a:extLst>
          </p:cNvPr>
          <p:cNvCxnSpPr>
            <a:cxnSpLocks/>
          </p:cNvCxnSpPr>
          <p:nvPr/>
        </p:nvCxnSpPr>
        <p:spPr>
          <a:xfrm>
            <a:off x="4326466" y="4248856"/>
            <a:ext cx="914400" cy="893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4" name="Bilde 4">
            <a:extLst>
              <a:ext uri="{FF2B5EF4-FFF2-40B4-BE49-F238E27FC236}">
                <a16:creationId xmlns:a16="http://schemas.microsoft.com/office/drawing/2014/main" id="{8332E373-462F-4989-854C-A75D7B0B6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024" y="2420233"/>
            <a:ext cx="1675695" cy="1675695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cxnSp>
        <p:nvCxnSpPr>
          <p:cNvPr id="15" name="Rett pilkobling 14">
            <a:extLst>
              <a:ext uri="{FF2B5EF4-FFF2-40B4-BE49-F238E27FC236}">
                <a16:creationId xmlns:a16="http://schemas.microsoft.com/office/drawing/2014/main" id="{71FAD48D-353F-4BB6-8005-9D30371B0EE9}"/>
              </a:ext>
            </a:extLst>
          </p:cNvPr>
          <p:cNvCxnSpPr>
            <a:cxnSpLocks/>
          </p:cNvCxnSpPr>
          <p:nvPr/>
        </p:nvCxnSpPr>
        <p:spPr>
          <a:xfrm flipH="1" flipV="1">
            <a:off x="9008534" y="3187698"/>
            <a:ext cx="637822" cy="28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8" name="Bilde 5">
            <a:extLst>
              <a:ext uri="{FF2B5EF4-FFF2-40B4-BE49-F238E27FC236}">
                <a16:creationId xmlns:a16="http://schemas.microsoft.com/office/drawing/2014/main" id="{AC8906B3-FBF0-4174-BA07-96408EC6D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066" y="4449233"/>
            <a:ext cx="1564923" cy="1564923"/>
          </a:xfrm>
          <a:prstGeom prst="rect">
            <a:avLst/>
          </a:prstGeom>
        </p:spPr>
      </p:pic>
      <p:cxnSp>
        <p:nvCxnSpPr>
          <p:cNvPr id="19" name="Rett pilkobling 18">
            <a:extLst>
              <a:ext uri="{FF2B5EF4-FFF2-40B4-BE49-F238E27FC236}">
                <a16:creationId xmlns:a16="http://schemas.microsoft.com/office/drawing/2014/main" id="{6FC1A3C9-2825-471A-86F3-F437B7D003E4}"/>
              </a:ext>
            </a:extLst>
          </p:cNvPr>
          <p:cNvCxnSpPr>
            <a:cxnSpLocks/>
          </p:cNvCxnSpPr>
          <p:nvPr/>
        </p:nvCxnSpPr>
        <p:spPr>
          <a:xfrm>
            <a:off x="7960078" y="3924299"/>
            <a:ext cx="11288" cy="5122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Rett pilkobling 19">
            <a:extLst>
              <a:ext uri="{FF2B5EF4-FFF2-40B4-BE49-F238E27FC236}">
                <a16:creationId xmlns:a16="http://schemas.microsoft.com/office/drawing/2014/main" id="{C88268C4-0B78-486D-98C9-491BB622F70A}"/>
              </a:ext>
            </a:extLst>
          </p:cNvPr>
          <p:cNvCxnSpPr>
            <a:cxnSpLocks/>
          </p:cNvCxnSpPr>
          <p:nvPr/>
        </p:nvCxnSpPr>
        <p:spPr>
          <a:xfrm flipH="1" flipV="1">
            <a:off x="6687256" y="5226753"/>
            <a:ext cx="637822" cy="28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1" name="Bilde 21">
            <a:extLst>
              <a:ext uri="{FF2B5EF4-FFF2-40B4-BE49-F238E27FC236}">
                <a16:creationId xmlns:a16="http://schemas.microsoft.com/office/drawing/2014/main" id="{C4E762A8-ED8C-4BFA-9449-0A5ACD4472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789" y="2779888"/>
            <a:ext cx="1903589" cy="105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42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01907A-BF04-440F-BA0D-49BC96273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e 4">
            <a:hlinkClick r:id="" action="ppaction://media"/>
            <a:extLst>
              <a:ext uri="{FF2B5EF4-FFF2-40B4-BE49-F238E27FC236}">
                <a16:creationId xmlns:a16="http://schemas.microsoft.com/office/drawing/2014/main" id="{720D8D12-703F-422D-B151-2E205AAE462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381956" y="643467"/>
            <a:ext cx="7428088" cy="5571066"/>
          </a:xfrm>
          <a:prstGeom prst="rect">
            <a:avLst/>
          </a:prstGeo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A877B5F5-F192-4D27-A6CD-E22B927C87E4}"/>
              </a:ext>
            </a:extLst>
          </p:cNvPr>
          <p:cNvSpPr txBox="1"/>
          <p:nvPr/>
        </p:nvSpPr>
        <p:spPr>
          <a:xfrm>
            <a:off x="4724400" y="634012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  <a:hlinkClick r:id="rId4"/>
              </a:rPr>
              <a:t>Link</a:t>
            </a:r>
            <a:endParaRPr lang="en-US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48189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1090F71-3040-49FF-BB1F-99547881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Oppsummerende Wall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E8C8F7A-CB27-45D4-9048-D7A4A8E60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983" y="2359791"/>
            <a:ext cx="10564706" cy="4253208"/>
          </a:xfrm>
        </p:spPr>
        <p:txBody>
          <a:bodyPr/>
          <a:lstStyle/>
          <a:p>
            <a:r>
              <a:rPr lang="nb-NO" dirty="0" err="1"/>
              <a:t>IoT</a:t>
            </a:r>
            <a:r>
              <a:rPr lang="nb-NO" dirty="0"/>
              <a:t>, eller tingenes internett, er enheter man kan bruke til å kommunisere med andre enheter.</a:t>
            </a:r>
          </a:p>
          <a:p>
            <a:r>
              <a:rPr lang="nb-NO" dirty="0"/>
              <a:t>Eksempelvis kan dette være å bruke lokasjonen til telefonen til å styre for eksempel varme, belysning eller andre enheter.</a:t>
            </a:r>
          </a:p>
          <a:p>
            <a:r>
              <a:rPr lang="nb-NO" dirty="0"/>
              <a:t>Mange protokoller og konvensjoner – gode smarthussystemer oversetter til et felles språk, ikke Philips Hue lys, eller Ikea lys, eller </a:t>
            </a:r>
            <a:r>
              <a:rPr lang="nb-NO" dirty="0" err="1"/>
              <a:t>Lifx</a:t>
            </a:r>
            <a:r>
              <a:rPr lang="nb-NO" dirty="0"/>
              <a:t> lys, bare "lys".</a:t>
            </a:r>
          </a:p>
          <a:p>
            <a:r>
              <a:rPr lang="nb-NO" dirty="0"/>
              <a:t>S i </a:t>
            </a:r>
            <a:r>
              <a:rPr lang="nb-NO" dirty="0" err="1"/>
              <a:t>IoT</a:t>
            </a:r>
            <a:r>
              <a:rPr lang="nb-NO" dirty="0"/>
              <a:t> står for sikkerhet. Per dags dato er sikkerhet elendig integrert, men moderne rutere og brannmurer kan gjøre det bra.</a:t>
            </a:r>
          </a:p>
          <a:p>
            <a:r>
              <a:rPr lang="nb-NO" dirty="0"/>
              <a:t>Design smarthus for bestemødre - vi mennesker liker evnen til å styre tingene våre med knapper, selv om det kan gjøres via sensor i tillegg.</a:t>
            </a:r>
          </a:p>
          <a:p>
            <a:r>
              <a:rPr lang="nb-NO" dirty="0"/>
              <a:t>Ledende Smarthus-</a:t>
            </a:r>
            <a:r>
              <a:rPr lang="nb-NO" dirty="0" err="1"/>
              <a:t>hub</a:t>
            </a:r>
            <a:r>
              <a:rPr lang="nb-NO" dirty="0"/>
              <a:t>, </a:t>
            </a:r>
            <a:r>
              <a:rPr lang="nb-NO" dirty="0" err="1"/>
              <a:t>hvertfall</a:t>
            </a:r>
            <a:r>
              <a:rPr lang="nb-NO" dirty="0"/>
              <a:t> for folk som vil gjøre det selv: Home Assistant</a:t>
            </a:r>
          </a:p>
          <a:p>
            <a:r>
              <a:rPr lang="nb-NO" dirty="0"/>
              <a:t>Alle store aktører (Google, Apple, Samsung) har sin egen smarthus-</a:t>
            </a:r>
            <a:r>
              <a:rPr lang="nb-NO" dirty="0" err="1"/>
              <a:t>hub</a:t>
            </a:r>
            <a:r>
              <a:rPr lang="nb-NO" dirty="0"/>
              <a:t> variant.. Men... ja.</a:t>
            </a:r>
          </a:p>
        </p:txBody>
      </p:sp>
    </p:spTree>
    <p:extLst>
      <p:ext uri="{BB962C8B-B14F-4D97-AF65-F5344CB8AC3E}">
        <p14:creationId xmlns:p14="http://schemas.microsoft.com/office/powerpoint/2010/main" val="2560461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9CA4F3D36C0645B224052DC06A9045" ma:contentTypeVersion="9" ma:contentTypeDescription="Create a new document." ma:contentTypeScope="" ma:versionID="5e2bb4fbb234664a9e963123cd91dad4">
  <xsd:schema xmlns:xsd="http://www.w3.org/2001/XMLSchema" xmlns:xs="http://www.w3.org/2001/XMLSchema" xmlns:p="http://schemas.microsoft.com/office/2006/metadata/properties" xmlns:ns2="0675fdb4-be9a-45d8-b51e-c805e05896f3" targetNamespace="http://schemas.microsoft.com/office/2006/metadata/properties" ma:root="true" ma:fieldsID="0c00363df6fe5b7a10baeaf53b4e465b" ns2:_="">
    <xsd:import namespace="0675fdb4-be9a-45d8-b51e-c805e05896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5fdb4-be9a-45d8-b51e-c805e05896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75fdb4-be9a-45d8-b51e-c805e05896f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FB994C-7FB9-4A46-AB19-9EA185ECA308}"/>
</file>

<file path=customXml/itemProps2.xml><?xml version="1.0" encoding="utf-8"?>
<ds:datastoreItem xmlns:ds="http://schemas.openxmlformats.org/officeDocument/2006/customXml" ds:itemID="{3AAFC9F6-00A6-44B4-89D4-597176E628F7}">
  <ds:schemaRefs>
    <ds:schemaRef ds:uri="http://purl.org/dc/dcmitype/"/>
    <ds:schemaRef ds:uri="http://purl.org/dc/elements/1.1/"/>
    <ds:schemaRef ds:uri="09dadffe-16ff-4818-8959-bdb694918b60"/>
    <ds:schemaRef ds:uri="http://schemas.microsoft.com/office/2006/metadata/properties"/>
    <ds:schemaRef ds:uri="http://purl.org/dc/terms/"/>
    <ds:schemaRef ds:uri="http://www.w3.org/XML/1998/namespace"/>
    <ds:schemaRef ds:uri="http://schemas.microsoft.com/office/2006/documentManagement/types"/>
    <ds:schemaRef ds:uri="d0e8dc06-74ad-47d5-b071-fdb0cc7d52b3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84B5D34-710B-4D74-AE86-B05FC97A3C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2af9dbb-aed9-4c75-94d9-8c097730bf57}" enabled="1" method="Standard" siteId="{026cbe1f-01c4-4698-a566-2fc43ebec7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</Words>
  <Application>Microsoft Macintosh PowerPoint</Application>
  <PresentationFormat>Widescreen</PresentationFormat>
  <Paragraphs>119</Paragraphs>
  <Slides>30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Century Gothic</vt:lpstr>
      <vt:lpstr>Wingdings 2</vt:lpstr>
      <vt:lpstr>Quotable</vt:lpstr>
      <vt:lpstr>IoT, Tingenes Internett</vt:lpstr>
      <vt:lpstr>Vi skal snakke om forskjellen på "Smarthus"</vt:lpstr>
      <vt:lpstr>Radiosignaler kan og vil forstyrres</vt:lpstr>
      <vt:lpstr>Og Smarte smarthus</vt:lpstr>
      <vt:lpstr>PowerPoint Presentation</vt:lpstr>
      <vt:lpstr>Faren med smarthus</vt:lpstr>
      <vt:lpstr>IoT enheter – lys, sensorer, dører, bil, internett, tv og mye mye mer</vt:lpstr>
      <vt:lpstr>Eksempel på smarthus funksjon Bevegelsessensor + Lys</vt:lpstr>
      <vt:lpstr>Eksempel 2 Live strømpris + temperatur-enheter</vt:lpstr>
      <vt:lpstr>Kommer du på noen?</vt:lpstr>
      <vt:lpstr>Flere ideer</vt:lpstr>
      <vt:lpstr>2 Kategorier for kommunikasjon</vt:lpstr>
      <vt:lpstr>Hva er et Mesh/Node system?</vt:lpstr>
      <vt:lpstr>ZigBee</vt:lpstr>
      <vt:lpstr>Z-Wave</vt:lpstr>
      <vt:lpstr>PowerPoint Presentation</vt:lpstr>
      <vt:lpstr>LoRa</vt:lpstr>
      <vt:lpstr>MQTT</vt:lpstr>
      <vt:lpstr>Bluetooth – The Apple Way</vt:lpstr>
      <vt:lpstr>WiFi / Ethernet</vt:lpstr>
      <vt:lpstr>Lokal API</vt:lpstr>
      <vt:lpstr>Offentlig API via nett</vt:lpstr>
      <vt:lpstr>Ulemper med API via nett</vt:lpstr>
      <vt:lpstr>Mange protokoller, mange leverandører. Jo flere kokker jo mere søl.</vt:lpstr>
      <vt:lpstr>En Smarthus sentral, standardiserer</vt:lpstr>
      <vt:lpstr>S'en i IoT står for sikkerhet</vt:lpstr>
      <vt:lpstr>Men det finnes grep mot det også.</vt:lpstr>
      <vt:lpstr>Proxy – bruk alltid en mann i midten.</vt:lpstr>
      <vt:lpstr>PowerPoint Presentation</vt:lpstr>
      <vt:lpstr>Oppsummerende Wall of Text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/>
  <cp:lastModifiedBy>Sondre Grønås</cp:lastModifiedBy>
  <cp:revision>553</cp:revision>
  <dcterms:created xsi:type="dcterms:W3CDTF">2021-04-18T10:59:20Z</dcterms:created>
  <dcterms:modified xsi:type="dcterms:W3CDTF">2026-08-31T11:22:49Z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0x0101000C9CA4F3D36C0645B224052DC06A9045</vt:lpwstr>
  </property>
  <property fmtid="{D5CDD505-2E9C-101B-9397-08002B2CF9AE}" pid="3" name="MediaServiceImageTags">
    <vt:lpwstr/>
  </property>
</Properties>
</file>