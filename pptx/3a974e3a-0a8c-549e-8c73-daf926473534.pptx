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4"/>
  </p:sldMasterIdLst>
  <p:sldIdLst>
    <p:sldId id="256" r:id="rId5"/>
    <p:sldId id="265" r:id="rId6"/>
    <p:sldId id="257" r:id="rId7"/>
    <p:sldId id="28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74" r:id="rId17"/>
    <p:sldId id="275" r:id="rId18"/>
    <p:sldId id="269" r:id="rId19"/>
    <p:sldId id="276" r:id="rId20"/>
    <p:sldId id="277" r:id="rId21"/>
    <p:sldId id="279" r:id="rId22"/>
    <p:sldId id="278" r:id="rId23"/>
    <p:sldId id="280" r:id="rId24"/>
    <p:sldId id="281" r:id="rId25"/>
    <p:sldId id="287" r:id="rId26"/>
    <p:sldId id="282" r:id="rId27"/>
    <p:sldId id="283" r:id="rId28"/>
    <p:sldId id="284" r:id="rId29"/>
    <p:sldId id="28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998A40-7FB3-4B5A-E480-9140C8866FCB}" name="Sindre Vatland Hvidsten" initials="SH" userId="S::sindre.vatland.hvidsten@skole.rogfk.no::08424c74-57d2-45eb-89f9-84012116bb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D9EF"/>
    <a:srgbClr val="D80651"/>
    <a:srgbClr val="AE81FF"/>
    <a:srgbClr val="E6DB74"/>
    <a:srgbClr val="009AD0"/>
    <a:srgbClr val="00B0F0"/>
    <a:srgbClr val="EDE59B"/>
    <a:srgbClr val="B05800"/>
    <a:srgbClr val="D26900"/>
    <a:srgbClr val="139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BB5BE-7F49-4620-B9A7-4C36F1CD2F58}" v="644" dt="2023-11-08T10:58:20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5" autoAdjust="0"/>
    <p:restoredTop sz="94724" autoAdjust="0"/>
  </p:normalViewPr>
  <p:slideViewPr>
    <p:cSldViewPr snapToGrid="0">
      <p:cViewPr>
        <p:scale>
          <a:sx n="75" d="100"/>
          <a:sy n="75" d="100"/>
        </p:scale>
        <p:origin x="41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5273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341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8494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3543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2115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58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08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612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436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6219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709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A5AA147-8D1B-4CCC-BAEE-9F5F23ABEA70}" type="datetimeFigureOut">
              <a:rPr lang="nb-NO" smtClean="0"/>
              <a:t>07.11.2023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C3ABB38-CD63-48F6-837D-DA34C65576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8380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9DC79-A3C6-2550-AC33-DFD570C68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529" y="2373451"/>
            <a:ext cx="11280141" cy="23029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l"/>
            <a:r>
              <a:rPr lang="nb-NO" sz="8000" dirty="0">
                <a:solidFill>
                  <a:srgbClr val="009AD0"/>
                </a:solidFill>
              </a:rPr>
              <a:t>Funksjoner</a:t>
            </a:r>
            <a:r>
              <a:rPr lang="nb-NO" sz="8000" dirty="0"/>
              <a:t> og </a:t>
            </a:r>
            <a:r>
              <a:rPr lang="nb-NO" sz="8000" dirty="0">
                <a:solidFill>
                  <a:srgbClr val="D80651"/>
                </a:solidFill>
              </a:rPr>
              <a:t>sammenligninger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1F8E0-9EC6-79B6-74AC-34BEC3A10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>
            <a:normAutofit/>
          </a:bodyPr>
          <a:lstStyle/>
          <a:p>
            <a:pPr algn="r"/>
            <a:endParaRPr lang="nb-NO" sz="2800"/>
          </a:p>
        </p:txBody>
      </p:sp>
      <p:pic>
        <p:nvPicPr>
          <p:cNvPr id="4" name="Picture 2" descr="javascript-logo - Canadian Web Hosting Blog">
            <a:extLst>
              <a:ext uri="{FF2B5EF4-FFF2-40B4-BE49-F238E27FC236}">
                <a16:creationId xmlns:a16="http://schemas.microsoft.com/office/drawing/2014/main" id="{164491DC-404F-0F77-84D1-F0A3721B1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735" y="2373451"/>
            <a:ext cx="3755194" cy="21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0845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59A2C-2306-5CAE-44E9-6F17CB36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r>
              <a:rPr lang="nb-NO" sz="4800" dirty="0">
                <a:solidFill>
                  <a:schemeClr val="tx2"/>
                </a:solidFill>
              </a:rPr>
              <a:t>TRE temaer i dag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B3AE-D2E1-99A2-F6E6-6E5415B0F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nb-NO" sz="2800" b="1" i="1" dirty="0">
                <a:solidFill>
                  <a:srgbClr val="139DB9"/>
                </a:solidFill>
              </a:rPr>
              <a:t>Funksjoner</a:t>
            </a:r>
          </a:p>
          <a:p>
            <a:pPr lvl="1"/>
            <a:r>
              <a:rPr lang="nb-NO" sz="2800" dirty="0">
                <a:solidFill>
                  <a:schemeClr val="tx2"/>
                </a:solidFill>
              </a:rPr>
              <a:t>Mer brukbar kode, mer lesbar kode</a:t>
            </a:r>
          </a:p>
          <a:p>
            <a:r>
              <a:rPr lang="nb-NO" sz="2800" dirty="0" err="1">
                <a:solidFill>
                  <a:srgbClr val="D80651"/>
                </a:solidFill>
                <a:latin typeface="Consolas" panose="020B0609020204030204" pitchFamily="49" charset="0"/>
              </a:rPr>
              <a:t>if</a:t>
            </a:r>
            <a:r>
              <a:rPr lang="nb-NO" sz="2800" dirty="0">
                <a:solidFill>
                  <a:schemeClr val="tx2"/>
                </a:solidFill>
              </a:rPr>
              <a:t> og </a:t>
            </a:r>
            <a:r>
              <a:rPr lang="nb-NO" sz="2800" dirty="0" err="1">
                <a:solidFill>
                  <a:srgbClr val="D80651"/>
                </a:solidFill>
                <a:latin typeface="Consolas" panose="020B0609020204030204" pitchFamily="49" charset="0"/>
              </a:rPr>
              <a:t>else</a:t>
            </a:r>
            <a:endParaRPr lang="nb-NO" sz="2800" dirty="0">
              <a:solidFill>
                <a:srgbClr val="D80651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2800" dirty="0">
                <a:solidFill>
                  <a:schemeClr val="tx2"/>
                </a:solidFill>
              </a:rPr>
              <a:t>Få programmet til å sjekke ting for oss</a:t>
            </a:r>
          </a:p>
          <a:p>
            <a:r>
              <a:rPr lang="nb-NO" sz="2800" dirty="0">
                <a:solidFill>
                  <a:schemeClr val="tx2"/>
                </a:solidFill>
              </a:rPr>
              <a:t>Sammenligninger</a:t>
            </a:r>
          </a:p>
          <a:p>
            <a:pPr lvl="1"/>
            <a:r>
              <a:rPr lang="nb-NO" sz="2800" dirty="0">
                <a:solidFill>
                  <a:schemeClr val="tx2"/>
                </a:solidFill>
              </a:rPr>
              <a:t>Få programmet til å gjøre ting kun når visse ting skjer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97930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6088A-CCC9-4D27-3397-07F8C783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3"/>
            <a:ext cx="8821199" cy="34713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000" spc="150" dirty="0" err="1"/>
              <a:t>Litt</a:t>
            </a:r>
            <a:r>
              <a:rPr lang="en-US" sz="8000" spc="150" dirty="0"/>
              <a:t> </a:t>
            </a:r>
            <a:r>
              <a:rPr lang="en-US" sz="8000" spc="150" dirty="0" err="1"/>
              <a:t>repetisjon</a:t>
            </a:r>
            <a:r>
              <a:rPr lang="en-US" sz="8000" spc="150" dirty="0"/>
              <a:t>!</a:t>
            </a:r>
          </a:p>
        </p:txBody>
      </p:sp>
      <p:pic>
        <p:nvPicPr>
          <p:cNvPr id="1026" name="Picture 2" descr="javascript-logo - Canadian Web Hosting Blog">
            <a:extLst>
              <a:ext uri="{FF2B5EF4-FFF2-40B4-BE49-F238E27FC236}">
                <a16:creationId xmlns:a16="http://schemas.microsoft.com/office/drawing/2014/main" id="{3BE3B24C-8DA0-BBA0-78CD-B223DC59F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457" y="1857375"/>
            <a:ext cx="55911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46395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050B-1338-4A97-0496-76D418C8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032" y="284176"/>
            <a:ext cx="9784080" cy="1508760"/>
          </a:xfrm>
        </p:spPr>
        <p:txBody>
          <a:bodyPr/>
          <a:lstStyle/>
          <a:p>
            <a:r>
              <a:rPr lang="nb-NO" dirty="0"/>
              <a:t>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7FE6-59E8-4B6A-B282-0301D6F84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4000" dirty="0"/>
              <a:t>Brukes til å gi funksjonalitet til nettsider!</a:t>
            </a:r>
          </a:p>
          <a:p>
            <a:r>
              <a:rPr lang="nb-NO" sz="4000" dirty="0"/>
              <a:t>Bruker </a:t>
            </a:r>
            <a:r>
              <a:rPr lang="nb-NO" sz="4000" dirty="0">
                <a:latin typeface="Consolas" panose="020B0609020204030204" pitchFamily="49" charset="0"/>
              </a:rPr>
              <a:t>&lt;</a:t>
            </a:r>
            <a:r>
              <a:rPr lang="nb-NO" sz="4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4000" dirty="0">
                <a:latin typeface="Consolas" panose="020B0609020204030204" pitchFamily="49" charset="0"/>
              </a:rPr>
              <a:t>&gt;</a:t>
            </a:r>
            <a:r>
              <a:rPr lang="nb-NO" sz="4000" dirty="0"/>
              <a:t> taggen i HTML.</a:t>
            </a:r>
          </a:p>
          <a:p>
            <a:r>
              <a:rPr lang="nb-NO" sz="4000" dirty="0"/>
              <a:t>Alle moderne nettsider</a:t>
            </a:r>
            <a:br>
              <a:rPr lang="nb-NO" sz="4000" dirty="0"/>
            </a:br>
            <a:r>
              <a:rPr lang="nb-NO" sz="4000" dirty="0"/>
              <a:t>bruker </a:t>
            </a:r>
            <a:r>
              <a:rPr lang="nb-NO" sz="4000" dirty="0">
                <a:solidFill>
                  <a:srgbClr val="FFC000"/>
                </a:solidFill>
              </a:rPr>
              <a:t>JavaScript</a:t>
            </a:r>
            <a:r>
              <a:rPr lang="nb-NO" sz="4000" dirty="0"/>
              <a:t> til noe</a:t>
            </a:r>
          </a:p>
        </p:txBody>
      </p:sp>
      <p:pic>
        <p:nvPicPr>
          <p:cNvPr id="4" name="Picture 2" descr="javascript-logo - Canadian Web Hosting Blog">
            <a:extLst>
              <a:ext uri="{FF2B5EF4-FFF2-40B4-BE49-F238E27FC236}">
                <a16:creationId xmlns:a16="http://schemas.microsoft.com/office/drawing/2014/main" id="{30DF52FD-4F1E-872A-9152-BB7E8418D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900" y="468552"/>
            <a:ext cx="2027832" cy="114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Javascript javascript everywhere - Buzz and Woody (Toy Story) Meme ...">
            <a:extLst>
              <a:ext uri="{FF2B5EF4-FFF2-40B4-BE49-F238E27FC236}">
                <a16:creationId xmlns:a16="http://schemas.microsoft.com/office/drawing/2014/main" id="{F97C0785-03F0-6CC9-B494-EB9B45603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3776381"/>
            <a:ext cx="5003800" cy="272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9035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CE1D-F16B-2F40-3698-EA6496FE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Konsollvinduet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E71ED-BFDE-AB89-D6BB-A83602A8A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319" y="1830693"/>
            <a:ext cx="7107961" cy="4829810"/>
          </a:xfrm>
        </p:spPr>
        <p:txBody>
          <a:bodyPr>
            <a:normAutofit/>
          </a:bodyPr>
          <a:lstStyle/>
          <a:p>
            <a:r>
              <a:rPr lang="nb-NO" sz="3200" dirty="0"/>
              <a:t>I nettleseren, åpne det med</a:t>
            </a:r>
          </a:p>
          <a:p>
            <a:pPr lvl="2"/>
            <a:r>
              <a:rPr lang="nb-NO" sz="3000" b="1" dirty="0"/>
              <a:t>CTRL+SHIFT+I </a:t>
            </a:r>
            <a:r>
              <a:rPr lang="nb-NO" sz="3000" dirty="0"/>
              <a:t>(</a:t>
            </a:r>
            <a:r>
              <a:rPr lang="nb-NO" sz="3000" dirty="0" err="1"/>
              <a:t>windows</a:t>
            </a:r>
            <a:r>
              <a:rPr lang="nb-NO" sz="3000" dirty="0"/>
              <a:t>)</a:t>
            </a:r>
          </a:p>
          <a:p>
            <a:pPr lvl="2"/>
            <a:r>
              <a:rPr lang="nb-NO" sz="3000" b="1" dirty="0"/>
              <a:t>COMMAND+OPTION+I</a:t>
            </a:r>
            <a:r>
              <a:rPr lang="nb-NO" sz="3000" dirty="0"/>
              <a:t> (</a:t>
            </a:r>
            <a:r>
              <a:rPr lang="nb-NO" sz="3000" dirty="0" err="1"/>
              <a:t>mac</a:t>
            </a:r>
            <a:r>
              <a:rPr lang="nb-NO" sz="3000" dirty="0"/>
              <a:t>)</a:t>
            </a:r>
          </a:p>
          <a:p>
            <a:pPr lvl="1"/>
            <a:endParaRPr lang="nb-NO" sz="3200" dirty="0"/>
          </a:p>
          <a:p>
            <a:r>
              <a:rPr lang="nb-NO" sz="3200" dirty="0"/>
              <a:t>Her kan vi se hva vi skriver ut ifra </a:t>
            </a:r>
            <a:r>
              <a:rPr lang="nb-NO" sz="3200" b="1" dirty="0">
                <a:solidFill>
                  <a:srgbClr val="FFC000"/>
                </a:solidFill>
              </a:rPr>
              <a:t>JavaScript</a:t>
            </a:r>
            <a:r>
              <a:rPr lang="nb-NO" sz="3200" dirty="0"/>
              <a:t>!</a:t>
            </a:r>
          </a:p>
          <a:p>
            <a:endParaRPr lang="nb-NO" sz="3200" dirty="0"/>
          </a:p>
          <a:p>
            <a:r>
              <a:rPr lang="nb-NO" sz="3200" dirty="0"/>
              <a:t>Vi kan skrive til konsollvinduet slik:</a:t>
            </a:r>
          </a:p>
          <a:p>
            <a:pPr lvl="2"/>
            <a:r>
              <a:rPr lang="en-US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n-US" sz="3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lang="nb-NO" sz="3000" dirty="0"/>
          </a:p>
        </p:txBody>
      </p:sp>
      <p:pic>
        <p:nvPicPr>
          <p:cNvPr id="3074" name="Picture 2" descr="New Windows Logo Vector by TheMonoTM on DeviantArt">
            <a:extLst>
              <a:ext uri="{FF2B5EF4-FFF2-40B4-BE49-F238E27FC236}">
                <a16:creationId xmlns:a16="http://schemas.microsoft.com/office/drawing/2014/main" id="{9765446F-F72C-130A-32C5-AE4931E1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616" y="2496607"/>
            <a:ext cx="314343" cy="34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pple Logo - apple png download - 2418*2802 - Free Transparent Apple ...">
            <a:extLst>
              <a:ext uri="{FF2B5EF4-FFF2-40B4-BE49-F238E27FC236}">
                <a16:creationId xmlns:a16="http://schemas.microsoft.com/office/drawing/2014/main" id="{2E257170-D466-1F36-BB7F-4A193B3D4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885" y="2914712"/>
            <a:ext cx="373944" cy="43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39487-2E5E-BDCE-FD14-F3692815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480" y="1830693"/>
            <a:ext cx="4033520" cy="50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225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1F06-69F3-6FE5-3B1F-157A0B581A1D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b-NO" dirty="0"/>
              <a:t>Redigere </a:t>
            </a:r>
            <a:r>
              <a:rPr lang="nb-NO" b="1" dirty="0">
                <a:solidFill>
                  <a:srgbClr val="D26900"/>
                </a:solidFill>
              </a:rPr>
              <a:t>HTML</a:t>
            </a:r>
            <a:r>
              <a:rPr lang="nb-NO" dirty="0"/>
              <a:t> elementer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8B243-C7C0-7FEE-36C4-796E6715E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9" y="2113280"/>
            <a:ext cx="11049000" cy="446054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nb-NO" sz="3200" dirty="0"/>
              <a:t>Vi husker at vi kunne redigere elementer i </a:t>
            </a:r>
            <a:r>
              <a:rPr lang="nb-NO" sz="3200" b="1" dirty="0">
                <a:solidFill>
                  <a:srgbClr val="FF9933"/>
                </a:solidFill>
              </a:rPr>
              <a:t>HTML</a:t>
            </a:r>
            <a:r>
              <a:rPr lang="nb-NO" sz="3200" dirty="0"/>
              <a:t>.</a:t>
            </a:r>
          </a:p>
          <a:p>
            <a:pPr lvl="1"/>
            <a:r>
              <a:rPr lang="en-US" sz="24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en-US" sz="24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"box"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24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"CONTENT CHANGED!"</a:t>
            </a:r>
            <a:r>
              <a:rPr lang="en-US" sz="2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nb-NO" sz="3200" dirty="0"/>
          </a:p>
          <a:p>
            <a:r>
              <a:rPr lang="nb-NO" sz="3200" dirty="0"/>
              <a:t>Dette lar oss gjøre mer interaktive ting.</a:t>
            </a:r>
          </a:p>
          <a:p>
            <a:pPr lvl="1"/>
            <a:r>
              <a:rPr lang="nb-NO" sz="2400" dirty="0"/>
              <a:t>For eksempel kan vi få knapper til å redigere innholdet i en nettside.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9605B-237A-6115-A6EE-C65006874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360" y="5069534"/>
            <a:ext cx="4052863" cy="1295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5F2234-31C4-C206-3DF0-32E0FEFFF450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5435599" y="5717269"/>
            <a:ext cx="1889761" cy="14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73987F2-D522-7400-A106-3B80E127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77" y="5072518"/>
            <a:ext cx="4621822" cy="12924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15003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D464-7800-F223-7632-F61D7A5C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Variabler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AD6E-2F7B-3414-820D-5D324D9AB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3708" y="2153322"/>
            <a:ext cx="5642500" cy="2275840"/>
          </a:xfrm>
        </p:spPr>
        <p:txBody>
          <a:bodyPr>
            <a:normAutofit/>
          </a:bodyPr>
          <a:lstStyle/>
          <a:p>
            <a:r>
              <a:rPr lang="nb-NO" sz="2800" dirty="0"/>
              <a:t>Vi husker at vi hadde variabler</a:t>
            </a:r>
          </a:p>
          <a:p>
            <a:r>
              <a:rPr lang="nb-NO" sz="2800" dirty="0"/>
              <a:t>Kan lagre mange forskjellige verdier</a:t>
            </a:r>
          </a:p>
          <a:p>
            <a:r>
              <a:rPr lang="nb-NO" sz="2800" dirty="0"/>
              <a:t>Verdiene i dem kan </a:t>
            </a:r>
            <a:r>
              <a:rPr lang="nb-NO" sz="2800" i="1" dirty="0"/>
              <a:t>variere</a:t>
            </a:r>
          </a:p>
          <a:p>
            <a:r>
              <a:rPr lang="nb-NO" sz="2800" dirty="0"/>
              <a:t>Husk </a:t>
            </a:r>
            <a:r>
              <a:rPr lang="nb-NO" sz="2800" u="sng" dirty="0"/>
              <a:t>nøkkelord</a:t>
            </a:r>
            <a:r>
              <a:rPr lang="nb-NO" sz="2800" dirty="0"/>
              <a:t>: </a:t>
            </a:r>
            <a:r>
              <a:rPr lang="en-US" sz="28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</a:p>
          <a:p>
            <a:endParaRPr lang="nb-NO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E915B-34B1-0786-583F-58825E783E8E}"/>
              </a:ext>
            </a:extLst>
          </p:cNvPr>
          <p:cNvSpPr txBox="1"/>
          <p:nvPr/>
        </p:nvSpPr>
        <p:spPr>
          <a:xfrm>
            <a:off x="4129516" y="4429162"/>
            <a:ext cx="3930884" cy="1962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28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8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28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n-US" sz="28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(a </a:t>
            </a:r>
            <a:r>
              <a:rPr lang="en-US" sz="28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b);</a:t>
            </a:r>
          </a:p>
        </p:txBody>
      </p:sp>
    </p:spTree>
    <p:extLst>
      <p:ext uri="{BB962C8B-B14F-4D97-AF65-F5344CB8AC3E}">
        <p14:creationId xmlns:p14="http://schemas.microsoft.com/office/powerpoint/2010/main" val="114418628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BF320-2DF3-D2ED-5A1A-0A4BEFA06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000" b="1" i="1" spc="150" dirty="0" err="1"/>
              <a:t>Nå</a:t>
            </a:r>
            <a:r>
              <a:rPr lang="en-US" sz="8000" spc="150" dirty="0"/>
              <a:t>: </a:t>
            </a:r>
            <a:r>
              <a:rPr lang="en-US" sz="8000" spc="150" dirty="0" err="1"/>
              <a:t>noe</a:t>
            </a:r>
            <a:r>
              <a:rPr lang="en-US" sz="8000" spc="150" dirty="0"/>
              <a:t> </a:t>
            </a:r>
            <a:r>
              <a:rPr lang="en-US" sz="8000" spc="150" dirty="0" err="1"/>
              <a:t>nytt</a:t>
            </a:r>
            <a:r>
              <a:rPr lang="en-US" sz="8000" spc="150" dirty="0"/>
              <a:t>! </a:t>
            </a:r>
            <a:r>
              <a:rPr lang="en-US" sz="8000" spc="150" dirty="0" err="1"/>
              <a:t>Funksjoner</a:t>
            </a:r>
            <a:endParaRPr lang="en-US" sz="8000" spc="150" dirty="0"/>
          </a:p>
        </p:txBody>
      </p:sp>
    </p:spTree>
    <p:extLst>
      <p:ext uri="{BB962C8B-B14F-4D97-AF65-F5344CB8AC3E}">
        <p14:creationId xmlns:p14="http://schemas.microsoft.com/office/powerpoint/2010/main" val="28565327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050B7B-250F-C54A-88E1-A90AC990DFB1}"/>
              </a:ext>
            </a:extLst>
          </p:cNvPr>
          <p:cNvSpPr/>
          <p:nvPr/>
        </p:nvSpPr>
        <p:spPr>
          <a:xfrm>
            <a:off x="2353395" y="5054164"/>
            <a:ext cx="5059680" cy="58928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033D6B-8611-2DAC-ADDE-E9F13409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Hva er en funksjon?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8E71-6FB7-802A-358D-C71D25C7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dirty="0"/>
              <a:t>En funksjon er en blokk med kode som er ment til å utføre en bestemt oppgave.</a:t>
            </a:r>
          </a:p>
          <a:p>
            <a:pPr marL="0" indent="0">
              <a:buNone/>
            </a:pPr>
            <a:endParaRPr lang="nb-NO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6A023-5627-188B-5EAB-870C5C8BB4D6}"/>
              </a:ext>
            </a:extLst>
          </p:cNvPr>
          <p:cNvSpPr txBox="1"/>
          <p:nvPr/>
        </p:nvSpPr>
        <p:spPr>
          <a:xfrm>
            <a:off x="1347555" y="4238099"/>
            <a:ext cx="8148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3200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b-NO" sz="3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32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funksjonsNavn</a:t>
            </a:r>
            <a:r>
              <a:rPr lang="nb-NO" sz="3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3200" i="1" dirty="0" err="1">
                <a:solidFill>
                  <a:srgbClr val="FD971F"/>
                </a:solidFill>
                <a:latin typeface="Consolas" panose="020B0609020204030204" pitchFamily="49" charset="0"/>
              </a:rPr>
              <a:t>parametre</a:t>
            </a:r>
            <a:r>
              <a:rPr lang="nb-NO" sz="3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3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32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 JavaScript kode her</a:t>
            </a:r>
          </a:p>
          <a:p>
            <a:r>
              <a:rPr lang="nb-NO" sz="3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58069-66FF-8CB0-5DCC-5FD715DE426A}"/>
              </a:ext>
            </a:extLst>
          </p:cNvPr>
          <p:cNvSpPr/>
          <p:nvPr/>
        </p:nvSpPr>
        <p:spPr>
          <a:xfrm>
            <a:off x="1347555" y="4450080"/>
            <a:ext cx="2011680" cy="589280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5985FA-5DCE-B2E6-5E6D-A0E540A03228}"/>
              </a:ext>
            </a:extLst>
          </p:cNvPr>
          <p:cNvSpPr/>
          <p:nvPr/>
        </p:nvSpPr>
        <p:spPr>
          <a:xfrm>
            <a:off x="3430355" y="4450080"/>
            <a:ext cx="2966720" cy="589280"/>
          </a:xfrm>
          <a:prstGeom prst="rect">
            <a:avLst/>
          </a:prstGeom>
          <a:solidFill>
            <a:srgbClr val="92D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B4206-3B66-918F-2AE0-6C6CFBF0769B}"/>
              </a:ext>
            </a:extLst>
          </p:cNvPr>
          <p:cNvSpPr/>
          <p:nvPr/>
        </p:nvSpPr>
        <p:spPr>
          <a:xfrm>
            <a:off x="6545436" y="4450080"/>
            <a:ext cx="2086839" cy="589280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0DACF-CF90-9F26-3DEC-29F1CFB9FFCE}"/>
              </a:ext>
            </a:extLst>
          </p:cNvPr>
          <p:cNvSpPr txBox="1"/>
          <p:nvPr/>
        </p:nvSpPr>
        <p:spPr>
          <a:xfrm>
            <a:off x="1202919" y="3488050"/>
            <a:ext cx="230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Nøkkelord: </a:t>
            </a:r>
            <a:r>
              <a:rPr lang="nb-NO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function</a:t>
            </a:r>
            <a:endParaRPr lang="nb-NO" i="1" dirty="0">
              <a:solidFill>
                <a:srgbClr val="66D9E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29478-942F-2FA1-C88D-678045AC2D17}"/>
              </a:ext>
            </a:extLst>
          </p:cNvPr>
          <p:cNvSpPr txBox="1"/>
          <p:nvPr/>
        </p:nvSpPr>
        <p:spPr>
          <a:xfrm>
            <a:off x="3721561" y="3349550"/>
            <a:ext cx="2384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Navn for funksjonen</a:t>
            </a:r>
          </a:p>
          <a:p>
            <a:pPr algn="ctr"/>
            <a:r>
              <a:rPr lang="nb-NO" dirty="0"/>
              <a:t>(Bør være beskrivende)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1C08E-5469-AE16-4FA6-568DE96B34A1}"/>
              </a:ext>
            </a:extLst>
          </p:cNvPr>
          <p:cNvSpPr txBox="1"/>
          <p:nvPr/>
        </p:nvSpPr>
        <p:spPr>
          <a:xfrm>
            <a:off x="6522697" y="3364222"/>
            <a:ext cx="2132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Funksjon-</a:t>
            </a:r>
            <a:r>
              <a:rPr lang="nb-NO" dirty="0" err="1"/>
              <a:t>parametre</a:t>
            </a:r>
            <a:endParaRPr lang="nb-NO" dirty="0"/>
          </a:p>
          <a:p>
            <a:pPr algn="ctr"/>
            <a:r>
              <a:rPr lang="nb-NO" dirty="0"/>
              <a:t>(vi kan ha flere)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EB893-BE57-BB20-C541-47A94442442A}"/>
              </a:ext>
            </a:extLst>
          </p:cNvPr>
          <p:cNvSpPr txBox="1"/>
          <p:nvPr/>
        </p:nvSpPr>
        <p:spPr>
          <a:xfrm>
            <a:off x="9544021" y="5024120"/>
            <a:ext cx="1587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dirty="0"/>
              <a:t>Her skal koden</a:t>
            </a:r>
            <a:br>
              <a:rPr lang="nb-NO" dirty="0"/>
            </a:br>
            <a:r>
              <a:rPr lang="nb-NO" dirty="0"/>
              <a:t>til en </a:t>
            </a:r>
            <a:r>
              <a:rPr lang="nb-NO" dirty="0" err="1"/>
              <a:t>funskjon</a:t>
            </a:r>
            <a:endParaRPr lang="nb-NO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B9AF7C-7140-3138-4727-BF7187D36407}"/>
              </a:ext>
            </a:extLst>
          </p:cNvPr>
          <p:cNvCxnSpPr>
            <a:stCxn id="10" idx="2"/>
          </p:cNvCxnSpPr>
          <p:nvPr/>
        </p:nvCxnSpPr>
        <p:spPr>
          <a:xfrm flipH="1">
            <a:off x="2353394" y="3857382"/>
            <a:ext cx="1" cy="5926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AB945B-4603-8CDE-17A1-BC199F3258C5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>
            <a:off x="4913715" y="3995881"/>
            <a:ext cx="0" cy="4541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BECFC7-4656-078D-9558-595788C095DB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7588855" y="4010553"/>
            <a:ext cx="1" cy="4395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8130E5-A5F0-2BD0-7179-059A6AB46572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413075" y="5347286"/>
            <a:ext cx="21309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57493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build="p"/>
      <p:bldP spid="5" grpId="0"/>
      <p:bldP spid="6" grpId="0" animBg="1"/>
      <p:bldP spid="7" grpId="0" animBg="1"/>
      <p:bldP spid="8" grpId="0" animBg="1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3D6B-8611-2DAC-ADDE-E9F13409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Hvorfor bruke funksjoner?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8E71-6FB7-802A-358D-C71D25C7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dirty="0"/>
              <a:t>Mindre repetisjon av kode.</a:t>
            </a:r>
          </a:p>
          <a:p>
            <a:r>
              <a:rPr lang="nb-NO" sz="3200" dirty="0"/>
              <a:t>Lettere å gjøre ting generelt.</a:t>
            </a:r>
          </a:p>
          <a:p>
            <a:r>
              <a:rPr lang="nb-NO" sz="3200" dirty="0"/>
              <a:t>Tro det eller ei, vi har allerede brukt funksjoner!</a:t>
            </a:r>
          </a:p>
          <a:p>
            <a:pPr lvl="1"/>
            <a:r>
              <a:rPr lang="nb-NO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nb-NO" sz="3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b-NO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3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0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3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 World!"</a:t>
            </a:r>
            <a:r>
              <a:rPr lang="nb-NO" sz="3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nb-NO" sz="3200" b="0" dirty="0">
                <a:solidFill>
                  <a:srgbClr val="F8F8F2"/>
                </a:solidFill>
                <a:effectLst/>
              </a:rPr>
              <a:t>Log er en </a:t>
            </a:r>
            <a:r>
              <a:rPr lang="nb-NO" sz="3200" b="0" dirty="0" err="1">
                <a:solidFill>
                  <a:srgbClr val="F8F8F2"/>
                </a:solidFill>
                <a:effectLst/>
              </a:rPr>
              <a:t>funskjon</a:t>
            </a:r>
            <a:r>
              <a:rPr lang="nb-NO" sz="3200" b="0" dirty="0">
                <a:solidFill>
                  <a:srgbClr val="F8F8F2"/>
                </a:solidFill>
                <a:effectLst/>
              </a:rPr>
              <a:t> for "</a:t>
            </a:r>
            <a:r>
              <a:rPr lang="nb-NO" sz="32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b-NO" sz="3200" b="0" dirty="0">
                <a:solidFill>
                  <a:srgbClr val="F8F8F2"/>
                </a:solidFill>
                <a:effectLst/>
              </a:rPr>
              <a:t>"</a:t>
            </a:r>
          </a:p>
          <a:p>
            <a:endParaRPr lang="nb-NO" sz="3200" b="0" dirty="0">
              <a:solidFill>
                <a:srgbClr val="F8F8F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12601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4ABA-93C6-5116-25AA-6EA7EEB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000" spc="150"/>
              <a:t>La oss lage en enkel funksjon!</a:t>
            </a:r>
          </a:p>
        </p:txBody>
      </p:sp>
      <p:pic>
        <p:nvPicPr>
          <p:cNvPr id="1026" name="Picture 2" descr="Visual Studio Code logo png download">
            <a:extLst>
              <a:ext uri="{FF2B5EF4-FFF2-40B4-BE49-F238E27FC236}">
                <a16:creationId xmlns:a16="http://schemas.microsoft.com/office/drawing/2014/main" id="{2FE75C61-849E-B3C1-8BE5-DEE390EC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17" y="2310997"/>
            <a:ext cx="2215243" cy="221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2EFDD-624E-4D39-187A-82AB9298DAB6}"/>
              </a:ext>
            </a:extLst>
          </p:cNvPr>
          <p:cNvSpPr txBox="1"/>
          <p:nvPr/>
        </p:nvSpPr>
        <p:spPr>
          <a:xfrm>
            <a:off x="365759" y="343834"/>
            <a:ext cx="28232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>
                <a:solidFill>
                  <a:srgbClr val="00B0F0"/>
                </a:solidFill>
              </a:rPr>
              <a:t>Eksempel 1</a:t>
            </a:r>
          </a:p>
        </p:txBody>
      </p:sp>
    </p:spTree>
    <p:extLst>
      <p:ext uri="{BB962C8B-B14F-4D97-AF65-F5344CB8AC3E}">
        <p14:creationId xmlns:p14="http://schemas.microsoft.com/office/powerpoint/2010/main" val="145839846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63D9-C57A-04EF-E967-425B9B6F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Dette lagde vi: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2057A-C71A-6D79-2647-DCD4371DDCA6}"/>
              </a:ext>
            </a:extLst>
          </p:cNvPr>
          <p:cNvSpPr txBox="1"/>
          <p:nvPr/>
        </p:nvSpPr>
        <p:spPr>
          <a:xfrm>
            <a:off x="0" y="1955508"/>
            <a:ext cx="6955750" cy="4618316"/>
          </a:xfrm>
          <a:prstGeom prst="rect">
            <a:avLst/>
          </a:prstGeom>
          <a:noFill/>
          <a:ln w="38100">
            <a:solidFill>
              <a:srgbClr val="D26900"/>
            </a:solidFill>
            <a:prstDash val="sysDot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&gt;Funksjon eksempel&lt;/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0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322B0-3B3A-53D0-8987-B519C4F838A6}"/>
              </a:ext>
            </a:extLst>
          </p:cNvPr>
          <p:cNvSpPr txBox="1"/>
          <p:nvPr/>
        </p:nvSpPr>
        <p:spPr>
          <a:xfrm>
            <a:off x="7004322" y="3397896"/>
            <a:ext cx="5187678" cy="1494640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1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"Min </a:t>
            </a:r>
            <a:r>
              <a:rPr lang="en-US" sz="21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først</a:t>
            </a:r>
            <a:r>
              <a:rPr lang="en-US" sz="2100" dirty="0" err="1">
                <a:solidFill>
                  <a:srgbClr val="E6DB74"/>
                </a:solidFill>
                <a:latin typeface="Consolas" panose="020B0609020204030204" pitchFamily="49" charset="0"/>
              </a:rPr>
              <a:t>e</a:t>
            </a:r>
            <a:r>
              <a:rPr lang="en-US" sz="2100" dirty="0">
                <a:solidFill>
                  <a:srgbClr val="E6DB74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E6DB74"/>
                </a:solidFill>
                <a:latin typeface="Consolas" panose="020B0609020204030204" pitchFamily="49" charset="0"/>
              </a:rPr>
              <a:t>funksjon</a:t>
            </a:r>
            <a:r>
              <a:rPr lang="en-US" sz="2100" dirty="0">
                <a:solidFill>
                  <a:srgbClr val="E6DB74"/>
                </a:solidFill>
                <a:latin typeface="Consolas" panose="020B0609020204030204" pitchFamily="49" charset="0"/>
              </a:rPr>
              <a:t>!</a:t>
            </a:r>
            <a:r>
              <a:rPr lang="en-US" sz="21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1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2" descr="javascript-logo - Canadian Web Hosting Blog">
            <a:extLst>
              <a:ext uri="{FF2B5EF4-FFF2-40B4-BE49-F238E27FC236}">
                <a16:creationId xmlns:a16="http://schemas.microsoft.com/office/drawing/2014/main" id="{A0E5BBA4-BD02-5661-7E82-DA4C65AAE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019" y="2225323"/>
            <a:ext cx="1848283" cy="103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ML5 - Logos Download">
            <a:extLst>
              <a:ext uri="{FF2B5EF4-FFF2-40B4-BE49-F238E27FC236}">
                <a16:creationId xmlns:a16="http://schemas.microsoft.com/office/drawing/2014/main" id="{C255C268-9237-4809-7EC0-C562CEB8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042" y="2111023"/>
            <a:ext cx="933801" cy="93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83551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4ABA-93C6-5116-25AA-6EA7EEB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6600" spc="150" dirty="0"/>
              <a:t>La </a:t>
            </a:r>
            <a:r>
              <a:rPr lang="en-US" sz="6600" spc="150" dirty="0" err="1"/>
              <a:t>oss</a:t>
            </a:r>
            <a:r>
              <a:rPr lang="en-US" sz="6600" spc="150" dirty="0"/>
              <a:t> </a:t>
            </a:r>
            <a:r>
              <a:rPr lang="en-US" sz="6600" spc="150" dirty="0" err="1"/>
              <a:t>lage</a:t>
            </a:r>
            <a:r>
              <a:rPr lang="en-US" sz="6600" spc="150" dirty="0"/>
              <a:t> </a:t>
            </a:r>
            <a:r>
              <a:rPr lang="en-US" sz="6600" spc="150" dirty="0" err="1"/>
              <a:t>en</a:t>
            </a:r>
            <a:r>
              <a:rPr lang="en-US" sz="6600" spc="150" dirty="0"/>
              <a:t> </a:t>
            </a:r>
            <a:r>
              <a:rPr lang="en-US" sz="6600" spc="150" dirty="0" err="1"/>
              <a:t>funksjon</a:t>
            </a:r>
            <a:r>
              <a:rPr lang="en-US" sz="6600" spc="150" dirty="0"/>
              <a:t> SOM SIER HEI TIL NAVNET DITT!</a:t>
            </a:r>
          </a:p>
        </p:txBody>
      </p:sp>
      <p:pic>
        <p:nvPicPr>
          <p:cNvPr id="1026" name="Picture 2" descr="Visual Studio Code logo png download">
            <a:extLst>
              <a:ext uri="{FF2B5EF4-FFF2-40B4-BE49-F238E27FC236}">
                <a16:creationId xmlns:a16="http://schemas.microsoft.com/office/drawing/2014/main" id="{2FE75C61-849E-B3C1-8BE5-DEE390EC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17" y="2310997"/>
            <a:ext cx="2215243" cy="221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BB0A5-6474-1A81-BD76-B82C63F0DFBA}"/>
              </a:ext>
            </a:extLst>
          </p:cNvPr>
          <p:cNvSpPr txBox="1"/>
          <p:nvPr/>
        </p:nvSpPr>
        <p:spPr>
          <a:xfrm>
            <a:off x="365759" y="343834"/>
            <a:ext cx="2858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>
                <a:solidFill>
                  <a:srgbClr val="00B0F0"/>
                </a:solidFill>
              </a:rPr>
              <a:t>Eksempel 2</a:t>
            </a:r>
          </a:p>
        </p:txBody>
      </p:sp>
    </p:spTree>
    <p:extLst>
      <p:ext uri="{BB962C8B-B14F-4D97-AF65-F5344CB8AC3E}">
        <p14:creationId xmlns:p14="http://schemas.microsoft.com/office/powerpoint/2010/main" val="150237924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63D9-C57A-04EF-E967-425B9B6F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Dette lagde vi: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2057A-C71A-6D79-2647-DCD4371DDCA6}"/>
              </a:ext>
            </a:extLst>
          </p:cNvPr>
          <p:cNvSpPr txBox="1"/>
          <p:nvPr/>
        </p:nvSpPr>
        <p:spPr>
          <a:xfrm>
            <a:off x="90310" y="1933463"/>
            <a:ext cx="8838573" cy="2069221"/>
          </a:xfrm>
          <a:prstGeom prst="rect">
            <a:avLst/>
          </a:prstGeom>
          <a:noFill/>
          <a:ln w="38100">
            <a:solidFill>
              <a:srgbClr val="D269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200" dirty="0">
                <a:solidFill>
                  <a:srgbClr val="F8F8F2"/>
                </a:solidFill>
                <a:latin typeface="Consolas" panose="020B0609020204030204" pitchFamily="49" charset="0"/>
              </a:rPr>
              <a:t>    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22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&gt;Halla kompis!&lt;/</a:t>
            </a:r>
            <a:r>
              <a:rPr lang="nb-NO" sz="22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322B0-3B3A-53D0-8987-B519C4F838A6}"/>
              </a:ext>
            </a:extLst>
          </p:cNvPr>
          <p:cNvSpPr txBox="1"/>
          <p:nvPr/>
        </p:nvSpPr>
        <p:spPr>
          <a:xfrm>
            <a:off x="90310" y="4143211"/>
            <a:ext cx="8838573" cy="2577052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200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2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sz="22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sz="22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200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"Hallo, 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2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nb-NO" sz="22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2" descr="javascript-logo - Canadian Web Hosting Blog">
            <a:extLst>
              <a:ext uri="{FF2B5EF4-FFF2-40B4-BE49-F238E27FC236}">
                <a16:creationId xmlns:a16="http://schemas.microsoft.com/office/drawing/2014/main" id="{A0E5BBA4-BD02-5661-7E82-DA4C65AAE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589" y="4757822"/>
            <a:ext cx="2397503" cy="134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ML5 - Logos Download">
            <a:extLst>
              <a:ext uri="{FF2B5EF4-FFF2-40B4-BE49-F238E27FC236}">
                <a16:creationId xmlns:a16="http://schemas.microsoft.com/office/drawing/2014/main" id="{C255C268-9237-4809-7EC0-C562CEB8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426" y="2322159"/>
            <a:ext cx="1291828" cy="129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71932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58A5-41A6-1724-D67D-2FAB04A6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NÅ, Nye nøkkelord: </a:t>
            </a:r>
            <a:r>
              <a:rPr lang="nb-NO" cap="none" dirty="0" err="1">
                <a:solidFill>
                  <a:srgbClr val="F92672"/>
                </a:solidFill>
                <a:latin typeface="Consolas" panose="020B0609020204030204" pitchFamily="49" charset="0"/>
              </a:rPr>
              <a:t>if</a:t>
            </a:r>
            <a:r>
              <a:rPr lang="nb-NO" dirty="0"/>
              <a:t>  og  </a:t>
            </a:r>
            <a:r>
              <a:rPr lang="nb-NO" cap="none" dirty="0" err="1">
                <a:solidFill>
                  <a:srgbClr val="F92672"/>
                </a:solidFill>
                <a:latin typeface="Consolas" panose="020B0609020204030204" pitchFamily="49" charset="0"/>
              </a:rPr>
              <a:t>else</a:t>
            </a:r>
            <a:endParaRPr lang="nb-NO" dirty="0">
              <a:solidFill>
                <a:srgbClr val="F9267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F75D-EE16-2934-66DF-326B5CAF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8" y="1792936"/>
            <a:ext cx="10288041" cy="5065064"/>
          </a:xfrm>
        </p:spPr>
        <p:txBody>
          <a:bodyPr>
            <a:normAutofit/>
          </a:bodyPr>
          <a:lstStyle/>
          <a:p>
            <a:r>
              <a:rPr lang="nb-NO" sz="2800" dirty="0" err="1">
                <a:solidFill>
                  <a:srgbClr val="F92672"/>
                </a:solidFill>
                <a:latin typeface="Consolas" panose="020B0609020204030204" pitchFamily="49" charset="0"/>
              </a:rPr>
              <a:t>if</a:t>
            </a:r>
            <a:endParaRPr lang="nb-NO" sz="2800" dirty="0">
              <a:solidFill>
                <a:srgbClr val="F92672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2800" dirty="0"/>
              <a:t>Norsk: hvis</a:t>
            </a:r>
          </a:p>
          <a:p>
            <a:pPr lvl="1"/>
            <a:r>
              <a:rPr lang="nb-NO" sz="2800" dirty="0"/>
              <a:t>Eksempel: Hvis teksten er </a:t>
            </a:r>
            <a:r>
              <a:rPr lang="nb-NO" sz="2800" dirty="0">
                <a:solidFill>
                  <a:srgbClr val="E6DB74"/>
                </a:solidFill>
                <a:latin typeface="Consolas" panose="020B0609020204030204" pitchFamily="49" charset="0"/>
              </a:rPr>
              <a:t>"hallo"</a:t>
            </a:r>
            <a:r>
              <a:rPr lang="nb-NO" sz="2800" dirty="0"/>
              <a:t>, gjør noe</a:t>
            </a:r>
          </a:p>
          <a:p>
            <a:pPr lvl="1"/>
            <a:r>
              <a:rPr lang="nb-NO" sz="2800" dirty="0"/>
              <a:t>Eksempel: Hvis et tall er mindre en </a:t>
            </a:r>
            <a:r>
              <a:rPr lang="nb-NO" sz="2800" dirty="0">
                <a:solidFill>
                  <a:srgbClr val="AE81FF"/>
                </a:solidFill>
                <a:latin typeface="Consolas" panose="020B0609020204030204" pitchFamily="49" charset="0"/>
              </a:rPr>
              <a:t>4</a:t>
            </a:r>
            <a:r>
              <a:rPr lang="nb-NO" sz="2800" dirty="0"/>
              <a:t>, gjør noe</a:t>
            </a:r>
          </a:p>
          <a:p>
            <a:r>
              <a:rPr lang="nb-NO" sz="2800" dirty="0" err="1">
                <a:solidFill>
                  <a:srgbClr val="F92672"/>
                </a:solidFill>
                <a:latin typeface="Consolas" panose="020B0609020204030204" pitchFamily="49" charset="0"/>
              </a:rPr>
              <a:t>else</a:t>
            </a:r>
            <a:endParaRPr lang="nb-NO" sz="2800" dirty="0">
              <a:solidFill>
                <a:srgbClr val="F92672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2800" dirty="0"/>
              <a:t>Norsk: ellers</a:t>
            </a:r>
          </a:p>
          <a:p>
            <a:pPr lvl="1"/>
            <a:r>
              <a:rPr lang="nb-NO" sz="2800" dirty="0"/>
              <a:t>Eksempel: Hvis det som står i </a:t>
            </a:r>
            <a:r>
              <a:rPr lang="nb-NO" sz="2800" dirty="0" err="1">
                <a:solidFill>
                  <a:srgbClr val="F92672"/>
                </a:solidFill>
                <a:latin typeface="Consolas" panose="020B0609020204030204" pitchFamily="49" charset="0"/>
              </a:rPr>
              <a:t>if</a:t>
            </a:r>
            <a:r>
              <a:rPr lang="nb-NO" sz="2800" dirty="0"/>
              <a:t> ikke stemmer, gjør dette i stedet.</a:t>
            </a:r>
          </a:p>
          <a:p>
            <a:r>
              <a:rPr lang="nb-NO" sz="2800" dirty="0" err="1">
                <a:solidFill>
                  <a:srgbClr val="F92672"/>
                </a:solidFill>
                <a:latin typeface="Consolas" panose="020B0609020204030204" pitchFamily="49" charset="0"/>
              </a:rPr>
              <a:t>else</a:t>
            </a:r>
            <a:r>
              <a:rPr lang="nb-NO" sz="2800" dirty="0">
                <a:solidFill>
                  <a:srgbClr val="F92672"/>
                </a:solidFill>
                <a:latin typeface="Consolas" panose="020B0609020204030204" pitchFamily="49" charset="0"/>
              </a:rPr>
              <a:t> </a:t>
            </a:r>
            <a:r>
              <a:rPr lang="nb-NO" sz="2800" dirty="0" err="1">
                <a:solidFill>
                  <a:srgbClr val="F92672"/>
                </a:solidFill>
                <a:latin typeface="Consolas" panose="020B0609020204030204" pitchFamily="49" charset="0"/>
              </a:rPr>
              <a:t>if</a:t>
            </a:r>
            <a:endParaRPr lang="nb-NO" sz="2800" dirty="0">
              <a:solidFill>
                <a:srgbClr val="F92672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2800" dirty="0"/>
              <a:t>Norsk: Ellers hvis</a:t>
            </a:r>
          </a:p>
          <a:p>
            <a:pPr lvl="1"/>
            <a:r>
              <a:rPr lang="nb-NO" sz="2800" dirty="0"/>
              <a:t>Eksempel: Hvis dette skjer i stedet, gjør dette</a:t>
            </a:r>
          </a:p>
        </p:txBody>
      </p:sp>
    </p:spTree>
    <p:extLst>
      <p:ext uri="{BB962C8B-B14F-4D97-AF65-F5344CB8AC3E}">
        <p14:creationId xmlns:p14="http://schemas.microsoft.com/office/powerpoint/2010/main" val="42244180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4ABA-93C6-5116-25AA-6EA7EEB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6600" spc="150" dirty="0" err="1"/>
              <a:t>Hvordan</a:t>
            </a:r>
            <a:r>
              <a:rPr lang="en-US" sz="6600" spc="150" dirty="0"/>
              <a:t> </a:t>
            </a:r>
            <a:r>
              <a:rPr lang="en-US" sz="6600" spc="150" dirty="0" err="1"/>
              <a:t>sjekker</a:t>
            </a:r>
            <a:r>
              <a:rPr lang="en-US" sz="6600" spc="150" dirty="0"/>
              <a:t> vi om </a:t>
            </a:r>
            <a:r>
              <a:rPr lang="en-US" sz="6600" spc="150" dirty="0" err="1"/>
              <a:t>navnet</a:t>
            </a:r>
            <a:r>
              <a:rPr lang="en-US" sz="6600" spc="150" dirty="0"/>
              <a:t> er der?</a:t>
            </a:r>
          </a:p>
        </p:txBody>
      </p:sp>
      <p:pic>
        <p:nvPicPr>
          <p:cNvPr id="1026" name="Picture 2" descr="Visual Studio Code logo png download">
            <a:extLst>
              <a:ext uri="{FF2B5EF4-FFF2-40B4-BE49-F238E27FC236}">
                <a16:creationId xmlns:a16="http://schemas.microsoft.com/office/drawing/2014/main" id="{2FE75C61-849E-B3C1-8BE5-DEE390EC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17" y="2310997"/>
            <a:ext cx="2215243" cy="221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BB0A5-6474-1A81-BD76-B82C63F0DFBA}"/>
              </a:ext>
            </a:extLst>
          </p:cNvPr>
          <p:cNvSpPr txBox="1"/>
          <p:nvPr/>
        </p:nvSpPr>
        <p:spPr>
          <a:xfrm>
            <a:off x="365759" y="343834"/>
            <a:ext cx="2858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>
                <a:solidFill>
                  <a:srgbClr val="00B0F0"/>
                </a:solidFill>
              </a:rPr>
              <a:t>Eksempel 3</a:t>
            </a:r>
          </a:p>
        </p:txBody>
      </p:sp>
    </p:spTree>
    <p:extLst>
      <p:ext uri="{BB962C8B-B14F-4D97-AF65-F5344CB8AC3E}">
        <p14:creationId xmlns:p14="http://schemas.microsoft.com/office/powerpoint/2010/main" val="2856574877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63D9-C57A-04EF-E967-425B9B6F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Dette lagde vi: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322B0-3B3A-53D0-8987-B519C4F838A6}"/>
              </a:ext>
            </a:extLst>
          </p:cNvPr>
          <p:cNvSpPr txBox="1"/>
          <p:nvPr/>
        </p:nvSpPr>
        <p:spPr>
          <a:xfrm>
            <a:off x="101600" y="1951886"/>
            <a:ext cx="8782756" cy="4813690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b-NO" sz="2300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3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sz="23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23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3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3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sz="23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23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23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2300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23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"Hallo, "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3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b-NO" sz="23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2300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23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"Vennligst legg inn et navn!"</a:t>
            </a: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</a:pPr>
            <a:r>
              <a:rPr lang="nb-NO" sz="23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2" descr="javascript-logo - Canadian Web Hosting Blog">
            <a:extLst>
              <a:ext uri="{FF2B5EF4-FFF2-40B4-BE49-F238E27FC236}">
                <a16:creationId xmlns:a16="http://schemas.microsoft.com/office/drawing/2014/main" id="{A0E5BBA4-BD02-5661-7E82-DA4C65AAE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232" y="3194756"/>
            <a:ext cx="4145556" cy="233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49012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46BD-494D-4313-38B5-FED3481F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Sammenligninger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11872-4088-0430-CBF2-F4D3AAE02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792936"/>
            <a:ext cx="1033385" cy="506506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==</a:t>
            </a:r>
          </a:p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&lt;</a:t>
            </a:r>
          </a:p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&gt;=</a:t>
            </a:r>
          </a:p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&lt;=</a:t>
            </a:r>
          </a:p>
          <a:p>
            <a:pPr>
              <a:lnSpc>
                <a:spcPct val="150000"/>
              </a:lnSpc>
            </a:pPr>
            <a:r>
              <a:rPr lang="nb-NO" sz="3600" dirty="0">
                <a:solidFill>
                  <a:srgbClr val="F92672"/>
                </a:solidFill>
                <a:latin typeface="Consolas" panose="020B0609020204030204" pitchFamily="49" charset="0"/>
              </a:rPr>
              <a:t>!=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83E89A-BE7A-A0BC-06A5-296C9B3ED06D}"/>
              </a:ext>
            </a:extLst>
          </p:cNvPr>
          <p:cNvSpPr txBox="1">
            <a:spLocks/>
          </p:cNvSpPr>
          <p:nvPr/>
        </p:nvSpPr>
        <p:spPr>
          <a:xfrm>
            <a:off x="2349231" y="1792937"/>
            <a:ext cx="4498830" cy="51357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Er lik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Er større enn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Er mindre enn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Større enn eller er lik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Mindre enn eller er lik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b-NO" sz="3600" dirty="0">
                <a:latin typeface="+mj-lt"/>
              </a:rPr>
              <a:t>Er ikke lik</a:t>
            </a:r>
          </a:p>
        </p:txBody>
      </p:sp>
      <p:pic>
        <p:nvPicPr>
          <p:cNvPr id="6" name="Picture 5" descr="A cartoon of a person&#10;&#10;Description automatically generated">
            <a:extLst>
              <a:ext uri="{FF2B5EF4-FFF2-40B4-BE49-F238E27FC236}">
                <a16:creationId xmlns:a16="http://schemas.microsoft.com/office/drawing/2014/main" id="{A0F4157E-E91F-E8CC-39D4-BB00B1EA1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61" y="1928152"/>
            <a:ext cx="784164" cy="778631"/>
          </a:xfrm>
          <a:prstGeom prst="rect">
            <a:avLst/>
          </a:prstGeom>
        </p:spPr>
      </p:pic>
      <p:pic>
        <p:nvPicPr>
          <p:cNvPr id="7" name="Picture 6" descr="A cartoon of a person&#10;&#10;Description automatically generated">
            <a:extLst>
              <a:ext uri="{FF2B5EF4-FFF2-40B4-BE49-F238E27FC236}">
                <a16:creationId xmlns:a16="http://schemas.microsoft.com/office/drawing/2014/main" id="{CC486F2B-0D62-2FD7-1FF3-14A2C9B5E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121" y="1939051"/>
            <a:ext cx="784165" cy="77863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FF7C9-2C6D-CC59-8734-2BF6B3508809}"/>
              </a:ext>
            </a:extLst>
          </p:cNvPr>
          <p:cNvSpPr txBox="1">
            <a:spLocks/>
          </p:cNvSpPr>
          <p:nvPr/>
        </p:nvSpPr>
        <p:spPr>
          <a:xfrm>
            <a:off x="7891470" y="1939051"/>
            <a:ext cx="1033385" cy="5065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==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&lt;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&gt;=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&lt;=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4200" dirty="0">
                <a:solidFill>
                  <a:srgbClr val="F92672"/>
                </a:solidFill>
                <a:latin typeface="Consolas" panose="020B0609020204030204" pitchFamily="49" charset="0"/>
              </a:rPr>
              <a:t>!=</a:t>
            </a:r>
          </a:p>
        </p:txBody>
      </p:sp>
      <p:pic>
        <p:nvPicPr>
          <p:cNvPr id="9" name="Picture 8" descr="A cartoon of a person&#10;&#10;Description automatically generated">
            <a:extLst>
              <a:ext uri="{FF2B5EF4-FFF2-40B4-BE49-F238E27FC236}">
                <a16:creationId xmlns:a16="http://schemas.microsoft.com/office/drawing/2014/main" id="{B5095CD5-A1F2-F6EA-5A12-89437BBF9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61" y="2735948"/>
            <a:ext cx="784164" cy="778631"/>
          </a:xfrm>
          <a:prstGeom prst="rect">
            <a:avLst/>
          </a:prstGeom>
        </p:spPr>
      </p:pic>
      <p:pic>
        <p:nvPicPr>
          <p:cNvPr id="10" name="Picture 9" descr="A cartoon of a person&#10;&#10;Description automatically generated">
            <a:extLst>
              <a:ext uri="{FF2B5EF4-FFF2-40B4-BE49-F238E27FC236}">
                <a16:creationId xmlns:a16="http://schemas.microsoft.com/office/drawing/2014/main" id="{7F523F00-C1AC-698D-3CE9-09C35093B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590" y="2880562"/>
            <a:ext cx="493665" cy="490181"/>
          </a:xfrm>
          <a:prstGeom prst="rect">
            <a:avLst/>
          </a:prstGeom>
        </p:spPr>
      </p:pic>
      <p:pic>
        <p:nvPicPr>
          <p:cNvPr id="11" name="Picture 10" descr="A cartoon of a person&#10;&#10;Description automatically generated">
            <a:extLst>
              <a:ext uri="{FF2B5EF4-FFF2-40B4-BE49-F238E27FC236}">
                <a16:creationId xmlns:a16="http://schemas.microsoft.com/office/drawing/2014/main" id="{C51A781D-A163-0FD8-8BA5-A5F7F6518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458" y="3703394"/>
            <a:ext cx="478342" cy="474968"/>
          </a:xfrm>
          <a:prstGeom prst="rect">
            <a:avLst/>
          </a:prstGeom>
        </p:spPr>
      </p:pic>
      <p:pic>
        <p:nvPicPr>
          <p:cNvPr id="12" name="Picture 11" descr="A cartoon of a person&#10;&#10;Description automatically generated">
            <a:extLst>
              <a:ext uri="{FF2B5EF4-FFF2-40B4-BE49-F238E27FC236}">
                <a16:creationId xmlns:a16="http://schemas.microsoft.com/office/drawing/2014/main" id="{427C8521-62C9-70C3-AB66-3E99FFE6A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121" y="3554643"/>
            <a:ext cx="784165" cy="778632"/>
          </a:xfrm>
          <a:prstGeom prst="rect">
            <a:avLst/>
          </a:prstGeom>
        </p:spPr>
      </p:pic>
      <p:pic>
        <p:nvPicPr>
          <p:cNvPr id="13" name="Picture 12" descr="A cartoon of a person&#10;&#10;Description automatically generated">
            <a:extLst>
              <a:ext uri="{FF2B5EF4-FFF2-40B4-BE49-F238E27FC236}">
                <a16:creationId xmlns:a16="http://schemas.microsoft.com/office/drawing/2014/main" id="{E0126DAA-812E-AF43-CD18-6FBA9E97F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61" y="4351540"/>
            <a:ext cx="784164" cy="778631"/>
          </a:xfrm>
          <a:prstGeom prst="rect">
            <a:avLst/>
          </a:prstGeom>
        </p:spPr>
      </p:pic>
      <p:pic>
        <p:nvPicPr>
          <p:cNvPr id="14" name="Picture 13" descr="A cartoon of a person&#10;&#10;Description automatically generated">
            <a:extLst>
              <a:ext uri="{FF2B5EF4-FFF2-40B4-BE49-F238E27FC236}">
                <a16:creationId xmlns:a16="http://schemas.microsoft.com/office/drawing/2014/main" id="{AF07D70D-9417-E3BD-4D24-5688E8E97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345" y="4517175"/>
            <a:ext cx="490382" cy="486922"/>
          </a:xfrm>
          <a:prstGeom prst="rect">
            <a:avLst/>
          </a:prstGeom>
        </p:spPr>
      </p:pic>
      <p:pic>
        <p:nvPicPr>
          <p:cNvPr id="15" name="Picture 14" descr="A cartoon of a person&#10;&#10;Description automatically generated">
            <a:extLst>
              <a:ext uri="{FF2B5EF4-FFF2-40B4-BE49-F238E27FC236}">
                <a16:creationId xmlns:a16="http://schemas.microsoft.com/office/drawing/2014/main" id="{F81F1691-6241-8893-5578-B2F1DAA94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017" y="5318986"/>
            <a:ext cx="508457" cy="504869"/>
          </a:xfrm>
          <a:prstGeom prst="rect">
            <a:avLst/>
          </a:prstGeom>
        </p:spPr>
      </p:pic>
      <p:pic>
        <p:nvPicPr>
          <p:cNvPr id="16" name="Picture 15" descr="A cartoon of a person&#10;&#10;Description automatically generated">
            <a:extLst>
              <a:ext uri="{FF2B5EF4-FFF2-40B4-BE49-F238E27FC236}">
                <a16:creationId xmlns:a16="http://schemas.microsoft.com/office/drawing/2014/main" id="{2F960C74-DA7D-76EF-150D-F5AF904E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121" y="5166976"/>
            <a:ext cx="784165" cy="778632"/>
          </a:xfrm>
          <a:prstGeom prst="rect">
            <a:avLst/>
          </a:prstGeom>
        </p:spPr>
      </p:pic>
      <p:pic>
        <p:nvPicPr>
          <p:cNvPr id="17" name="Picture 16" descr="A cartoon of a person&#10;&#10;Description automatically generated">
            <a:extLst>
              <a:ext uri="{FF2B5EF4-FFF2-40B4-BE49-F238E27FC236}">
                <a16:creationId xmlns:a16="http://schemas.microsoft.com/office/drawing/2014/main" id="{41EC8C2F-9E40-1ECE-75CE-3F441E959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61" y="5963873"/>
            <a:ext cx="784164" cy="778631"/>
          </a:xfrm>
          <a:prstGeom prst="rect">
            <a:avLst/>
          </a:prstGeom>
        </p:spPr>
      </p:pic>
      <p:pic>
        <p:nvPicPr>
          <p:cNvPr id="20" name="Picture 19" descr="A person with long hair and a black eye&#10;&#10;Description automatically generated">
            <a:extLst>
              <a:ext uri="{FF2B5EF4-FFF2-40B4-BE49-F238E27FC236}">
                <a16:creationId xmlns:a16="http://schemas.microsoft.com/office/drawing/2014/main" id="{F7A08ED6-22DB-17E8-6A9F-801943494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120" y="5976227"/>
            <a:ext cx="771723" cy="766277"/>
          </a:xfrm>
          <a:prstGeom prst="rect">
            <a:avLst/>
          </a:prstGeom>
        </p:spPr>
      </p:pic>
      <p:pic>
        <p:nvPicPr>
          <p:cNvPr id="21" name="Picture 20" descr="A cartoon of a person&#10;&#10;Description automatically generated">
            <a:extLst>
              <a:ext uri="{FF2B5EF4-FFF2-40B4-BE49-F238E27FC236}">
                <a16:creationId xmlns:a16="http://schemas.microsoft.com/office/drawing/2014/main" id="{35B9ABC2-EF0D-E0C5-F8D2-F9206D1E2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999" y="4388345"/>
            <a:ext cx="784164" cy="7786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5E33FB6-C2ED-8BD7-B20D-2492114F6F65}"/>
              </a:ext>
            </a:extLst>
          </p:cNvPr>
          <p:cNvSpPr txBox="1"/>
          <p:nvPr/>
        </p:nvSpPr>
        <p:spPr>
          <a:xfrm>
            <a:off x="9851627" y="4499026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eller</a:t>
            </a:r>
          </a:p>
        </p:txBody>
      </p:sp>
      <p:pic>
        <p:nvPicPr>
          <p:cNvPr id="23" name="Picture 22" descr="A cartoon of a person&#10;&#10;Description automatically generated">
            <a:extLst>
              <a:ext uri="{FF2B5EF4-FFF2-40B4-BE49-F238E27FC236}">
                <a16:creationId xmlns:a16="http://schemas.microsoft.com/office/drawing/2014/main" id="{82574580-96F5-7A0D-3D06-69FA7D837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669" y="5395681"/>
            <a:ext cx="440457" cy="4373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3ACE585-C1DC-8C74-C5A1-1763C86453D3}"/>
              </a:ext>
            </a:extLst>
          </p:cNvPr>
          <p:cNvSpPr txBox="1"/>
          <p:nvPr/>
        </p:nvSpPr>
        <p:spPr>
          <a:xfrm>
            <a:off x="9851627" y="5309810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eller</a:t>
            </a:r>
          </a:p>
        </p:txBody>
      </p:sp>
    </p:spTree>
    <p:extLst>
      <p:ext uri="{BB962C8B-B14F-4D97-AF65-F5344CB8AC3E}">
        <p14:creationId xmlns:p14="http://schemas.microsoft.com/office/powerpoint/2010/main" val="1724300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/>
      <p:bldP spid="22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4ABA-93C6-5116-25AA-6EA7EEB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6600" spc="150" dirty="0"/>
              <a:t>INLOGGING MED BRUKERNAVN OG PASSORD</a:t>
            </a:r>
          </a:p>
        </p:txBody>
      </p:sp>
      <p:pic>
        <p:nvPicPr>
          <p:cNvPr id="1026" name="Picture 2" descr="Visual Studio Code logo png download">
            <a:extLst>
              <a:ext uri="{FF2B5EF4-FFF2-40B4-BE49-F238E27FC236}">
                <a16:creationId xmlns:a16="http://schemas.microsoft.com/office/drawing/2014/main" id="{2FE75C61-849E-B3C1-8BE5-DEE390EC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17" y="2310997"/>
            <a:ext cx="2215243" cy="221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BB0A5-6474-1A81-BD76-B82C63F0DFBA}"/>
              </a:ext>
            </a:extLst>
          </p:cNvPr>
          <p:cNvSpPr txBox="1"/>
          <p:nvPr/>
        </p:nvSpPr>
        <p:spPr>
          <a:xfrm>
            <a:off x="365759" y="343834"/>
            <a:ext cx="2858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>
                <a:solidFill>
                  <a:srgbClr val="00B0F0"/>
                </a:solidFill>
              </a:rPr>
              <a:t>Eksempel 4</a:t>
            </a:r>
          </a:p>
        </p:txBody>
      </p:sp>
    </p:spTree>
    <p:extLst>
      <p:ext uri="{BB962C8B-B14F-4D97-AF65-F5344CB8AC3E}">
        <p14:creationId xmlns:p14="http://schemas.microsoft.com/office/powerpoint/2010/main" val="3259964211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E860-C3FF-8BBC-4E5F-EF89CA5B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81" y="237042"/>
            <a:ext cx="11660956" cy="1508760"/>
          </a:xfrm>
        </p:spPr>
        <p:txBody>
          <a:bodyPr>
            <a:normAutofit/>
          </a:bodyPr>
          <a:lstStyle/>
          <a:p>
            <a:pPr algn="ctr"/>
            <a:r>
              <a:rPr lang="nb-NO" dirty="0"/>
              <a:t>Dette er </a:t>
            </a:r>
            <a:r>
              <a:rPr lang="nb-NO" b="1" u="sng" dirty="0"/>
              <a:t>veldig</a:t>
            </a:r>
            <a:r>
              <a:rPr lang="nb-NO" dirty="0"/>
              <a:t> usikkert, men dette lagde vi:</a:t>
            </a:r>
            <a:endParaRPr lang="nb-NO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5F6EA-8092-CFB7-8FC9-1528D8D65521}"/>
              </a:ext>
            </a:extLst>
          </p:cNvPr>
          <p:cNvSpPr txBox="1"/>
          <p:nvPr/>
        </p:nvSpPr>
        <p:spPr>
          <a:xfrm>
            <a:off x="264481" y="2121999"/>
            <a:ext cx="10411149" cy="4401205"/>
          </a:xfrm>
          <a:prstGeom prst="rect">
            <a:avLst/>
          </a:prstGeom>
          <a:noFill/>
          <a:ln w="38100">
            <a:solidFill>
              <a:srgbClr val="D269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&gt;Brukernavn og Passord&lt;/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"Brukernavn"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"Passord"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20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nb-NO" sz="20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&gt;Log In&lt;/</a:t>
            </a:r>
            <a:r>
              <a:rPr lang="nb-NO" sz="20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20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5" name="Picture 2" descr="HTML5 - Logos Download">
            <a:extLst>
              <a:ext uri="{FF2B5EF4-FFF2-40B4-BE49-F238E27FC236}">
                <a16:creationId xmlns:a16="http://schemas.microsoft.com/office/drawing/2014/main" id="{555432D3-4EDC-D04B-2553-779AA88E5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306" y="2335113"/>
            <a:ext cx="1199378" cy="119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6708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E860-C3FF-8BBC-4E5F-EF89CA5B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81" y="237042"/>
            <a:ext cx="11660956" cy="1508760"/>
          </a:xfrm>
        </p:spPr>
        <p:txBody>
          <a:bodyPr>
            <a:normAutofit/>
          </a:bodyPr>
          <a:lstStyle/>
          <a:p>
            <a:pPr algn="ctr"/>
            <a:r>
              <a:rPr lang="nb-NO" dirty="0"/>
              <a:t>Dette er </a:t>
            </a:r>
            <a:r>
              <a:rPr lang="nb-NO" b="1" u="sng" dirty="0"/>
              <a:t>veldig</a:t>
            </a:r>
            <a:r>
              <a:rPr lang="nb-NO" dirty="0"/>
              <a:t> usikkert, men dette lagde vi:</a:t>
            </a:r>
            <a:endParaRPr lang="nb-NO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5F6EA-8092-CFB7-8FC9-1528D8D65521}"/>
              </a:ext>
            </a:extLst>
          </p:cNvPr>
          <p:cNvSpPr txBox="1"/>
          <p:nvPr/>
        </p:nvSpPr>
        <p:spPr>
          <a:xfrm>
            <a:off x="264481" y="2002642"/>
            <a:ext cx="10411149" cy="4618316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b-NO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b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 Dette er selvfølgelig veldig usikkert</a:t>
            </a:r>
            <a:endParaRPr lang="nb-NO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"brukernavn"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b-NO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"123456"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"Du har logget inn!"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b-NO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"Brukernavn eller passord er feil!"</a:t>
            </a: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</a:pPr>
            <a:r>
              <a:rPr lang="nb-NO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Picture 2" descr="javascript-logo - Canadian Web Hosting Blog">
            <a:extLst>
              <a:ext uri="{FF2B5EF4-FFF2-40B4-BE49-F238E27FC236}">
                <a16:creationId xmlns:a16="http://schemas.microsoft.com/office/drawing/2014/main" id="{0AC6FDFA-AF0C-341D-79F5-1CD8D3D29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702" y="2326895"/>
            <a:ext cx="2683763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800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4565-4F40-20F9-4439-8F4CA075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Datatyper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9082-210E-3E70-4FC9-D21EE7A7C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125980"/>
            <a:ext cx="9784080" cy="4846320"/>
          </a:xfrm>
        </p:spPr>
        <p:txBody>
          <a:bodyPr>
            <a:normAutofit/>
          </a:bodyPr>
          <a:lstStyle/>
          <a:p>
            <a:r>
              <a:rPr lang="nb-NO" sz="3200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String</a:t>
            </a:r>
            <a:endParaRPr lang="nb-NO" sz="3200" i="1" dirty="0">
              <a:solidFill>
                <a:srgbClr val="66D9EF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3200" dirty="0"/>
              <a:t>Tekst, som for eksempel: </a:t>
            </a:r>
            <a:r>
              <a:rPr lang="nb-NO" sz="3200" dirty="0">
                <a:solidFill>
                  <a:srgbClr val="E6DB74"/>
                </a:solidFill>
                <a:latin typeface="Consolas" panose="020B0609020204030204" pitchFamily="49" charset="0"/>
              </a:rPr>
              <a:t>"</a:t>
            </a:r>
            <a:r>
              <a:rPr lang="nb-NO" sz="3200" dirty="0" err="1">
                <a:solidFill>
                  <a:srgbClr val="E6DB74"/>
                </a:solidFill>
                <a:latin typeface="Consolas" panose="020B0609020204030204" pitchFamily="49" charset="0"/>
              </a:rPr>
              <a:t>Hello</a:t>
            </a:r>
            <a:r>
              <a:rPr lang="nb-NO" sz="3200" dirty="0">
                <a:solidFill>
                  <a:srgbClr val="E6DB74"/>
                </a:solidFill>
                <a:latin typeface="Consolas" panose="020B0609020204030204" pitchFamily="49" charset="0"/>
              </a:rPr>
              <a:t> World!"</a:t>
            </a:r>
          </a:p>
          <a:p>
            <a:r>
              <a:rPr lang="nb-NO" sz="3200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Number</a:t>
            </a:r>
            <a:endParaRPr lang="nb-NO" sz="3200" i="1" dirty="0">
              <a:solidFill>
                <a:srgbClr val="66D9EF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3200" dirty="0"/>
              <a:t>Tall, som for eksempel: </a:t>
            </a:r>
            <a:r>
              <a:rPr lang="nb-NO" sz="3200" dirty="0">
                <a:solidFill>
                  <a:srgbClr val="AE81FF"/>
                </a:solidFill>
                <a:latin typeface="Consolas" panose="020B0609020204030204" pitchFamily="49" charset="0"/>
              </a:rPr>
              <a:t>4</a:t>
            </a:r>
            <a:r>
              <a:rPr lang="nb-NO" sz="3200" dirty="0">
                <a:latin typeface="Consolas" panose="020B0609020204030204" pitchFamily="49" charset="0"/>
              </a:rPr>
              <a:t>, </a:t>
            </a:r>
            <a:r>
              <a:rPr lang="nb-NO" sz="3200" dirty="0">
                <a:solidFill>
                  <a:srgbClr val="AE81FF"/>
                </a:solidFill>
                <a:latin typeface="Consolas" panose="020B0609020204030204" pitchFamily="49" charset="0"/>
              </a:rPr>
              <a:t>5</a:t>
            </a:r>
            <a:r>
              <a:rPr lang="nb-NO" sz="3200" dirty="0">
                <a:latin typeface="Consolas" panose="020B0609020204030204" pitchFamily="49" charset="0"/>
              </a:rPr>
              <a:t>, </a:t>
            </a:r>
            <a:r>
              <a:rPr lang="nb-NO" sz="3200" dirty="0">
                <a:solidFill>
                  <a:srgbClr val="D80651"/>
                </a:solidFill>
                <a:latin typeface="Consolas" panose="020B0609020204030204" pitchFamily="49" charset="0"/>
              </a:rPr>
              <a:t>-</a:t>
            </a:r>
            <a:r>
              <a:rPr lang="nb-NO" sz="3200" dirty="0">
                <a:solidFill>
                  <a:srgbClr val="AE81FF"/>
                </a:solidFill>
                <a:latin typeface="Consolas" panose="020B0609020204030204" pitchFamily="49" charset="0"/>
              </a:rPr>
              <a:t>1</a:t>
            </a:r>
            <a:r>
              <a:rPr lang="nb-NO" sz="3200" dirty="0">
                <a:latin typeface="Consolas" panose="020B0609020204030204" pitchFamily="49" charset="0"/>
              </a:rPr>
              <a:t>, </a:t>
            </a:r>
            <a:r>
              <a:rPr lang="nb-NO" sz="3200" dirty="0">
                <a:solidFill>
                  <a:srgbClr val="AE81FF"/>
                </a:solidFill>
                <a:latin typeface="Consolas" panose="020B0609020204030204" pitchFamily="49" charset="0"/>
              </a:rPr>
              <a:t>0.5</a:t>
            </a:r>
            <a:r>
              <a:rPr lang="nb-NO" sz="3200" dirty="0">
                <a:latin typeface="Consolas" panose="020B0609020204030204" pitchFamily="49" charset="0"/>
              </a:rPr>
              <a:t>, </a:t>
            </a:r>
            <a:r>
              <a:rPr lang="nb-NO" sz="3200" dirty="0">
                <a:solidFill>
                  <a:srgbClr val="D80651"/>
                </a:solidFill>
                <a:latin typeface="Consolas" panose="020B0609020204030204" pitchFamily="49" charset="0"/>
              </a:rPr>
              <a:t>-</a:t>
            </a:r>
            <a:r>
              <a:rPr lang="nb-NO" sz="3200" dirty="0">
                <a:solidFill>
                  <a:srgbClr val="AE81FF"/>
                </a:solidFill>
                <a:latin typeface="Consolas" panose="020B0609020204030204" pitchFamily="49" charset="0"/>
              </a:rPr>
              <a:t>4.67</a:t>
            </a:r>
          </a:p>
          <a:p>
            <a:pPr lvl="1"/>
            <a:r>
              <a:rPr lang="nb-NO" sz="3200" dirty="0"/>
              <a:t>Heltall og kommatall</a:t>
            </a:r>
          </a:p>
          <a:p>
            <a:pPr lvl="1"/>
            <a:r>
              <a:rPr lang="nb-NO" sz="3200" dirty="0" err="1"/>
              <a:t>Integer</a:t>
            </a:r>
            <a:r>
              <a:rPr lang="nb-NO" sz="3200" dirty="0"/>
              <a:t>, Float</a:t>
            </a:r>
          </a:p>
          <a:p>
            <a:r>
              <a:rPr lang="nb-NO" sz="3200" i="1" dirty="0" err="1">
                <a:solidFill>
                  <a:srgbClr val="66D9EF"/>
                </a:solidFill>
                <a:latin typeface="Consolas" panose="020B0609020204030204" pitchFamily="49" charset="0"/>
              </a:rPr>
              <a:t>Boolean</a:t>
            </a:r>
            <a:endParaRPr lang="nb-NO" sz="3200" i="1" dirty="0">
              <a:solidFill>
                <a:srgbClr val="66D9EF"/>
              </a:solidFill>
              <a:latin typeface="Consolas" panose="020B0609020204030204" pitchFamily="49" charset="0"/>
            </a:endParaRPr>
          </a:p>
          <a:p>
            <a:pPr lvl="1"/>
            <a:r>
              <a:rPr lang="nb-NO" sz="3200" dirty="0"/>
              <a:t>Sant eller usant, </a:t>
            </a:r>
            <a:r>
              <a:rPr lang="nb-NO" sz="3200" dirty="0">
                <a:solidFill>
                  <a:srgbClr val="D80651"/>
                </a:solidFill>
                <a:latin typeface="Consolas" panose="020B0609020204030204" pitchFamily="49" charset="0"/>
              </a:rPr>
              <a:t>true</a:t>
            </a:r>
            <a:r>
              <a:rPr lang="nb-NO" sz="3200" dirty="0"/>
              <a:t> eller </a:t>
            </a:r>
            <a:r>
              <a:rPr lang="nb-NO" sz="3200" dirty="0">
                <a:solidFill>
                  <a:srgbClr val="D80651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77539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D4ABA-93C6-5116-25AA-6EA7EEB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693334"/>
            <a:ext cx="8821199" cy="347133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8000" spc="150" dirty="0" err="1"/>
              <a:t>Enkel</a:t>
            </a:r>
            <a:r>
              <a:rPr lang="en-US" sz="8000" spc="150" dirty="0"/>
              <a:t> </a:t>
            </a:r>
            <a:r>
              <a:rPr lang="en-US" sz="8000" spc="150" dirty="0" err="1"/>
              <a:t>kalkulator</a:t>
            </a:r>
            <a:endParaRPr lang="en-US" sz="8000" spc="150" dirty="0"/>
          </a:p>
        </p:txBody>
      </p:sp>
      <p:pic>
        <p:nvPicPr>
          <p:cNvPr id="1026" name="Picture 2" descr="Visual Studio Code logo png download">
            <a:extLst>
              <a:ext uri="{FF2B5EF4-FFF2-40B4-BE49-F238E27FC236}">
                <a16:creationId xmlns:a16="http://schemas.microsoft.com/office/drawing/2014/main" id="{2FE75C61-849E-B3C1-8BE5-DEE390EC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717" y="2310997"/>
            <a:ext cx="2215243" cy="221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0BB0A5-6474-1A81-BD76-B82C63F0DFBA}"/>
              </a:ext>
            </a:extLst>
          </p:cNvPr>
          <p:cNvSpPr txBox="1"/>
          <p:nvPr/>
        </p:nvSpPr>
        <p:spPr>
          <a:xfrm>
            <a:off x="365759" y="343834"/>
            <a:ext cx="28408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400" dirty="0">
                <a:solidFill>
                  <a:srgbClr val="00B0F0"/>
                </a:solidFill>
              </a:rPr>
              <a:t>Eksempel 5</a:t>
            </a:r>
          </a:p>
        </p:txBody>
      </p:sp>
    </p:spTree>
    <p:extLst>
      <p:ext uri="{BB962C8B-B14F-4D97-AF65-F5344CB8AC3E}">
        <p14:creationId xmlns:p14="http://schemas.microsoft.com/office/powerpoint/2010/main" val="1298773564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35F6EA-8092-CFB7-8FC9-1528D8D65521}"/>
              </a:ext>
            </a:extLst>
          </p:cNvPr>
          <p:cNvSpPr txBox="1"/>
          <p:nvPr/>
        </p:nvSpPr>
        <p:spPr>
          <a:xfrm>
            <a:off x="274641" y="1929536"/>
            <a:ext cx="7802559" cy="4801314"/>
          </a:xfrm>
          <a:prstGeom prst="rect">
            <a:avLst/>
          </a:prstGeom>
          <a:noFill/>
          <a:ln w="38100">
            <a:solidFill>
              <a:srgbClr val="D269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&gt;Enkel kalkulator&lt;/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"main.js"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"number1"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"Tall 1"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"number2"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"Tall 2"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nb-NO" sz="1530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"operator"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('+')"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&gt;+&lt;/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"operator"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('-')"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&gt;-&lt;/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"operator"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('*')"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&gt;*&lt;/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"operator"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('/')"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&gt;/&lt;/</a:t>
            </a:r>
            <a:r>
              <a:rPr lang="nb-NO" sz="153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b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53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53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    Svar: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&lt;/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&lt;/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153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153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5" name="Picture 2" descr="HTML5 - Logos Download">
            <a:extLst>
              <a:ext uri="{FF2B5EF4-FFF2-40B4-BE49-F238E27FC236}">
                <a16:creationId xmlns:a16="http://schemas.microsoft.com/office/drawing/2014/main" id="{555432D3-4EDC-D04B-2553-779AA88E5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465" y="3286101"/>
            <a:ext cx="2088185" cy="208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B294DED-AF61-0633-6778-A9C871606CE3}"/>
              </a:ext>
            </a:extLst>
          </p:cNvPr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dirty="0"/>
              <a:t>Dette lagde vi:</a:t>
            </a:r>
          </a:p>
        </p:txBody>
      </p:sp>
    </p:spTree>
    <p:extLst>
      <p:ext uri="{BB962C8B-B14F-4D97-AF65-F5344CB8AC3E}">
        <p14:creationId xmlns:p14="http://schemas.microsoft.com/office/powerpoint/2010/main" val="469038363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35F6EA-8092-CFB7-8FC9-1528D8D65521}"/>
              </a:ext>
            </a:extLst>
          </p:cNvPr>
          <p:cNvSpPr txBox="1"/>
          <p:nvPr/>
        </p:nvSpPr>
        <p:spPr>
          <a:xfrm>
            <a:off x="193362" y="1935275"/>
            <a:ext cx="8780504" cy="4801314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nb-NO" sz="1700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7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number1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parseFloat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sz="17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"number1"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7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number2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parseFloat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sz="17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"number2"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700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1700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number1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number2;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1700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number1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number2;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1700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number1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number2;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1700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number1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number2;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nb-NO" sz="17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700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"Svar: "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700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nb-NO" sz="17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294DED-AF61-0633-6778-A9C871606CE3}"/>
              </a:ext>
            </a:extLst>
          </p:cNvPr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dirty="0"/>
              <a:t>Dette lagde vi:</a:t>
            </a:r>
          </a:p>
        </p:txBody>
      </p:sp>
      <p:pic>
        <p:nvPicPr>
          <p:cNvPr id="2" name="Picture 1" descr="javascript-logo - Canadian Web Hosting Blog">
            <a:extLst>
              <a:ext uri="{FF2B5EF4-FFF2-40B4-BE49-F238E27FC236}">
                <a16:creationId xmlns:a16="http://schemas.microsoft.com/office/drawing/2014/main" id="{45D3745D-F8F7-A7C3-4FDB-AEE78EE2C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837" y="3180808"/>
            <a:ext cx="4109440" cy="231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089280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9607-C4D7-2A4F-5CF9-6F86FC58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CB49-8F60-76FA-81D9-45292D011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09" y="1884072"/>
            <a:ext cx="11976100" cy="5065064"/>
          </a:xfrm>
        </p:spPr>
        <p:txBody>
          <a:bodyPr>
            <a:normAutofit fontScale="92500" lnSpcReduction="10000"/>
          </a:bodyPr>
          <a:lstStyle/>
          <a:p>
            <a:r>
              <a:rPr lang="nb-NO" sz="2400" dirty="0">
                <a:solidFill>
                  <a:srgbClr val="00B0F0"/>
                </a:solidFill>
              </a:rPr>
              <a:t>Oppgave 1:</a:t>
            </a:r>
          </a:p>
          <a:p>
            <a:pPr lvl="1"/>
            <a:r>
              <a:rPr lang="nb-NO" sz="2400" dirty="0"/>
              <a:t>Lag en funksjon som sjekker om du er gammel nok til å stemme</a:t>
            </a:r>
          </a:p>
          <a:p>
            <a:pPr lvl="1"/>
            <a:r>
              <a:rPr lang="nb-NO" sz="2400" dirty="0"/>
              <a:t>Du kan hvis du vil legge til flere alders-sjekker!</a:t>
            </a:r>
          </a:p>
          <a:p>
            <a:r>
              <a:rPr lang="nb-NO" sz="2400" dirty="0">
                <a:solidFill>
                  <a:srgbClr val="00B0F0"/>
                </a:solidFill>
              </a:rPr>
              <a:t>Oppgave 2:</a:t>
            </a:r>
          </a:p>
          <a:p>
            <a:pPr lvl="1"/>
            <a:r>
              <a:rPr lang="nb-NO" sz="2400" dirty="0"/>
              <a:t>Lag en funksjon som gjør om Celsius til Fahrenheit eller motsatt.</a:t>
            </a:r>
          </a:p>
          <a:p>
            <a:pPr lvl="1"/>
            <a:r>
              <a:rPr lang="nb-NO" sz="2400" dirty="0"/>
              <a:t>Formelen for å regne ut Fahrenheit er: </a:t>
            </a:r>
            <a:r>
              <a:rPr lang="nb-NO" sz="2400" dirty="0">
                <a:solidFill>
                  <a:srgbClr val="EDE59B"/>
                </a:solidFill>
                <a:latin typeface="Consolas" panose="020B0609020204030204" pitchFamily="49" charset="0"/>
              </a:rPr>
              <a:t>(Temperatur * 9/5) + 32</a:t>
            </a:r>
          </a:p>
          <a:p>
            <a:pPr lvl="1"/>
            <a:r>
              <a:rPr lang="nb-NO" sz="2400" dirty="0"/>
              <a:t>Kanskje klarer du å få til å konvertere mellom flere ting? Som for eksempel Kilometer og </a:t>
            </a:r>
            <a:r>
              <a:rPr lang="nb-NO" sz="2400" dirty="0" err="1"/>
              <a:t>Mile</a:t>
            </a:r>
            <a:r>
              <a:rPr lang="nb-NO" sz="2400" dirty="0"/>
              <a:t>.</a:t>
            </a:r>
          </a:p>
          <a:p>
            <a:r>
              <a:rPr lang="nb-NO" sz="2400" dirty="0">
                <a:solidFill>
                  <a:srgbClr val="00B0F0"/>
                </a:solidFill>
              </a:rPr>
              <a:t>Oppgave 3:</a:t>
            </a:r>
          </a:p>
          <a:p>
            <a:pPr lvl="1"/>
            <a:r>
              <a:rPr lang="nb-NO" sz="2400" dirty="0"/>
              <a:t>Lag en funksjon som regner ut billettpris. </a:t>
            </a:r>
          </a:p>
          <a:p>
            <a:pPr lvl="1"/>
            <a:r>
              <a:rPr lang="nb-NO" sz="2400" dirty="0"/>
              <a:t>Legg til sjekker om personen er under end viss alder eller over en viss alder.</a:t>
            </a:r>
          </a:p>
          <a:p>
            <a:pPr lvl="1"/>
            <a:r>
              <a:rPr lang="nb-NO" sz="2400" dirty="0"/>
              <a:t>Kanskje kan dere også sjekke om personen er en student.</a:t>
            </a:r>
          </a:p>
          <a:p>
            <a:r>
              <a:rPr lang="nb-NO" sz="2400" dirty="0"/>
              <a:t>Disse kan dere gjerne levere i mappen deres!</a:t>
            </a:r>
          </a:p>
          <a:p>
            <a:r>
              <a:rPr lang="nb-NO" sz="2600" dirty="0"/>
              <a:t>Etterpå kan dere gå på </a:t>
            </a:r>
            <a:r>
              <a:rPr lang="nb-NO" sz="2600" b="1" dirty="0">
                <a:solidFill>
                  <a:srgbClr val="00B050"/>
                </a:solidFill>
              </a:rPr>
              <a:t>w3schools</a:t>
            </a:r>
            <a:r>
              <a:rPr lang="nb-NO" sz="2600" dirty="0"/>
              <a:t> å jobbe videre med </a:t>
            </a:r>
            <a:r>
              <a:rPr lang="nb-NO" sz="2600" dirty="0">
                <a:solidFill>
                  <a:srgbClr val="FFC000"/>
                </a:solidFill>
              </a:rPr>
              <a:t>JavaScript</a:t>
            </a:r>
            <a:r>
              <a:rPr lang="nb-NO" sz="2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4120284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tint val="99000"/>
                <a:shade val="96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C3935CB6-B0E3-44A7-AB37-996D901F73A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14F706-6D4A-43ED-A401-89B0F04D38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BFB610-1CB5-4521-9896-280D912B9968}">
  <ds:schemaRefs>
    <ds:schemaRef ds:uri="http://www.w3.org/XML/1998/namespace"/>
    <ds:schemaRef ds:uri="b1227f61-4b01-4b9a-91d2-bad7f317c526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39e6ce4-1b24-43f0-ac3a-8251e17daeb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0416AAC-CFFE-43A1-8CBD-B2A881ECD0E5}"/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1716</TotalTime>
  <Words>1294</Words>
  <Application>Microsoft Office PowerPoint</Application>
  <PresentationFormat>Widescreen</PresentationFormat>
  <Paragraphs>215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Consolas</vt:lpstr>
      <vt:lpstr>Corbel</vt:lpstr>
      <vt:lpstr>Wingdings</vt:lpstr>
      <vt:lpstr>Banded</vt:lpstr>
      <vt:lpstr>Funksjoner og sammenligninger</vt:lpstr>
      <vt:lpstr>TRE temaer i dag</vt:lpstr>
      <vt:lpstr>Litt repetisjon!</vt:lpstr>
      <vt:lpstr>JavaScript</vt:lpstr>
      <vt:lpstr>Konsollvinduet</vt:lpstr>
      <vt:lpstr>Redigere HTML elementer</vt:lpstr>
      <vt:lpstr>Variabler</vt:lpstr>
      <vt:lpstr>Nå: noe nytt! Funksjoner</vt:lpstr>
      <vt:lpstr>Hva er en funksjon?</vt:lpstr>
      <vt:lpstr>Hvorfor bruke funksjoner?</vt:lpstr>
      <vt:lpstr>La oss lage en enkel funksjon!</vt:lpstr>
      <vt:lpstr>Dette lagde vi:</vt:lpstr>
      <vt:lpstr>La oss lage en funksjon SOM SIER HEI TIL NAVNET DITT!</vt:lpstr>
      <vt:lpstr>Dette lagde vi:</vt:lpstr>
      <vt:lpstr>NÅ, Nye nøkkelord: if  og  else</vt:lpstr>
      <vt:lpstr>Hvordan sjekker vi om navnet er der?</vt:lpstr>
      <vt:lpstr>Dette lagde vi:</vt:lpstr>
      <vt:lpstr>Sammenligninger</vt:lpstr>
      <vt:lpstr>INLOGGING MED BRUKERNAVN OG PASSORD</vt:lpstr>
      <vt:lpstr>Dette er veldig usikkert, men dette lagde vi:</vt:lpstr>
      <vt:lpstr>Dette er veldig usikkert, men dette lagde vi:</vt:lpstr>
      <vt:lpstr>Datatyper</vt:lpstr>
      <vt:lpstr>Enkel kalkulator</vt:lpstr>
      <vt:lpstr>PowerPoint Presentation</vt:lpstr>
      <vt:lpstr>PowerPoint Presentation</vt:lpstr>
      <vt:lpstr>oppgaver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Funksjoner og sammenligninger</dc:title>
  <dc:creator>Sindre Vatland Hvidsten</dc:creator>
  <cp:lastModifiedBy>Sindre Vatland Hvidsten</cp:lastModifiedBy>
  <cp:revision>2</cp:revision>
  <dcterms:created xsi:type="dcterms:W3CDTF">2023-11-06T08:39:28Z</dcterms:created>
  <dcterms:modified xsi:type="dcterms:W3CDTF">2023-11-08T13:01:34Z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</Properties>
</file>