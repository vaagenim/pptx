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3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x="9144000" cy="5143500" type="screen16x9"/>
  <p:notesSz cx="6858000" cy="9144000"/>
  <p:embeddedFontLst>
    <p:embeddedFont>
      <p:font typeface="Lato" panose="020F0502020204030203" pitchFamily="34" charset="0"/>
      <p:regular r:id="rId40"/>
      <p:bold r:id="rId41"/>
    </p:embeddedFont>
    <p:embeddedFont>
      <p:font typeface="Raleway" pitchFamily="2" charset="77"/>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78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3.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6336fe65a8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6336fe65a8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6336fe65a8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6336fe65a8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6336fe65a8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6336fe65a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6336fe65a8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6336fe65a8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6336fe65a8_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6336fe65a8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6336fe65a8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6336fe65a8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6336fe65a8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6336fe65a8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6336fe65a8_0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6336fe65a8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6336fe65a8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6336fe65a8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6336fe65a8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6336fe65a8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6336fe65a8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6336fe65a8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6336fe65a8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6336fe65a8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6336fe65a8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6336fe65a8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6336fe65a8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6336fe65a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6336fe65a8_0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6336fe65a8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6336fe65a8_0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6336fe65a8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6336fe65a8_0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6336fe65a8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6336fe65a8_0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6336fe65a8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6336fe65a8_0_2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6336fe65a8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6336fe65a8_0_2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6336fe65a8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6336fe65a8_0_2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6336fe65a8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6336fe65a8_0_2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6336fe65a8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6336fe65a8_0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6336fe65a8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6336fe65a8_0_2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6336fe65a8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6336fe65a8_0_2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6336fe65a8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6336fe65a8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6336fe65a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6336fe65a8_2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6336fe65a8_2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336fe65a8_2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336fe65a8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6336fe65a8_2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6336fe65a8_2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6336fe65a8_2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6336fe65a8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6336fe65a8_2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6336fe65a8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6336fe65a8_2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6336fe65a8_2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6336fe65a8_2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6336fe65a8_2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n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n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1600"/>
              </a:spcBef>
              <a:spcAft>
                <a:spcPts val="0"/>
              </a:spcAft>
              <a:buClr>
                <a:schemeClr val="lt1"/>
              </a:buClr>
              <a:buSzPts val="1100"/>
              <a:buChar char="○"/>
              <a:defRPr>
                <a:solidFill>
                  <a:schemeClr val="lt1"/>
                </a:solidFill>
              </a:defRPr>
            </a:lvl2pPr>
            <a:lvl3pPr marL="1371600" lvl="2" indent="-298450">
              <a:spcBef>
                <a:spcPts val="1600"/>
              </a:spcBef>
              <a:spcAft>
                <a:spcPts val="0"/>
              </a:spcAft>
              <a:buClr>
                <a:schemeClr val="lt1"/>
              </a:buClr>
              <a:buSzPts val="1100"/>
              <a:buChar char="■"/>
              <a:defRPr>
                <a:solidFill>
                  <a:schemeClr val="lt1"/>
                </a:solidFill>
              </a:defRPr>
            </a:lvl3pPr>
            <a:lvl4pPr marL="1828800" lvl="3" indent="-298450">
              <a:spcBef>
                <a:spcPts val="1600"/>
              </a:spcBef>
              <a:spcAft>
                <a:spcPts val="0"/>
              </a:spcAft>
              <a:buClr>
                <a:schemeClr val="lt1"/>
              </a:buClr>
              <a:buSzPts val="1100"/>
              <a:buChar char="●"/>
              <a:defRPr>
                <a:solidFill>
                  <a:schemeClr val="lt1"/>
                </a:solidFill>
              </a:defRPr>
            </a:lvl4pPr>
            <a:lvl5pPr marL="2286000" lvl="4" indent="-298450">
              <a:spcBef>
                <a:spcPts val="1600"/>
              </a:spcBef>
              <a:spcAft>
                <a:spcPts val="0"/>
              </a:spcAft>
              <a:buClr>
                <a:schemeClr val="lt1"/>
              </a:buClr>
              <a:buSzPts val="1100"/>
              <a:buChar char="○"/>
              <a:defRPr>
                <a:solidFill>
                  <a:schemeClr val="lt1"/>
                </a:solidFill>
              </a:defRPr>
            </a:lvl5pPr>
            <a:lvl6pPr marL="2743200" lvl="5" indent="-298450">
              <a:spcBef>
                <a:spcPts val="1600"/>
              </a:spcBef>
              <a:spcAft>
                <a:spcPts val="0"/>
              </a:spcAft>
              <a:buClr>
                <a:schemeClr val="lt1"/>
              </a:buClr>
              <a:buSzPts val="1100"/>
              <a:buChar char="■"/>
              <a:defRPr>
                <a:solidFill>
                  <a:schemeClr val="lt1"/>
                </a:solidFill>
              </a:defRPr>
            </a:lvl6pPr>
            <a:lvl7pPr marL="3200400" lvl="6" indent="-298450">
              <a:spcBef>
                <a:spcPts val="1600"/>
              </a:spcBef>
              <a:spcAft>
                <a:spcPts val="0"/>
              </a:spcAft>
              <a:buClr>
                <a:schemeClr val="lt1"/>
              </a:buClr>
              <a:buSzPts val="1100"/>
              <a:buChar char="●"/>
              <a:defRPr>
                <a:solidFill>
                  <a:schemeClr val="lt1"/>
                </a:solidFill>
              </a:defRPr>
            </a:lvl7pPr>
            <a:lvl8pPr marL="3657600" lvl="7" indent="-298450">
              <a:spcBef>
                <a:spcPts val="1600"/>
              </a:spcBef>
              <a:spcAft>
                <a:spcPts val="0"/>
              </a:spcAft>
              <a:buClr>
                <a:schemeClr val="lt1"/>
              </a:buClr>
              <a:buSzPts val="1100"/>
              <a:buChar char="○"/>
              <a:defRPr>
                <a:solidFill>
                  <a:schemeClr val="lt1"/>
                </a:solidFill>
              </a:defRPr>
            </a:lvl8pPr>
            <a:lvl9pPr marL="4114800" lvl="8" indent="-298450">
              <a:spcBef>
                <a:spcPts val="1600"/>
              </a:spcBef>
              <a:spcAft>
                <a:spcPts val="160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n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sym typeface="Raleway"/>
              </a:defRPr>
            </a:lvl1pPr>
            <a:lvl2pPr lvl="1">
              <a:spcBef>
                <a:spcPts val="0"/>
              </a:spcBef>
              <a:spcAft>
                <a:spcPts val="0"/>
              </a:spcAft>
              <a:buSzPts val="2800"/>
              <a:buFont typeface="Raleway"/>
              <a:buNone/>
              <a:defRPr sz="2800" b="1">
                <a:latin typeface="Raleway"/>
                <a:ea typeface="Raleway"/>
                <a:cs typeface="Raleway"/>
                <a:sym typeface="Raleway"/>
              </a:defRPr>
            </a:lvl2pPr>
            <a:lvl3pPr lvl="2">
              <a:spcBef>
                <a:spcPts val="0"/>
              </a:spcBef>
              <a:spcAft>
                <a:spcPts val="0"/>
              </a:spcAft>
              <a:buSzPts val="2800"/>
              <a:buFont typeface="Raleway"/>
              <a:buNone/>
              <a:defRPr sz="2800" b="1">
                <a:latin typeface="Raleway"/>
                <a:ea typeface="Raleway"/>
                <a:cs typeface="Raleway"/>
                <a:sym typeface="Raleway"/>
              </a:defRPr>
            </a:lvl3pPr>
            <a:lvl4pPr lvl="3">
              <a:spcBef>
                <a:spcPts val="0"/>
              </a:spcBef>
              <a:spcAft>
                <a:spcPts val="0"/>
              </a:spcAft>
              <a:buSzPts val="2800"/>
              <a:buFont typeface="Raleway"/>
              <a:buNone/>
              <a:defRPr sz="2800" b="1">
                <a:latin typeface="Raleway"/>
                <a:ea typeface="Raleway"/>
                <a:cs typeface="Raleway"/>
                <a:sym typeface="Raleway"/>
              </a:defRPr>
            </a:lvl4pPr>
            <a:lvl5pPr lvl="4">
              <a:spcBef>
                <a:spcPts val="0"/>
              </a:spcBef>
              <a:spcAft>
                <a:spcPts val="0"/>
              </a:spcAft>
              <a:buSzPts val="2800"/>
              <a:buFont typeface="Raleway"/>
              <a:buNone/>
              <a:defRPr sz="2800" b="1">
                <a:latin typeface="Raleway"/>
                <a:ea typeface="Raleway"/>
                <a:cs typeface="Raleway"/>
                <a:sym typeface="Raleway"/>
              </a:defRPr>
            </a:lvl5pPr>
            <a:lvl6pPr lvl="5">
              <a:spcBef>
                <a:spcPts val="0"/>
              </a:spcBef>
              <a:spcAft>
                <a:spcPts val="0"/>
              </a:spcAft>
              <a:buSzPts val="2800"/>
              <a:buFont typeface="Raleway"/>
              <a:buNone/>
              <a:defRPr sz="2800" b="1">
                <a:latin typeface="Raleway"/>
                <a:ea typeface="Raleway"/>
                <a:cs typeface="Raleway"/>
                <a:sym typeface="Raleway"/>
              </a:defRPr>
            </a:lvl6pPr>
            <a:lvl7pPr lvl="6">
              <a:spcBef>
                <a:spcPts val="0"/>
              </a:spcBef>
              <a:spcAft>
                <a:spcPts val="0"/>
              </a:spcAft>
              <a:buSzPts val="2800"/>
              <a:buFont typeface="Raleway"/>
              <a:buNone/>
              <a:defRPr sz="2800" b="1">
                <a:latin typeface="Raleway"/>
                <a:ea typeface="Raleway"/>
                <a:cs typeface="Raleway"/>
                <a:sym typeface="Raleway"/>
              </a:defRPr>
            </a:lvl7pPr>
            <a:lvl8pPr lvl="7">
              <a:spcBef>
                <a:spcPts val="0"/>
              </a:spcBef>
              <a:spcAft>
                <a:spcPts val="0"/>
              </a:spcAft>
              <a:buSzPts val="2800"/>
              <a:buFont typeface="Raleway"/>
              <a:buNone/>
              <a:defRPr sz="2800" b="1">
                <a:latin typeface="Raleway"/>
                <a:ea typeface="Raleway"/>
                <a:cs typeface="Raleway"/>
                <a:sym typeface="Raleway"/>
              </a:defRPr>
            </a:lvl8pPr>
            <a:lvl9pPr lvl="8">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n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www.youtube.com/watch?v=4nN7JIewXqg" TargetMode="External"/><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www.youtube.com/watch?v=tBnxOWv3XyI" TargetMode="External"/><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www.youtube.com/watch?v=dZcszUj5szA"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 Id="rId4" Type="http://schemas.openxmlformats.org/officeDocument/2006/relationships/image" Target="../media/image31.jpg"/></Relationships>
</file>

<file path=ppt/slides/_rels/slide27.xml.rels><?xml version="1.0" encoding="UTF-8" standalone="yes"?>
<Relationships xmlns="http://schemas.openxmlformats.org/package/2006/relationships"><Relationship Id="rId3" Type="http://schemas.openxmlformats.org/officeDocument/2006/relationships/hyperlink" Target="http://www.youtube.com/watch?v=tg4wr_M64Go" TargetMode="External"/><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32.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Drift av Lokalnettverk</a:t>
            </a:r>
            <a:endParaRPr/>
          </a:p>
        </p:txBody>
      </p:sp>
      <p:sp>
        <p:nvSpPr>
          <p:cNvPr id="3" name="Subtitle 2">
            <a:extLst>
              <a:ext uri="{FF2B5EF4-FFF2-40B4-BE49-F238E27FC236}">
                <a16:creationId xmlns:a16="http://schemas.microsoft.com/office/drawing/2014/main" id="{C987F517-18A3-9192-B1A4-72700A0950EB}"/>
              </a:ext>
            </a:extLst>
          </p:cNvPr>
          <p:cNvSpPr>
            <a:spLocks noGrp="1"/>
          </p:cNvSpPr>
          <p:nvPr>
            <p:ph type="subTitle" idx="1"/>
          </p:nvPr>
        </p:nvSpPr>
        <p:spPr/>
        <p:txBody>
          <a:bodyPr/>
          <a:lstStyle/>
          <a:p>
            <a:endParaRPr lang="en-NO"/>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Viktigste forskjellene på trådpar og koaks</a:t>
            </a:r>
            <a:endParaRPr/>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94" name="Google Shape;94;p14"/>
          <p:cNvPicPr preferRelativeResize="0"/>
          <p:nvPr/>
        </p:nvPicPr>
        <p:blipFill>
          <a:blip r:embed="rId3">
            <a:alphaModFix/>
          </a:blip>
          <a:stretch>
            <a:fillRect/>
          </a:stretch>
        </p:blipFill>
        <p:spPr>
          <a:xfrm>
            <a:off x="571500" y="2114050"/>
            <a:ext cx="4000500" cy="2190750"/>
          </a:xfrm>
          <a:prstGeom prst="rect">
            <a:avLst/>
          </a:prstGeom>
          <a:noFill/>
          <a:ln>
            <a:noFill/>
          </a:ln>
        </p:spPr>
      </p:pic>
      <p:pic>
        <p:nvPicPr>
          <p:cNvPr id="95" name="Google Shape;95;p14"/>
          <p:cNvPicPr preferRelativeResize="0"/>
          <p:nvPr/>
        </p:nvPicPr>
        <p:blipFill>
          <a:blip r:embed="rId4">
            <a:alphaModFix/>
          </a:blip>
          <a:stretch>
            <a:fillRect/>
          </a:stretch>
        </p:blipFill>
        <p:spPr>
          <a:xfrm>
            <a:off x="4572000" y="1939675"/>
            <a:ext cx="4000500" cy="2400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Interferens</a:t>
            </a:r>
            <a:endParaRPr/>
          </a:p>
        </p:txBody>
      </p:sp>
      <p:pic>
        <p:nvPicPr>
          <p:cNvPr id="101" name="Google Shape;101;p15"/>
          <p:cNvPicPr preferRelativeResize="0"/>
          <p:nvPr/>
        </p:nvPicPr>
        <p:blipFill>
          <a:blip r:embed="rId3">
            <a:alphaModFix/>
          </a:blip>
          <a:stretch>
            <a:fillRect/>
          </a:stretch>
        </p:blipFill>
        <p:spPr>
          <a:xfrm>
            <a:off x="1158088" y="2019400"/>
            <a:ext cx="6902075" cy="2380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16"/>
          <p:cNvPicPr preferRelativeResize="0"/>
          <p:nvPr/>
        </p:nvPicPr>
        <p:blipFill>
          <a:blip r:embed="rId3">
            <a:alphaModFix/>
          </a:blip>
          <a:stretch>
            <a:fillRect/>
          </a:stretch>
        </p:blipFill>
        <p:spPr>
          <a:xfrm>
            <a:off x="1891375" y="1817563"/>
            <a:ext cx="5361250" cy="2783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10"/>
        <p:cNvGrpSpPr/>
        <p:nvPr/>
      </p:nvGrpSpPr>
      <p:grpSpPr>
        <a:xfrm>
          <a:off x="0" y="0"/>
          <a:ext cx="0" cy="0"/>
          <a:chOff x="0" y="0"/>
          <a:chExt cx="0" cy="0"/>
        </a:xfrm>
      </p:grpSpPr>
      <p:pic>
        <p:nvPicPr>
          <p:cNvPr id="111" name="Google Shape;111;p17" descr="This video shows two identical white noise files being output together. As one channel is delayed at increasing sample delays, we see and hear the comb filtering effect. &#10;&#10;This video accompanies Rob's Audio Engineering Society  lecture 'Hearing is Believing?' which can be downloaded from &#10;http://www.robtoulson.rt60.co.uk/rt_docs/RT_HearingIsBelieving_AESCambs2012.pdf" title="Comb filtering audio example by Dr Rob Toulson">
            <a:hlinkClick r:id="rId3"/>
          </p:cNvPr>
          <p:cNvPicPr preferRelativeResize="0"/>
          <p:nvPr/>
        </p:nvPicPr>
        <p:blipFill>
          <a:blip r:embed="rId4">
            <a:alphaModFix/>
          </a:blip>
          <a:stretch>
            <a:fillRect/>
          </a:stretch>
        </p:blipFill>
        <p:spPr>
          <a:xfrm>
            <a:off x="1143001" y="0"/>
            <a:ext cx="685799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Fordeler med koaksialkabler</a:t>
            </a:r>
            <a:endParaRPr/>
          </a:p>
        </p:txBody>
      </p:sp>
      <p:sp>
        <p:nvSpPr>
          <p:cNvPr id="117" name="Google Shape;117;p1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Går over lengre strekniker</a:t>
            </a:r>
            <a:endParaRPr/>
          </a:p>
          <a:p>
            <a:pPr marL="0" lvl="0" indent="0" algn="l" rtl="0">
              <a:spcBef>
                <a:spcPts val="1600"/>
              </a:spcBef>
              <a:spcAft>
                <a:spcPts val="0"/>
              </a:spcAft>
              <a:buNone/>
            </a:pPr>
            <a:r>
              <a:rPr lang="no"/>
              <a:t>Sterkere signal</a:t>
            </a:r>
            <a:endParaRPr/>
          </a:p>
          <a:p>
            <a:pPr marL="0" lvl="0" indent="0" algn="l" rtl="0">
              <a:spcBef>
                <a:spcPts val="1600"/>
              </a:spcBef>
              <a:spcAft>
                <a:spcPts val="0"/>
              </a:spcAft>
              <a:buNone/>
            </a:pPr>
            <a:r>
              <a:rPr lang="no"/>
              <a:t>Sikrere skjolding</a:t>
            </a:r>
            <a:endParaRPr/>
          </a:p>
          <a:p>
            <a:pPr marL="0" lvl="0" indent="0" algn="l" rtl="0">
              <a:spcBef>
                <a:spcPts val="1600"/>
              </a:spcBef>
              <a:spcAft>
                <a:spcPts val="0"/>
              </a:spcAft>
              <a:buNone/>
            </a:pPr>
            <a:r>
              <a:rPr lang="no"/>
              <a:t>Mindre kryss-snakk, tydeligere signal</a:t>
            </a:r>
            <a:endParaRPr/>
          </a:p>
          <a:p>
            <a:pPr marL="0" lvl="0" indent="0" algn="l" rtl="0">
              <a:spcBef>
                <a:spcPts val="1600"/>
              </a:spcBef>
              <a:spcAft>
                <a:spcPts val="1600"/>
              </a:spcAft>
              <a:buNone/>
            </a:pPr>
            <a:r>
              <a:rPr lang="no"/>
              <a:t>Ikke enkel å avlytte (Network TAP)</a:t>
            </a:r>
            <a:endParaRPr/>
          </a:p>
        </p:txBody>
      </p:sp>
      <p:pic>
        <p:nvPicPr>
          <p:cNvPr id="118" name="Google Shape;118;p18"/>
          <p:cNvPicPr preferRelativeResize="0"/>
          <p:nvPr/>
        </p:nvPicPr>
        <p:blipFill>
          <a:blip r:embed="rId3">
            <a:alphaModFix/>
          </a:blip>
          <a:stretch>
            <a:fillRect/>
          </a:stretch>
        </p:blipFill>
        <p:spPr>
          <a:xfrm>
            <a:off x="3857400" y="1953700"/>
            <a:ext cx="5178850" cy="2336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Fordeler med trådparkabler</a:t>
            </a:r>
            <a:endParaRPr/>
          </a:p>
        </p:txBody>
      </p:sp>
      <p:sp>
        <p:nvSpPr>
          <p:cNvPr id="124" name="Google Shape;124;p1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Rimeligere</a:t>
            </a:r>
            <a:endParaRPr/>
          </a:p>
          <a:p>
            <a:pPr marL="0" lvl="0" indent="0" algn="l" rtl="0">
              <a:spcBef>
                <a:spcPts val="1600"/>
              </a:spcBef>
              <a:spcAft>
                <a:spcPts val="0"/>
              </a:spcAft>
              <a:buNone/>
            </a:pPr>
            <a:r>
              <a:rPr lang="no"/>
              <a:t>Mindre i størrelse, lettere å montere</a:t>
            </a:r>
            <a:endParaRPr/>
          </a:p>
          <a:p>
            <a:pPr marL="0" lvl="0" indent="0" algn="l" rtl="0">
              <a:spcBef>
                <a:spcPts val="1600"/>
              </a:spcBef>
              <a:spcAft>
                <a:spcPts val="0"/>
              </a:spcAft>
              <a:buNone/>
            </a:pPr>
            <a:r>
              <a:rPr lang="no"/>
              <a:t>Bruker en utbredt RJ45 konnektor</a:t>
            </a:r>
            <a:endParaRPr/>
          </a:p>
          <a:p>
            <a:pPr marL="0" lvl="0" indent="0" algn="l" rtl="0">
              <a:spcBef>
                <a:spcPts val="1600"/>
              </a:spcBef>
              <a:spcAft>
                <a:spcPts val="1600"/>
              </a:spcAft>
              <a:buNone/>
            </a:pPr>
            <a:r>
              <a:rPr lang="no"/>
              <a:t>= Ideelt hjemmebruk</a:t>
            </a:r>
            <a:endParaRPr/>
          </a:p>
        </p:txBody>
      </p:sp>
      <p:pic>
        <p:nvPicPr>
          <p:cNvPr id="125" name="Google Shape;125;p19"/>
          <p:cNvPicPr preferRelativeResize="0"/>
          <p:nvPr/>
        </p:nvPicPr>
        <p:blipFill>
          <a:blip r:embed="rId3">
            <a:alphaModFix/>
          </a:blip>
          <a:stretch>
            <a:fillRect/>
          </a:stretch>
        </p:blipFill>
        <p:spPr>
          <a:xfrm>
            <a:off x="3820725" y="1853845"/>
            <a:ext cx="4934325" cy="2865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Mer om trådparkabler</a:t>
            </a:r>
            <a:endParaRPr/>
          </a:p>
        </p:txBody>
      </p:sp>
      <p:sp>
        <p:nvSpPr>
          <p:cNvPr id="131" name="Google Shape;131;p2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STP, UTP og (FTP) er typer skjolding</a:t>
            </a:r>
            <a:endParaRPr/>
          </a:p>
          <a:p>
            <a:pPr marL="0" lvl="0" indent="0" algn="l" rtl="0">
              <a:spcBef>
                <a:spcPts val="1600"/>
              </a:spcBef>
              <a:spcAft>
                <a:spcPts val="0"/>
              </a:spcAft>
              <a:buNone/>
            </a:pPr>
            <a:r>
              <a:rPr lang="no"/>
              <a:t>Unshielded Twisted Pair</a:t>
            </a:r>
            <a:endParaRPr/>
          </a:p>
          <a:p>
            <a:pPr marL="0" lvl="0" indent="0" algn="l" rtl="0">
              <a:spcBef>
                <a:spcPts val="1600"/>
              </a:spcBef>
              <a:spcAft>
                <a:spcPts val="0"/>
              </a:spcAft>
              <a:buNone/>
            </a:pPr>
            <a:r>
              <a:rPr lang="no"/>
              <a:t>Foil Twisted Pair</a:t>
            </a:r>
            <a:endParaRPr/>
          </a:p>
          <a:p>
            <a:pPr marL="0" lvl="0" indent="0" algn="l" rtl="0">
              <a:spcBef>
                <a:spcPts val="1600"/>
              </a:spcBef>
              <a:spcAft>
                <a:spcPts val="0"/>
              </a:spcAft>
              <a:buNone/>
            </a:pPr>
            <a:r>
              <a:rPr lang="no"/>
              <a:t>Screened Twisted Pair</a:t>
            </a:r>
            <a:endParaRPr/>
          </a:p>
          <a:p>
            <a:pPr marL="0" lvl="0" indent="0" algn="l" rtl="0">
              <a:spcBef>
                <a:spcPts val="1600"/>
              </a:spcBef>
              <a:spcAft>
                <a:spcPts val="1600"/>
              </a:spcAft>
              <a:buNone/>
            </a:pPr>
            <a:r>
              <a:rPr lang="no"/>
              <a:t>Reduserer interferens og kryss-snakk</a:t>
            </a:r>
            <a:endParaRPr/>
          </a:p>
        </p:txBody>
      </p:sp>
      <p:pic>
        <p:nvPicPr>
          <p:cNvPr id="132" name="Google Shape;132;p20"/>
          <p:cNvPicPr preferRelativeResize="0"/>
          <p:nvPr/>
        </p:nvPicPr>
        <p:blipFill>
          <a:blip r:embed="rId3">
            <a:alphaModFix/>
          </a:blip>
          <a:stretch>
            <a:fillRect/>
          </a:stretch>
        </p:blipFill>
        <p:spPr>
          <a:xfrm>
            <a:off x="5952900" y="1726463"/>
            <a:ext cx="2381250" cy="2581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6"/>
        <p:cNvGrpSpPr/>
        <p:nvPr/>
      </p:nvGrpSpPr>
      <p:grpSpPr>
        <a:xfrm>
          <a:off x="0" y="0"/>
          <a:ext cx="0" cy="0"/>
          <a:chOff x="0" y="0"/>
          <a:chExt cx="0" cy="0"/>
        </a:xfrm>
      </p:grpSpPr>
      <p:pic>
        <p:nvPicPr>
          <p:cNvPr id="137" name="Google Shape;137;p21" descr="Cable Basics is back again with some info regarding Shielded Cabling. Get info on UTP, STP, and FTP cable varieties.&#10;&#10;Find more information on Twisted Pair Cable here: https://en.wikipedia.org/wiki/Twisted_pair&#10;&#10;Purchase Bulk Cable: https://www.computercablestore.com/Bulk-Cable-1&#10;&#10;--------------------------------------------------------------&#10;&#10;Follow us:&#10;&#10;Facebook  - https://www.facebook.com/ComputerCableStore/&#10;&#10;Instagram - https://www.instagram.com/computercablestore/&#10;&#10;Twitter       - https://www.twitter.com/computercable/" title="Cable Basics - Shielding For Twisted Pair Cables">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Hvilket skjolding bør brukes her?</a:t>
            </a:r>
            <a:endParaRPr/>
          </a:p>
        </p:txBody>
      </p:sp>
      <p:sp>
        <p:nvSpPr>
          <p:cNvPr id="143" name="Google Shape;143;p2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44" name="Google Shape;144;p22"/>
          <p:cNvPicPr preferRelativeResize="0"/>
          <p:nvPr/>
        </p:nvPicPr>
        <p:blipFill>
          <a:blip r:embed="rId3">
            <a:alphaModFix/>
          </a:blip>
          <a:stretch>
            <a:fillRect/>
          </a:stretch>
        </p:blipFill>
        <p:spPr>
          <a:xfrm>
            <a:off x="2236103" y="1947125"/>
            <a:ext cx="4671800" cy="3117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Vanligste typer trådparkabler</a:t>
            </a:r>
            <a:endParaRPr/>
          </a:p>
        </p:txBody>
      </p:sp>
      <p:sp>
        <p:nvSpPr>
          <p:cNvPr id="150" name="Google Shape;150;p2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no"/>
              <a:t>Målt utifra dataoverføringshastighet, </a:t>
            </a:r>
            <a:r>
              <a:rPr lang="no" b="1" u="sng"/>
              <a:t>ved 100 meters avstand.</a:t>
            </a:r>
            <a:endParaRPr b="1" u="sng"/>
          </a:p>
        </p:txBody>
      </p:sp>
      <p:pic>
        <p:nvPicPr>
          <p:cNvPr id="151" name="Google Shape;151;p23"/>
          <p:cNvPicPr preferRelativeResize="0"/>
          <p:nvPr/>
        </p:nvPicPr>
        <p:blipFill>
          <a:blip r:embed="rId3">
            <a:alphaModFix/>
          </a:blip>
          <a:stretch>
            <a:fillRect/>
          </a:stretch>
        </p:blipFill>
        <p:spPr>
          <a:xfrm>
            <a:off x="1143000" y="2571750"/>
            <a:ext cx="6858000" cy="1905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Hastigheter i praksis</a:t>
            </a:r>
            <a:endParaRPr/>
          </a:p>
        </p:txBody>
      </p:sp>
      <p:sp>
        <p:nvSpPr>
          <p:cNvPr id="157" name="Google Shape;157;p2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Cat 5 - 100mbps</a:t>
            </a:r>
            <a:endParaRPr/>
          </a:p>
          <a:p>
            <a:pPr marL="0" lvl="0" indent="0" algn="l" rtl="0">
              <a:spcBef>
                <a:spcPts val="1600"/>
              </a:spcBef>
              <a:spcAft>
                <a:spcPts val="0"/>
              </a:spcAft>
              <a:buNone/>
            </a:pPr>
            <a:r>
              <a:rPr lang="no"/>
              <a:t>Cat5e - 1.000mbps</a:t>
            </a:r>
            <a:endParaRPr/>
          </a:p>
          <a:p>
            <a:pPr marL="0" lvl="0" indent="0" algn="l" rtl="0">
              <a:spcBef>
                <a:spcPts val="1600"/>
              </a:spcBef>
              <a:spcAft>
                <a:spcPts val="0"/>
              </a:spcAft>
              <a:buNone/>
            </a:pPr>
            <a:r>
              <a:rPr lang="no"/>
              <a:t>Cat6 - </a:t>
            </a:r>
            <a:r>
              <a:rPr lang="no" b="1"/>
              <a:t>1.000mbps inntil 100 meter, </a:t>
            </a:r>
            <a:r>
              <a:rPr lang="no"/>
              <a:t>10.000 inntil 55 meter.</a:t>
            </a:r>
            <a:r>
              <a:rPr lang="no" b="1"/>
              <a:t> </a:t>
            </a:r>
            <a:endParaRPr b="1"/>
          </a:p>
          <a:p>
            <a:pPr marL="0" lvl="0" indent="0" algn="l" rtl="0">
              <a:spcBef>
                <a:spcPts val="1600"/>
              </a:spcBef>
              <a:spcAft>
                <a:spcPts val="0"/>
              </a:spcAft>
              <a:buNone/>
            </a:pPr>
            <a:r>
              <a:rPr lang="no"/>
              <a:t>Cat6a - 10.000 inntil 100 meter</a:t>
            </a:r>
            <a:endParaRPr/>
          </a:p>
          <a:p>
            <a:pPr marL="0" lvl="0" indent="0" algn="l" rtl="0">
              <a:spcBef>
                <a:spcPts val="1600"/>
              </a:spcBef>
              <a:spcAft>
                <a:spcPts val="1600"/>
              </a:spcAft>
              <a:buNone/>
            </a:pPr>
            <a:r>
              <a:rPr lang="no"/>
              <a:t>Cat7 - 10.000mbps inntil 100 meter,</a:t>
            </a:r>
            <a:r>
              <a:rPr lang="no" b="1"/>
              <a:t> </a:t>
            </a:r>
            <a:r>
              <a:rPr lang="no"/>
              <a:t>40.000mbps inntil 50 meter, </a:t>
            </a:r>
            <a:r>
              <a:rPr lang="no" b="1"/>
              <a:t>100.000mbps inntil 15 meter</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Fiberoptisk kabel</a:t>
            </a:r>
            <a:endParaRPr/>
          </a:p>
        </p:txBody>
      </p:sp>
      <p:pic>
        <p:nvPicPr>
          <p:cNvPr id="163" name="Google Shape;163;p25"/>
          <p:cNvPicPr preferRelativeResize="0"/>
          <p:nvPr/>
        </p:nvPicPr>
        <p:blipFill>
          <a:blip r:embed="rId3">
            <a:alphaModFix/>
          </a:blip>
          <a:stretch>
            <a:fillRect/>
          </a:stretch>
        </p:blipFill>
        <p:spPr>
          <a:xfrm>
            <a:off x="2190750" y="1959763"/>
            <a:ext cx="4762500" cy="2962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Fiberoptisk = kabel som sender lys</a:t>
            </a:r>
            <a:endParaRPr/>
          </a:p>
        </p:txBody>
      </p:sp>
      <p:pic>
        <p:nvPicPr>
          <p:cNvPr id="169" name="Google Shape;169;p26"/>
          <p:cNvPicPr preferRelativeResize="0"/>
          <p:nvPr/>
        </p:nvPicPr>
        <p:blipFill>
          <a:blip r:embed="rId3">
            <a:alphaModFix/>
          </a:blip>
          <a:stretch>
            <a:fillRect/>
          </a:stretch>
        </p:blipFill>
        <p:spPr>
          <a:xfrm>
            <a:off x="3143250" y="2042600"/>
            <a:ext cx="2857500" cy="2333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Stor kjerne = båndbredde, smalere = hastighet</a:t>
            </a:r>
            <a:endParaRPr/>
          </a:p>
        </p:txBody>
      </p:sp>
      <p:pic>
        <p:nvPicPr>
          <p:cNvPr id="175" name="Google Shape;175;p27"/>
          <p:cNvPicPr preferRelativeResize="0"/>
          <p:nvPr/>
        </p:nvPicPr>
        <p:blipFill>
          <a:blip r:embed="rId3">
            <a:alphaModFix/>
          </a:blip>
          <a:stretch>
            <a:fillRect/>
          </a:stretch>
        </p:blipFill>
        <p:spPr>
          <a:xfrm>
            <a:off x="2160563" y="1908976"/>
            <a:ext cx="4822875" cy="2810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Fordeler/Ulemper</a:t>
            </a:r>
            <a:endParaRPr/>
          </a:p>
          <a:p>
            <a:pPr marL="0" lvl="0" indent="0" algn="l" rtl="0">
              <a:spcBef>
                <a:spcPts val="0"/>
              </a:spcBef>
              <a:spcAft>
                <a:spcPts val="0"/>
              </a:spcAft>
              <a:buNone/>
            </a:pPr>
            <a:endParaRPr/>
          </a:p>
        </p:txBody>
      </p:sp>
      <p:sp>
        <p:nvSpPr>
          <p:cNvPr id="181" name="Google Shape;181;p2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Step Index: Større fare for refraksjon,</a:t>
            </a:r>
            <a:br>
              <a:rPr lang="no"/>
            </a:br>
            <a:r>
              <a:rPr lang="no"/>
              <a:t>lys kan “sette” seg fast, eller sprette i revers</a:t>
            </a:r>
            <a:endParaRPr/>
          </a:p>
          <a:p>
            <a:pPr marL="0" lvl="0" indent="0" algn="l" rtl="0">
              <a:spcBef>
                <a:spcPts val="1600"/>
              </a:spcBef>
              <a:spcAft>
                <a:spcPts val="0"/>
              </a:spcAft>
              <a:buNone/>
            </a:pPr>
            <a:r>
              <a:rPr lang="no"/>
              <a:t>Graded index: Litt mer kontroll over lyset,</a:t>
            </a:r>
            <a:br>
              <a:rPr lang="no"/>
            </a:br>
            <a:r>
              <a:rPr lang="no"/>
              <a:t>mer driftsikker enn Step index.</a:t>
            </a:r>
            <a:br>
              <a:rPr lang="no"/>
            </a:br>
            <a:r>
              <a:rPr lang="no"/>
              <a:t> + støtter flere “farger” lys</a:t>
            </a:r>
            <a:endParaRPr/>
          </a:p>
          <a:p>
            <a:pPr marL="0" lvl="0" indent="0" algn="l" rtl="0">
              <a:spcBef>
                <a:spcPts val="1600"/>
              </a:spcBef>
              <a:spcAft>
                <a:spcPts val="1600"/>
              </a:spcAft>
              <a:buNone/>
            </a:pPr>
            <a:r>
              <a:rPr lang="no"/>
              <a:t>Mono/Single-mode: Lyset står ikke i fare for</a:t>
            </a:r>
            <a:br>
              <a:rPr lang="no"/>
            </a:br>
            <a:r>
              <a:rPr lang="no"/>
              <a:t>å sprette for sporadisk slik at den vender feil</a:t>
            </a:r>
            <a:br>
              <a:rPr lang="no"/>
            </a:br>
            <a:r>
              <a:rPr lang="no"/>
              <a:t>vei. Lynrask (bokstavelig talt lysets hastighet),</a:t>
            </a:r>
            <a:br>
              <a:rPr lang="no"/>
            </a:br>
            <a:r>
              <a:rPr lang="no"/>
              <a:t>men ikke plass til mange “farger.”</a:t>
            </a:r>
            <a:endParaRPr/>
          </a:p>
        </p:txBody>
      </p:sp>
      <p:pic>
        <p:nvPicPr>
          <p:cNvPr id="182" name="Google Shape;182;p28"/>
          <p:cNvPicPr preferRelativeResize="0"/>
          <p:nvPr/>
        </p:nvPicPr>
        <p:blipFill>
          <a:blip r:embed="rId3">
            <a:alphaModFix/>
          </a:blip>
          <a:stretch>
            <a:fillRect/>
          </a:stretch>
        </p:blipFill>
        <p:spPr>
          <a:xfrm>
            <a:off x="4222300" y="1128250"/>
            <a:ext cx="4323351" cy="3648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µm = mikrometer</a:t>
            </a:r>
            <a:endParaRPr/>
          </a:p>
        </p:txBody>
      </p:sp>
      <p:pic>
        <p:nvPicPr>
          <p:cNvPr id="188" name="Google Shape;188;p29"/>
          <p:cNvPicPr preferRelativeResize="0"/>
          <p:nvPr/>
        </p:nvPicPr>
        <p:blipFill>
          <a:blip r:embed="rId3">
            <a:alphaModFix/>
          </a:blip>
          <a:stretch>
            <a:fillRect/>
          </a:stretch>
        </p:blipFill>
        <p:spPr>
          <a:xfrm>
            <a:off x="313450" y="2027997"/>
            <a:ext cx="5950274" cy="1831375"/>
          </a:xfrm>
          <a:prstGeom prst="rect">
            <a:avLst/>
          </a:prstGeom>
          <a:noFill/>
          <a:ln>
            <a:noFill/>
          </a:ln>
        </p:spPr>
      </p:pic>
      <p:pic>
        <p:nvPicPr>
          <p:cNvPr id="189" name="Google Shape;189;p29"/>
          <p:cNvPicPr preferRelativeResize="0"/>
          <p:nvPr/>
        </p:nvPicPr>
        <p:blipFill>
          <a:blip r:embed="rId4">
            <a:alphaModFix/>
          </a:blip>
          <a:stretch>
            <a:fillRect/>
          </a:stretch>
        </p:blipFill>
        <p:spPr>
          <a:xfrm>
            <a:off x="6416124" y="2006250"/>
            <a:ext cx="2575476" cy="217050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Må behandles forsiktig</a:t>
            </a:r>
            <a:endParaRPr/>
          </a:p>
        </p:txBody>
      </p:sp>
      <p:pic>
        <p:nvPicPr>
          <p:cNvPr id="195" name="Google Shape;195;p30"/>
          <p:cNvPicPr preferRelativeResize="0"/>
          <p:nvPr/>
        </p:nvPicPr>
        <p:blipFill>
          <a:blip r:embed="rId3">
            <a:alphaModFix/>
          </a:blip>
          <a:stretch>
            <a:fillRect/>
          </a:stretch>
        </p:blipFill>
        <p:spPr>
          <a:xfrm>
            <a:off x="557050" y="1911175"/>
            <a:ext cx="8029875" cy="2727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Formfaktor - luftsirkulasjon er viktig!!</a:t>
            </a:r>
            <a:endParaRPr/>
          </a:p>
        </p:txBody>
      </p:sp>
      <p:pic>
        <p:nvPicPr>
          <p:cNvPr id="201" name="Google Shape;201;p31"/>
          <p:cNvPicPr preferRelativeResize="0"/>
          <p:nvPr/>
        </p:nvPicPr>
        <p:blipFill>
          <a:blip r:embed="rId3">
            <a:alphaModFix/>
          </a:blip>
          <a:stretch>
            <a:fillRect/>
          </a:stretch>
        </p:blipFill>
        <p:spPr>
          <a:xfrm>
            <a:off x="618075" y="1953375"/>
            <a:ext cx="2703600" cy="1013850"/>
          </a:xfrm>
          <a:prstGeom prst="rect">
            <a:avLst/>
          </a:prstGeom>
          <a:noFill/>
          <a:ln>
            <a:noFill/>
          </a:ln>
        </p:spPr>
      </p:pic>
      <p:pic>
        <p:nvPicPr>
          <p:cNvPr id="202" name="Google Shape;202;p31"/>
          <p:cNvPicPr preferRelativeResize="0"/>
          <p:nvPr/>
        </p:nvPicPr>
        <p:blipFill>
          <a:blip r:embed="rId4">
            <a:alphaModFix/>
          </a:blip>
          <a:stretch>
            <a:fillRect/>
          </a:stretch>
        </p:blipFill>
        <p:spPr>
          <a:xfrm>
            <a:off x="4988577" y="2051876"/>
            <a:ext cx="3741998" cy="2806475"/>
          </a:xfrm>
          <a:prstGeom prst="rect">
            <a:avLst/>
          </a:prstGeom>
          <a:noFill/>
          <a:ln>
            <a:noFill/>
          </a:ln>
        </p:spPr>
      </p:pic>
      <p:pic>
        <p:nvPicPr>
          <p:cNvPr id="203" name="Google Shape;203;p31"/>
          <p:cNvPicPr preferRelativeResize="0"/>
          <p:nvPr/>
        </p:nvPicPr>
        <p:blipFill>
          <a:blip r:embed="rId5">
            <a:alphaModFix/>
          </a:blip>
          <a:stretch>
            <a:fillRect/>
          </a:stretch>
        </p:blipFill>
        <p:spPr>
          <a:xfrm>
            <a:off x="2750850" y="2823550"/>
            <a:ext cx="2064875" cy="2064875"/>
          </a:xfrm>
          <a:prstGeom prst="rect">
            <a:avLst/>
          </a:prstGeom>
          <a:noFill/>
          <a:ln>
            <a:noFill/>
          </a:ln>
        </p:spPr>
      </p:pic>
      <p:pic>
        <p:nvPicPr>
          <p:cNvPr id="204" name="Google Shape;204;p31"/>
          <p:cNvPicPr preferRelativeResize="0"/>
          <p:nvPr/>
        </p:nvPicPr>
        <p:blipFill>
          <a:blip r:embed="rId6">
            <a:alphaModFix/>
          </a:blip>
          <a:stretch>
            <a:fillRect/>
          </a:stretch>
        </p:blipFill>
        <p:spPr>
          <a:xfrm>
            <a:off x="581925" y="3489950"/>
            <a:ext cx="2099101" cy="1398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Busser</a:t>
            </a:r>
            <a:endParaRPr/>
          </a:p>
        </p:txBody>
      </p:sp>
      <p:sp>
        <p:nvSpPr>
          <p:cNvPr id="210" name="Google Shape;210;p3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Sender data mellom enhetene </a:t>
            </a:r>
            <a:br>
              <a:rPr lang="no"/>
            </a:br>
            <a:r>
              <a:rPr lang="no"/>
              <a:t>i en eller flere datamaskiner!</a:t>
            </a:r>
            <a:endParaRPr/>
          </a:p>
          <a:p>
            <a:pPr marL="0" lvl="0" indent="0" algn="l" rtl="0">
              <a:spcBef>
                <a:spcPts val="1600"/>
              </a:spcBef>
              <a:spcAft>
                <a:spcPts val="0"/>
              </a:spcAft>
              <a:buNone/>
            </a:pPr>
            <a:r>
              <a:rPr lang="no"/>
              <a:t>Parallell: sender flere bits data</a:t>
            </a:r>
            <a:br>
              <a:rPr lang="no"/>
            </a:br>
            <a:r>
              <a:rPr lang="no"/>
              <a:t>om gangen (parallelt)</a:t>
            </a:r>
            <a:endParaRPr/>
          </a:p>
          <a:p>
            <a:pPr marL="0" lvl="0" indent="0" algn="l" rtl="0">
              <a:spcBef>
                <a:spcPts val="1600"/>
              </a:spcBef>
              <a:spcAft>
                <a:spcPts val="1600"/>
              </a:spcAft>
              <a:buNone/>
            </a:pPr>
            <a:r>
              <a:rPr lang="no"/>
              <a:t>Seriell: sender en bit om gangen.</a:t>
            </a:r>
            <a:br>
              <a:rPr lang="no"/>
            </a:br>
            <a:r>
              <a:rPr lang="no"/>
              <a:t>Rimeligere, men tregere</a:t>
            </a:r>
            <a:endParaRPr/>
          </a:p>
        </p:txBody>
      </p:sp>
      <p:pic>
        <p:nvPicPr>
          <p:cNvPr id="211" name="Google Shape;211;p32"/>
          <p:cNvPicPr preferRelativeResize="0"/>
          <p:nvPr/>
        </p:nvPicPr>
        <p:blipFill>
          <a:blip r:embed="rId3">
            <a:alphaModFix/>
          </a:blip>
          <a:stretch>
            <a:fillRect/>
          </a:stretch>
        </p:blipFill>
        <p:spPr>
          <a:xfrm>
            <a:off x="3160100" y="2078875"/>
            <a:ext cx="5840250" cy="2032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216" name="Google Shape;216;p33"/>
          <p:cNvPicPr preferRelativeResize="0"/>
          <p:nvPr/>
        </p:nvPicPr>
        <p:blipFill>
          <a:blip r:embed="rId3">
            <a:alphaModFix/>
          </a:blip>
          <a:stretch>
            <a:fillRect/>
          </a:stretch>
        </p:blipFill>
        <p:spPr>
          <a:xfrm>
            <a:off x="3057525" y="1290100"/>
            <a:ext cx="3028950" cy="3238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PCIe = Båndet mellom data og ekspansjonskort</a:t>
            </a:r>
            <a:endParaRPr/>
          </a:p>
        </p:txBody>
      </p:sp>
      <p:pic>
        <p:nvPicPr>
          <p:cNvPr id="222" name="Google Shape;222;p34"/>
          <p:cNvPicPr preferRelativeResize="0"/>
          <p:nvPr/>
        </p:nvPicPr>
        <p:blipFill>
          <a:blip r:embed="rId3">
            <a:alphaModFix/>
          </a:blip>
          <a:stretch>
            <a:fillRect/>
          </a:stretch>
        </p:blipFill>
        <p:spPr>
          <a:xfrm>
            <a:off x="93600" y="1853838"/>
            <a:ext cx="6780700" cy="2487825"/>
          </a:xfrm>
          <a:prstGeom prst="rect">
            <a:avLst/>
          </a:prstGeom>
          <a:noFill/>
          <a:ln>
            <a:noFill/>
          </a:ln>
        </p:spPr>
      </p:pic>
      <p:pic>
        <p:nvPicPr>
          <p:cNvPr id="223" name="Google Shape;223;p34"/>
          <p:cNvPicPr preferRelativeResize="0"/>
          <p:nvPr/>
        </p:nvPicPr>
        <p:blipFill rotWithShape="1">
          <a:blip r:embed="rId4">
            <a:alphaModFix/>
          </a:blip>
          <a:srcRect l="17877"/>
          <a:stretch/>
        </p:blipFill>
        <p:spPr>
          <a:xfrm>
            <a:off x="6831200" y="1925675"/>
            <a:ext cx="2163325" cy="1915425"/>
          </a:xfrm>
          <a:prstGeom prst="rect">
            <a:avLst/>
          </a:prstGeom>
          <a:noFill/>
          <a:ln>
            <a:noFill/>
          </a:ln>
        </p:spPr>
      </p:pic>
      <p:sp>
        <p:nvSpPr>
          <p:cNvPr id="224" name="Google Shape;224;p34"/>
          <p:cNvSpPr txBox="1"/>
          <p:nvPr/>
        </p:nvSpPr>
        <p:spPr>
          <a:xfrm>
            <a:off x="6831200" y="3841100"/>
            <a:ext cx="1896300" cy="60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no" b="1">
                <a:latin typeface="Lato"/>
                <a:ea typeface="Lato"/>
                <a:cs typeface="Lato"/>
                <a:sym typeface="Lato"/>
              </a:rPr>
              <a:t>Bakoverkompatibelt!</a:t>
            </a:r>
            <a:endParaRPr b="1">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35"/>
          <p:cNvPicPr preferRelativeResize="0"/>
          <p:nvPr/>
        </p:nvPicPr>
        <p:blipFill rotWithShape="1">
          <a:blip r:embed="rId3">
            <a:alphaModFix/>
          </a:blip>
          <a:srcRect b="6585"/>
          <a:stretch/>
        </p:blipFill>
        <p:spPr>
          <a:xfrm>
            <a:off x="4756438" y="310450"/>
            <a:ext cx="3362777" cy="2139472"/>
          </a:xfrm>
          <a:prstGeom prst="rect">
            <a:avLst/>
          </a:prstGeom>
          <a:noFill/>
          <a:ln>
            <a:noFill/>
          </a:ln>
        </p:spPr>
      </p:pic>
      <p:pic>
        <p:nvPicPr>
          <p:cNvPr id="230" name="Google Shape;230;p35"/>
          <p:cNvPicPr preferRelativeResize="0"/>
          <p:nvPr/>
        </p:nvPicPr>
        <p:blipFill>
          <a:blip r:embed="rId4">
            <a:alphaModFix/>
          </a:blip>
          <a:stretch>
            <a:fillRect/>
          </a:stretch>
        </p:blipFill>
        <p:spPr>
          <a:xfrm>
            <a:off x="252950" y="712888"/>
            <a:ext cx="4048125" cy="4048125"/>
          </a:xfrm>
          <a:prstGeom prst="rect">
            <a:avLst/>
          </a:prstGeom>
          <a:noFill/>
          <a:ln>
            <a:noFill/>
          </a:ln>
        </p:spPr>
      </p:pic>
      <p:pic>
        <p:nvPicPr>
          <p:cNvPr id="231" name="Google Shape;231;p35"/>
          <p:cNvPicPr preferRelativeResize="0"/>
          <p:nvPr/>
        </p:nvPicPr>
        <p:blipFill rotWithShape="1">
          <a:blip r:embed="rId5">
            <a:alphaModFix/>
          </a:blip>
          <a:srcRect t="8223"/>
          <a:stretch/>
        </p:blipFill>
        <p:spPr>
          <a:xfrm>
            <a:off x="4629425" y="2571750"/>
            <a:ext cx="3616800" cy="2489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CPU - hva gjør den?</a:t>
            </a:r>
            <a:endParaRPr/>
          </a:p>
        </p:txBody>
      </p:sp>
      <p:sp>
        <p:nvSpPr>
          <p:cNvPr id="237" name="Google Shape;237;p36"/>
          <p:cNvSpPr txBox="1">
            <a:spLocks noGrp="1"/>
          </p:cNvSpPr>
          <p:nvPr>
            <p:ph type="body" idx="1"/>
          </p:nvPr>
        </p:nvSpPr>
        <p:spPr>
          <a:xfrm>
            <a:off x="729450" y="2078875"/>
            <a:ext cx="7688700" cy="273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“Hjernen” til en datamaskin</a:t>
            </a:r>
            <a:endParaRPr/>
          </a:p>
          <a:p>
            <a:pPr marL="0" lvl="0" indent="0" algn="l" rtl="0">
              <a:spcBef>
                <a:spcPts val="1600"/>
              </a:spcBef>
              <a:spcAft>
                <a:spcPts val="0"/>
              </a:spcAft>
              <a:buNone/>
            </a:pPr>
            <a:r>
              <a:rPr lang="no"/>
              <a:t>Den leser og gir instrukser til “resten av kroppen”, via bussene</a:t>
            </a:r>
            <a:endParaRPr/>
          </a:p>
          <a:p>
            <a:pPr marL="0" lvl="0" indent="0" algn="l" rtl="0">
              <a:spcBef>
                <a:spcPts val="1600"/>
              </a:spcBef>
              <a:spcAft>
                <a:spcPts val="0"/>
              </a:spcAft>
              <a:buNone/>
            </a:pPr>
            <a:r>
              <a:rPr lang="no"/>
              <a:t>Aritmetiske oppgaver (Matte og logikk)</a:t>
            </a:r>
            <a:endParaRPr/>
          </a:p>
          <a:p>
            <a:pPr marL="0" lvl="0" indent="0" algn="l" rtl="0">
              <a:spcBef>
                <a:spcPts val="1600"/>
              </a:spcBef>
              <a:spcAft>
                <a:spcPts val="0"/>
              </a:spcAft>
              <a:buNone/>
            </a:pPr>
            <a:r>
              <a:rPr lang="no"/>
              <a:t>Lese og skrive til RAM (“aktive oppgaver”)</a:t>
            </a:r>
            <a:endParaRPr/>
          </a:p>
          <a:p>
            <a:pPr marL="0" lvl="0" indent="0" algn="l" rtl="0">
              <a:spcBef>
                <a:spcPts val="1600"/>
              </a:spcBef>
              <a:spcAft>
                <a:spcPts val="0"/>
              </a:spcAft>
              <a:buNone/>
            </a:pPr>
            <a:r>
              <a:rPr lang="no"/>
              <a:t>Enkelte CPU’er medfølger en APU (Integrert grafikkort)</a:t>
            </a:r>
            <a:endParaRPr/>
          </a:p>
          <a:p>
            <a:pPr marL="0" lvl="0" indent="0" algn="l" rtl="0">
              <a:spcBef>
                <a:spcPts val="1600"/>
              </a:spcBef>
              <a:spcAft>
                <a:spcPts val="1600"/>
              </a:spcAft>
              <a:buNone/>
            </a:pPr>
            <a:r>
              <a:rPr lang="no"/>
              <a:t>Det er ikke uvanlig at en prosessor kan lese mer enn 1.000.000.000 operasjoner i sekundet</a:t>
            </a:r>
            <a:endParaRPr/>
          </a:p>
        </p:txBody>
      </p:sp>
      <p:pic>
        <p:nvPicPr>
          <p:cNvPr id="238" name="Google Shape;238;p36"/>
          <p:cNvPicPr preferRelativeResize="0"/>
          <p:nvPr/>
        </p:nvPicPr>
        <p:blipFill>
          <a:blip r:embed="rId3">
            <a:alphaModFix/>
          </a:blip>
          <a:stretch>
            <a:fillRect/>
          </a:stretch>
        </p:blipFill>
        <p:spPr>
          <a:xfrm>
            <a:off x="5290675" y="1796400"/>
            <a:ext cx="3680025" cy="2456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Viktig å tenke på - CPU</a:t>
            </a:r>
            <a:endParaRPr/>
          </a:p>
        </p:txBody>
      </p:sp>
      <p:sp>
        <p:nvSpPr>
          <p:cNvPr id="244" name="Google Shape;244;p3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En CPU består av flere kjerner og tråder, disse kan drive sine egne instrukser uavhengig av hverandre, hver tråd har sin egen frekvens (GHz), som avgjør hvor mange operasjoner i sekundet den takler.</a:t>
            </a:r>
            <a:endParaRPr/>
          </a:p>
          <a:p>
            <a:pPr marL="0" lvl="0" indent="0" algn="l" rtl="0">
              <a:spcBef>
                <a:spcPts val="1600"/>
              </a:spcBef>
              <a:spcAft>
                <a:spcPts val="0"/>
              </a:spcAft>
              <a:buNone/>
            </a:pPr>
            <a:r>
              <a:rPr lang="no" b="1"/>
              <a:t>OBS. </a:t>
            </a:r>
            <a:r>
              <a:rPr lang="no"/>
              <a:t>Det er opp til de som lager programmet en kjører som bestemmer hvilke tråder som skal gjøre hva.</a:t>
            </a:r>
            <a:endParaRPr/>
          </a:p>
          <a:p>
            <a:pPr marL="0" lvl="0" indent="0" algn="l" rtl="0">
              <a:spcBef>
                <a:spcPts val="1600"/>
              </a:spcBef>
              <a:spcAft>
                <a:spcPts val="0"/>
              </a:spcAft>
              <a:buNone/>
            </a:pPr>
            <a:r>
              <a:rPr lang="no"/>
              <a:t>Multitrådde applikasjoner: Flere tråder = bedre ytelse, selv om de kan ha lavere frekvens. Eks. kreative applikasjoner</a:t>
            </a:r>
            <a:endParaRPr/>
          </a:p>
          <a:p>
            <a:pPr marL="0" lvl="0" indent="0" algn="l" rtl="0">
              <a:spcBef>
                <a:spcPts val="1600"/>
              </a:spcBef>
              <a:spcAft>
                <a:spcPts val="1600"/>
              </a:spcAft>
              <a:buNone/>
            </a:pPr>
            <a:r>
              <a:rPr lang="no"/>
              <a:t>Ikke så multitrådde applikasjoner: Høyere frekvens = bedre ytelse. “Single-threaded” applications benytter seg kun av en tråd. Mange moderne prosessorer har gjerne en spesifikasjon; “Turbo clock”, hvor en tilpasser frekvensen til mindre antall kjerner, for å kompensere for varme. Eks. spill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48"/>
        <p:cNvGrpSpPr/>
        <p:nvPr/>
      </p:nvGrpSpPr>
      <p:grpSpPr>
        <a:xfrm>
          <a:off x="0" y="0"/>
          <a:ext cx="0" cy="0"/>
          <a:chOff x="0" y="0"/>
          <a:chExt cx="0" cy="0"/>
        </a:xfrm>
      </p:grpSpPr>
      <p:pic>
        <p:nvPicPr>
          <p:cNvPr id="249" name="Google Shape;249;p38" descr="DRAM, SRAM, cache, NAND, flash... So many words, and all of them mean memory, but there are some big differences between them!&#10;&#10;Click to learn about how Hotspot Shield helps you browse more anonymously: http://www.hotspotshield.com/lp/anonymous_browsing_elite_trial_amb6/?utm_source=linus&amp;utm_medium=video&amp;utm_campaign=hideip" title="Different Kinds of Memory as Fast As Possible">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53"/>
        <p:cNvGrpSpPr/>
        <p:nvPr/>
      </p:nvGrpSpPr>
      <p:grpSpPr>
        <a:xfrm>
          <a:off x="0" y="0"/>
          <a:ext cx="0" cy="0"/>
          <a:chOff x="0" y="0"/>
          <a:chExt cx="0" cy="0"/>
        </a:xfrm>
      </p:grpSpPr>
      <p:pic>
        <p:nvPicPr>
          <p:cNvPr id="254" name="Google Shape;254;p39" descr="Subscribe for more - http://bit.ly/SubUnbox&#10;My Twitter - http://twitter.com/unboxtherapy&#10;Thanks to WD for sponsoring this video - http://bit.ly/1FGAZBO&#10;&#10;WD Black (Fastest client drive that WD ships)&#10;Learn more: http://bit.ly/1h8yrAQ&#10;Buy now: http://bit.ly/1P4vXkP&#10;&#10;&#10;WD Blue (PC Hard Drives)&#10;Learn more: http://bit.ly/1KJBcTZ  &#10;Buy now: http://bit.ly/1LNzpzk&#10;&#10;&#10;WD Red (NAS Hard Drives)&#10;Learn more: http://bit.ly/1O6zOP7&#10;Buy now: http://bit.ly/1jw8rBg&#10;&#10;&#10;WD Purple (Surveillance Hard Drives)&#10;Learn more: http://bit.ly/1MZ7spI&#10;Buy now: http://bit.ly/1FBQzPq&#10;&#10;FOLLOW ME IN THESE PLACES FOR UPDATES&#10;Twitter - http://twitter.com/unboxtherapy&#10;Facebook - http://facebook.com/lewis.hilsenteger&#10;Instagram - http://instagram.com/unboxtherapy&#10;Google Plus - http://bit.ly/1auEeak" title="Don't Buy The Wrong Hard Drive!">
            <a:hlinkClick r:id="rId3"/>
          </p:cNvPr>
          <p:cNvPicPr preferRelativeResize="0"/>
          <p:nvPr/>
        </p:nvPicPr>
        <p:blipFill>
          <a:blip r:embed="rId4">
            <a:alphaModFix/>
          </a:blip>
          <a:stretch>
            <a:fillRect/>
          </a:stretch>
        </p:blipFill>
        <p:spPr>
          <a:xfrm>
            <a:off x="1143000" y="0"/>
            <a:ext cx="6858000"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“Server” Disk</a:t>
            </a:r>
            <a:endParaRPr/>
          </a:p>
        </p:txBody>
      </p:sp>
      <p:sp>
        <p:nvSpPr>
          <p:cNvPr id="260" name="Google Shape;260;p4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Black - Laget for hastighet, langt ifra en SSD</a:t>
            </a:r>
            <a:endParaRPr/>
          </a:p>
          <a:p>
            <a:pPr marL="0" lvl="0" indent="0" algn="l" rtl="0">
              <a:spcBef>
                <a:spcPts val="1600"/>
              </a:spcBef>
              <a:spcAft>
                <a:spcPts val="0"/>
              </a:spcAft>
              <a:buNone/>
            </a:pPr>
            <a:r>
              <a:rPr lang="no"/>
              <a:t>Blue - Laget for sporadisk bruk, ikke anbefalt å la stå spinnende over lengre perioder</a:t>
            </a:r>
            <a:endParaRPr/>
          </a:p>
          <a:p>
            <a:pPr marL="0" lvl="0" indent="0" algn="l" rtl="0">
              <a:spcBef>
                <a:spcPts val="1600"/>
              </a:spcBef>
              <a:spcAft>
                <a:spcPts val="0"/>
              </a:spcAft>
              <a:buNone/>
            </a:pPr>
            <a:r>
              <a:rPr lang="no"/>
              <a:t>RED - Laget for å stå på 24/7/365 - høy toleranse!!</a:t>
            </a:r>
            <a:endParaRPr/>
          </a:p>
          <a:p>
            <a:pPr marL="0" lvl="0" indent="0" algn="l" rtl="0">
              <a:spcBef>
                <a:spcPts val="1600"/>
              </a:spcBef>
              <a:spcAft>
                <a:spcPts val="1600"/>
              </a:spcAft>
              <a:buNone/>
            </a:pPr>
            <a:r>
              <a:rPr lang="no"/>
              <a:t>Purple - Laget for å bli skrevet til 24/7/365, i tillegg til å stå på 24/7/365</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Rackserver</a:t>
            </a:r>
            <a:endParaRPr/>
          </a:p>
        </p:txBody>
      </p:sp>
      <p:sp>
        <p:nvSpPr>
          <p:cNvPr id="266" name="Google Shape;266;p4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Server laget for å ta plass i et Rack skap. Et rack</a:t>
            </a:r>
            <a:br>
              <a:rPr lang="no"/>
            </a:br>
            <a:r>
              <a:rPr lang="no"/>
              <a:t>bruker standardstørrelser i høyden, hvor minste</a:t>
            </a:r>
            <a:br>
              <a:rPr lang="no"/>
            </a:br>
            <a:r>
              <a:rPr lang="no"/>
              <a:t>mål er 1U.</a:t>
            </a:r>
            <a:endParaRPr/>
          </a:p>
          <a:p>
            <a:pPr marL="0" lvl="0" indent="0" algn="l" rtl="0">
              <a:spcBef>
                <a:spcPts val="1600"/>
              </a:spcBef>
              <a:spcAft>
                <a:spcPts val="0"/>
              </a:spcAft>
              <a:buNone/>
            </a:pPr>
            <a:r>
              <a:rPr lang="no"/>
              <a:t>Fordelen med et rack er at man kan</a:t>
            </a:r>
            <a:br>
              <a:rPr lang="no"/>
            </a:br>
            <a:r>
              <a:rPr lang="no"/>
              <a:t>enkelt koble seg til flere stasjoner som utfører</a:t>
            </a:r>
            <a:br>
              <a:rPr lang="no"/>
            </a:br>
            <a:r>
              <a:rPr lang="no"/>
              <a:t>dedikerte oppgaver, men krever orden av</a:t>
            </a:r>
            <a:br>
              <a:rPr lang="no"/>
            </a:br>
            <a:r>
              <a:rPr lang="no"/>
              <a:t>nettverk, strømtilførsel osv.</a:t>
            </a:r>
            <a:endParaRPr/>
          </a:p>
          <a:p>
            <a:pPr marL="0" lvl="0" indent="0" algn="l" rtl="0">
              <a:spcBef>
                <a:spcPts val="1600"/>
              </a:spcBef>
              <a:spcAft>
                <a:spcPts val="1600"/>
              </a:spcAft>
              <a:buNone/>
            </a:pPr>
            <a:r>
              <a:rPr lang="no"/>
              <a:t>Ekspansjon og utvidelse.</a:t>
            </a:r>
            <a:endParaRPr/>
          </a:p>
        </p:txBody>
      </p:sp>
      <p:pic>
        <p:nvPicPr>
          <p:cNvPr id="267" name="Google Shape;267;p41"/>
          <p:cNvPicPr preferRelativeResize="0"/>
          <p:nvPr/>
        </p:nvPicPr>
        <p:blipFill rotWithShape="1">
          <a:blip r:embed="rId3">
            <a:alphaModFix/>
          </a:blip>
          <a:srcRect l="2922"/>
          <a:stretch/>
        </p:blipFill>
        <p:spPr>
          <a:xfrm>
            <a:off x="4262250" y="757875"/>
            <a:ext cx="4534601" cy="4062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Blade server - enkelt å vedlikeholde</a:t>
            </a:r>
            <a:endParaRPr/>
          </a:p>
        </p:txBody>
      </p:sp>
      <p:sp>
        <p:nvSpPr>
          <p:cNvPr id="273" name="Google Shape;273;p4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no"/>
              <a:t>Rett og slett en servermaskin optimisert til å ta minst mulig plass, for å minimere plassbruk og energibruk. I motsetning til en rackserver, er det null problem å skifte ut defekte maskiner eller utføre vedlikehold. Ofte diskløs, med “plug and play” til strømforsyning og nettverk når man skyver den inn.</a:t>
            </a:r>
            <a:endParaRPr/>
          </a:p>
        </p:txBody>
      </p:sp>
      <p:pic>
        <p:nvPicPr>
          <p:cNvPr id="274" name="Google Shape;274;p42"/>
          <p:cNvPicPr preferRelativeResize="0"/>
          <p:nvPr/>
        </p:nvPicPr>
        <p:blipFill>
          <a:blip r:embed="rId3">
            <a:alphaModFix/>
          </a:blip>
          <a:stretch>
            <a:fillRect/>
          </a:stretch>
        </p:blipFill>
        <p:spPr>
          <a:xfrm>
            <a:off x="2666000" y="2823550"/>
            <a:ext cx="3812000" cy="231995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pic>
        <p:nvPicPr>
          <p:cNvPr id="279" name="Google Shape;279;p43"/>
          <p:cNvPicPr preferRelativeResize="0"/>
          <p:nvPr/>
        </p:nvPicPr>
        <p:blipFill>
          <a:blip r:embed="rId3">
            <a:alphaModFix/>
          </a:blip>
          <a:stretch>
            <a:fillRect/>
          </a:stretch>
        </p:blipFill>
        <p:spPr>
          <a:xfrm>
            <a:off x="-475074" y="-27552"/>
            <a:ext cx="9826394" cy="5143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Diskløs maskin?</a:t>
            </a:r>
            <a:endParaRPr/>
          </a:p>
        </p:txBody>
      </p:sp>
      <p:sp>
        <p:nvSpPr>
          <p:cNvPr id="285" name="Google Shape;285;p4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Dataen blir lest fra ekstern maskin / server.</a:t>
            </a:r>
            <a:endParaRPr/>
          </a:p>
          <a:p>
            <a:pPr marL="0" lvl="0" indent="0" algn="l" rtl="0">
              <a:spcBef>
                <a:spcPts val="1600"/>
              </a:spcBef>
              <a:spcAft>
                <a:spcPts val="0"/>
              </a:spcAft>
              <a:buNone/>
            </a:pPr>
            <a:r>
              <a:rPr lang="no"/>
              <a:t>Fordelen med dette er at dataen er sikrere da den ikke fysisk kan “tas ut”, i tillegg til at dataen blir låst til brukeren, ikke maskinen. I tillegg kan maskinen enkelt skiftes ut, uten store konsekvenser, dersom den blir defekt eller stjålet.</a:t>
            </a:r>
            <a:endParaRPr/>
          </a:p>
          <a:p>
            <a:pPr marL="0" lvl="0" indent="0" algn="l" rtl="0">
              <a:spcBef>
                <a:spcPts val="1600"/>
              </a:spcBef>
              <a:spcAft>
                <a:spcPts val="1600"/>
              </a:spcAft>
              <a:buNone/>
            </a:pPr>
            <a:r>
              <a:rPr lang="no"/>
              <a:t>Linux er bygget under litt av samme prinsipp. /home/ mappen er alt som hører til brukeren, resten av mappen tilhører systemet. Man kan sette opp Linux til å lese /home/ av en minnepinne, derav er man ikke avhengig av å bruke samme maskin.</a:t>
            </a:r>
            <a:endParaRPr/>
          </a:p>
        </p:txBody>
      </p:sp>
      <p:pic>
        <p:nvPicPr>
          <p:cNvPr id="286" name="Google Shape;286;p44"/>
          <p:cNvPicPr preferRelativeResize="0"/>
          <p:nvPr/>
        </p:nvPicPr>
        <p:blipFill>
          <a:blip r:embed="rId3">
            <a:alphaModFix/>
          </a:blip>
          <a:stretch>
            <a:fillRect/>
          </a:stretch>
        </p:blipFill>
        <p:spPr>
          <a:xfrm>
            <a:off x="5474100" y="486497"/>
            <a:ext cx="2658775" cy="17943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Strømforsyning til server</a:t>
            </a:r>
            <a:endParaRPr/>
          </a:p>
        </p:txBody>
      </p:sp>
      <p:sp>
        <p:nvSpPr>
          <p:cNvPr id="292" name="Google Shape;292;p4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I motsetning til vanlig datamaskin, er strømforsyningen </a:t>
            </a:r>
            <a:br>
              <a:rPr lang="no"/>
            </a:br>
            <a:r>
              <a:rPr lang="no"/>
              <a:t>i en server på skinner, og ofte “hot-swappable”, det</a:t>
            </a:r>
            <a:br>
              <a:rPr lang="no"/>
            </a:br>
            <a:r>
              <a:rPr lang="no"/>
              <a:t>vil si at den kan enkelt skiftes ut.</a:t>
            </a:r>
            <a:endParaRPr/>
          </a:p>
          <a:p>
            <a:pPr marL="0" lvl="0" indent="0" algn="l" rtl="0">
              <a:spcBef>
                <a:spcPts val="1600"/>
              </a:spcBef>
              <a:spcAft>
                <a:spcPts val="0"/>
              </a:spcAft>
              <a:buNone/>
            </a:pPr>
            <a:r>
              <a:rPr lang="no"/>
              <a:t>Det forutsetter at serveren har flere strømforsyninger,</a:t>
            </a:r>
            <a:br>
              <a:rPr lang="no"/>
            </a:br>
            <a:r>
              <a:rPr lang="no"/>
              <a:t>og reduserer risiko for feil. På lik måte som en RAID</a:t>
            </a:r>
            <a:br>
              <a:rPr lang="no"/>
            </a:br>
            <a:r>
              <a:rPr lang="no"/>
              <a:t>løsning gjør det mulig å skifte ut defekte harddisker</a:t>
            </a:r>
            <a:endParaRPr/>
          </a:p>
          <a:p>
            <a:pPr marL="0" lvl="0" indent="0" algn="l" rtl="0">
              <a:spcBef>
                <a:spcPts val="1600"/>
              </a:spcBef>
              <a:spcAft>
                <a:spcPts val="1600"/>
              </a:spcAft>
              <a:buNone/>
            </a:pPr>
            <a:r>
              <a:rPr lang="no"/>
              <a:t>Viktig at man har mer Watt enn nødvendig, ettersom</a:t>
            </a:r>
            <a:br>
              <a:rPr lang="no"/>
            </a:br>
            <a:r>
              <a:rPr lang="no"/>
              <a:t>strømforsyninger kan bli mindre effektive over tid eller</a:t>
            </a:r>
            <a:br>
              <a:rPr lang="no"/>
            </a:br>
            <a:r>
              <a:rPr lang="no"/>
              <a:t>når den samler støv.</a:t>
            </a:r>
            <a:endParaRPr/>
          </a:p>
        </p:txBody>
      </p:sp>
      <p:pic>
        <p:nvPicPr>
          <p:cNvPr id="293" name="Google Shape;293;p45"/>
          <p:cNvPicPr preferRelativeResize="0"/>
          <p:nvPr/>
        </p:nvPicPr>
        <p:blipFill rotWithShape="1">
          <a:blip r:embed="rId3">
            <a:alphaModFix/>
          </a:blip>
          <a:srcRect l="7961" t="7594" b="16075"/>
          <a:stretch/>
        </p:blipFill>
        <p:spPr>
          <a:xfrm>
            <a:off x="4806175" y="2533325"/>
            <a:ext cx="4085225" cy="22611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Homogent nettverk - enkelt forklart</a:t>
            </a:r>
            <a:endParaRPr/>
          </a:p>
        </p:txBody>
      </p:sp>
      <p:sp>
        <p:nvSpPr>
          <p:cNvPr id="299" name="Google Shape;299;p4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o"/>
              <a:t>I et homogent nettverk så er konfigurasjonen til enhetene i nettverket veldig lik hverandre. Dette er til fordel dersom man må gjøre endringer på alle maskiner, ettersom man kan forvente samme resultat av hver enkelt handling på så og si alle maskiner.</a:t>
            </a:r>
            <a:endParaRPr/>
          </a:p>
          <a:p>
            <a:pPr marL="0" lvl="0" indent="0" algn="l" rtl="0">
              <a:spcBef>
                <a:spcPts val="1600"/>
              </a:spcBef>
              <a:spcAft>
                <a:spcPts val="1600"/>
              </a:spcAft>
              <a:buNone/>
            </a:pPr>
            <a:r>
              <a:rPr lang="no"/>
              <a:t>I andre ord, interkompabilitet blir ikke lenger et problem, f.eks. forskjellige grafikkort, som støtter ikke samme applikasjoner, eller oppfører seg annerledes enn andre.</a:t>
            </a:r>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9CA4F3D36C0645B224052DC06A9045" ma:contentTypeVersion="9" ma:contentTypeDescription="Create a new document." ma:contentTypeScope="" ma:versionID="5e2bb4fbb234664a9e963123cd91dad4">
  <xsd:schema xmlns:xsd="http://www.w3.org/2001/XMLSchema" xmlns:xs="http://www.w3.org/2001/XMLSchema" xmlns:p="http://schemas.microsoft.com/office/2006/metadata/properties" xmlns:ns2="0675fdb4-be9a-45d8-b51e-c805e05896f3" targetNamespace="http://schemas.microsoft.com/office/2006/metadata/properties" ma:root="true" ma:fieldsID="0c00363df6fe5b7a10baeaf53b4e465b" ns2:_="">
    <xsd:import namespace="0675fdb4-be9a-45d8-b51e-c805e05896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75fdb4-be9a-45d8-b51e-c805e05896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7bb5f2b-d4a0-4b54-bd97-63e1ab2bf35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675fdb4-be9a-45d8-b51e-c805e05896f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821AD26-E121-4689-BEFB-67C1BCEC8AA3}">
  <ds:schemaRefs>
    <ds:schemaRef ds:uri="http://schemas.microsoft.com/sharepoint/v3/contenttype/forms"/>
  </ds:schemaRefs>
</ds:datastoreItem>
</file>

<file path=customXml/itemProps2.xml><?xml version="1.0" encoding="utf-8"?>
<ds:datastoreItem xmlns:ds="http://schemas.openxmlformats.org/officeDocument/2006/customXml" ds:itemID="{5D812000-9FEC-40D6-A673-E8381B46531B}"/>
</file>

<file path=customXml/itemProps3.xml><?xml version="1.0" encoding="utf-8"?>
<ds:datastoreItem xmlns:ds="http://schemas.openxmlformats.org/officeDocument/2006/customXml" ds:itemID="{E3E2A00D-C8E6-4D3E-B09B-05DA64028AF6}">
  <ds:schemaRefs>
    <ds:schemaRef ds:uri="http://schemas.microsoft.com/office/2006/metadata/properties"/>
    <ds:schemaRef ds:uri="http://schemas.microsoft.com/office/infopath/2007/PartnerControls"/>
    <ds:schemaRef ds:uri="0675fdb4-be9a-45d8-b51e-c805e05896f3"/>
  </ds:schemaRefs>
</ds:datastoreItem>
</file>

<file path=docMetadata/LabelInfo.xml><?xml version="1.0" encoding="utf-8"?>
<clbl:labelList xmlns:clbl="http://schemas.microsoft.com/office/2020/mipLabelMetadata">
  <clbl:label id="{02af9dbb-aed9-4c75-94d9-8c097730bf57}" enabled="1" method="Standard" siteId="{026cbe1f-01c4-4698-a566-2fc43ebec731}" contentBits="0" removed="0"/>
</clbl:labelList>
</file>

<file path=docProps/app.xml><?xml version="1.0" encoding="utf-8"?>
<Properties xmlns="http://schemas.openxmlformats.org/officeDocument/2006/extended-properties" xmlns:vt="http://schemas.openxmlformats.org/officeDocument/2006/docPropsVTypes">
  <TotalTime>0</TotalTime>
  <Words>975</Words>
  <Application>Microsoft Macintosh PowerPoint</Application>
  <PresentationFormat>On-screen Show (16:9)</PresentationFormat>
  <Paragraphs>79</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Lato</vt:lpstr>
      <vt:lpstr>Raleway</vt:lpstr>
      <vt:lpstr>Arial</vt:lpstr>
      <vt:lpstr>Streamline</vt:lpstr>
      <vt:lpstr>Drift av Lokalnettverk</vt:lpstr>
      <vt:lpstr>Viktigste forskjellene på trådpar og koaks</vt:lpstr>
      <vt:lpstr>Interferens</vt:lpstr>
      <vt:lpstr>PowerPoint Presentation</vt:lpstr>
      <vt:lpstr>PowerPoint Presentation</vt:lpstr>
      <vt:lpstr>Fordeler med koaksialkabler</vt:lpstr>
      <vt:lpstr>Fordeler med trådparkabler</vt:lpstr>
      <vt:lpstr>Mer om trådparkabler</vt:lpstr>
      <vt:lpstr>PowerPoint Presentation</vt:lpstr>
      <vt:lpstr>Hvilket skjolding bør brukes her?</vt:lpstr>
      <vt:lpstr>Vanligste typer trådparkabler</vt:lpstr>
      <vt:lpstr>Hastigheter i praksis</vt:lpstr>
      <vt:lpstr>Fiberoptisk kabel</vt:lpstr>
      <vt:lpstr>Fiberoptisk = kabel som sender lys</vt:lpstr>
      <vt:lpstr>Stor kjerne = båndbredde, smalere = hastighet</vt:lpstr>
      <vt:lpstr>Fordeler/Ulemper </vt:lpstr>
      <vt:lpstr>µm = mikrometer</vt:lpstr>
      <vt:lpstr>Må behandles forsiktig</vt:lpstr>
      <vt:lpstr>Formfaktor - luftsirkulasjon er viktig!!</vt:lpstr>
      <vt:lpstr>Busser</vt:lpstr>
      <vt:lpstr>PowerPoint Presentation</vt:lpstr>
      <vt:lpstr>PCIe = Båndet mellom data og ekspansjonskort</vt:lpstr>
      <vt:lpstr>PowerPoint Presentation</vt:lpstr>
      <vt:lpstr>CPU - hva gjør den?</vt:lpstr>
      <vt:lpstr>Viktig å tenke på - CPU</vt:lpstr>
      <vt:lpstr>PowerPoint Presentation</vt:lpstr>
      <vt:lpstr>PowerPoint Presentation</vt:lpstr>
      <vt:lpstr>“Server” Disk</vt:lpstr>
      <vt:lpstr>Rackserver</vt:lpstr>
      <vt:lpstr>Blade server - enkelt å vedlikeholde</vt:lpstr>
      <vt:lpstr>PowerPoint Presentation</vt:lpstr>
      <vt:lpstr>Diskløs maskin?</vt:lpstr>
      <vt:lpstr>Strømforsyning til server</vt:lpstr>
      <vt:lpstr>Homogent nettverk - enkelt forklart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Sondre Grønås</cp:lastModifiedBy>
  <cp:revision>1</cp:revision>
  <dcterms:modified xsi:type="dcterms:W3CDTF">2026-08-31T11:11:23Z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0x0101000C9CA4F3D36C0645B224052DC06A9045</vt:lpwstr>
  </property>
  <property fmtid="{D5CDD505-2E9C-101B-9397-08002B2CF9AE}" pid="3" name="MediaServiceImageTags">
    <vt:lpwstr/>
  </property>
</Properties>
</file>