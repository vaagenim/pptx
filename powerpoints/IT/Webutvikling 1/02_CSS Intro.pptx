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43" r:id="rId4"/>
  </p:sldMasterIdLst>
  <p:sldIdLst>
    <p:sldId id="291" r:id="rId5"/>
    <p:sldId id="256" r:id="rId6"/>
    <p:sldId id="257" r:id="rId7"/>
    <p:sldId id="289" r:id="rId8"/>
    <p:sldId id="264" r:id="rId9"/>
    <p:sldId id="265" r:id="rId10"/>
    <p:sldId id="259" r:id="rId11"/>
    <p:sldId id="288" r:id="rId12"/>
    <p:sldId id="260" r:id="rId13"/>
    <p:sldId id="261" r:id="rId14"/>
    <p:sldId id="262" r:id="rId15"/>
    <p:sldId id="279" r:id="rId16"/>
    <p:sldId id="275" r:id="rId17"/>
    <p:sldId id="277" r:id="rId18"/>
    <p:sldId id="276" r:id="rId19"/>
    <p:sldId id="280" r:id="rId20"/>
    <p:sldId id="263" r:id="rId21"/>
    <p:sldId id="29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E84C22"/>
    <a:srgbClr val="D7BA7D"/>
    <a:srgbClr val="9CDCFE"/>
    <a:srgbClr val="D4D4D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C7D27B-FE1B-4A02-BD9B-EBB9894EE749}" v="1096" dt="2023-09-14T14:30:25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17F8AC-2CF4-47F6-89BD-FED3E3D39937}" type="doc">
      <dgm:prSet loTypeId="urn:microsoft.com/office/officeart/2005/8/layout/vList2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C722AFE-5742-4D2C-963E-74C99656560C}">
      <dgm:prSet/>
      <dgm:spPr/>
      <dgm:t>
        <a:bodyPr/>
        <a:lstStyle/>
        <a:p>
          <a:r>
            <a:rPr lang="nb-NO" dirty="0" err="1"/>
            <a:t>Inline</a:t>
          </a:r>
          <a:r>
            <a:rPr lang="nb-NO" dirty="0"/>
            <a:t> CSS</a:t>
          </a:r>
          <a:endParaRPr lang="en-US" dirty="0"/>
        </a:p>
      </dgm:t>
    </dgm:pt>
    <dgm:pt modelId="{37EC383F-AB7F-483B-8D9E-BCDB6E3B997A}" type="parTrans" cxnId="{A1048D2C-F2C0-4F66-B360-14B357BE41BF}">
      <dgm:prSet/>
      <dgm:spPr/>
      <dgm:t>
        <a:bodyPr/>
        <a:lstStyle/>
        <a:p>
          <a:endParaRPr lang="en-US"/>
        </a:p>
      </dgm:t>
    </dgm:pt>
    <dgm:pt modelId="{BA58BBA1-0B77-4C0F-AA9E-69DAE52B1E71}" type="sibTrans" cxnId="{A1048D2C-F2C0-4F66-B360-14B357BE41BF}">
      <dgm:prSet/>
      <dgm:spPr/>
      <dgm:t>
        <a:bodyPr/>
        <a:lstStyle/>
        <a:p>
          <a:endParaRPr lang="en-US"/>
        </a:p>
      </dgm:t>
    </dgm:pt>
    <dgm:pt modelId="{888A76CE-B3E0-45D9-A98D-C20748360890}">
      <dgm:prSet/>
      <dgm:spPr/>
      <dgm:t>
        <a:bodyPr/>
        <a:lstStyle/>
        <a:p>
          <a:r>
            <a:rPr lang="nb-NO"/>
            <a:t>Internal CSS</a:t>
          </a:r>
          <a:endParaRPr lang="en-US"/>
        </a:p>
      </dgm:t>
    </dgm:pt>
    <dgm:pt modelId="{A83A1A60-1155-4F89-977B-E972E7530233}" type="parTrans" cxnId="{608948C3-4AB5-4F57-8483-7546ED01AB98}">
      <dgm:prSet/>
      <dgm:spPr/>
      <dgm:t>
        <a:bodyPr/>
        <a:lstStyle/>
        <a:p>
          <a:endParaRPr lang="en-US"/>
        </a:p>
      </dgm:t>
    </dgm:pt>
    <dgm:pt modelId="{83F6E287-254F-494F-AC9F-E77D6849777C}" type="sibTrans" cxnId="{608948C3-4AB5-4F57-8483-7546ED01AB98}">
      <dgm:prSet/>
      <dgm:spPr/>
      <dgm:t>
        <a:bodyPr/>
        <a:lstStyle/>
        <a:p>
          <a:endParaRPr lang="en-US"/>
        </a:p>
      </dgm:t>
    </dgm:pt>
    <dgm:pt modelId="{721F3D7C-8568-4223-B1AE-BC5D124FAB09}">
      <dgm:prSet/>
      <dgm:spPr/>
      <dgm:t>
        <a:bodyPr/>
        <a:lstStyle/>
        <a:p>
          <a:r>
            <a:rPr lang="nb-NO" dirty="0" err="1"/>
            <a:t>External</a:t>
          </a:r>
          <a:r>
            <a:rPr lang="nb-NO" dirty="0"/>
            <a:t> CSS</a:t>
          </a:r>
          <a:endParaRPr lang="en-US" dirty="0"/>
        </a:p>
      </dgm:t>
    </dgm:pt>
    <dgm:pt modelId="{53C0F08D-6AFF-4B4D-8E5D-0334FD1F7CB8}" type="parTrans" cxnId="{3B95970D-3F09-4951-A9F4-78050302C1C2}">
      <dgm:prSet/>
      <dgm:spPr/>
      <dgm:t>
        <a:bodyPr/>
        <a:lstStyle/>
        <a:p>
          <a:endParaRPr lang="en-US"/>
        </a:p>
      </dgm:t>
    </dgm:pt>
    <dgm:pt modelId="{E9055139-D3C1-405B-B69E-2C34E9DC6730}" type="sibTrans" cxnId="{3B95970D-3F09-4951-A9F4-78050302C1C2}">
      <dgm:prSet/>
      <dgm:spPr/>
      <dgm:t>
        <a:bodyPr/>
        <a:lstStyle/>
        <a:p>
          <a:endParaRPr lang="en-US"/>
        </a:p>
      </dgm:t>
    </dgm:pt>
    <dgm:pt modelId="{13E311CE-4D16-4AF5-BCFB-DF58876C5F7B}" type="pres">
      <dgm:prSet presAssocID="{7317F8AC-2CF4-47F6-89BD-FED3E3D39937}" presName="linear" presStyleCnt="0">
        <dgm:presLayoutVars>
          <dgm:animLvl val="lvl"/>
          <dgm:resizeHandles val="exact"/>
        </dgm:presLayoutVars>
      </dgm:prSet>
      <dgm:spPr/>
    </dgm:pt>
    <dgm:pt modelId="{4432621D-4014-4AE4-B769-1F5C97388839}" type="pres">
      <dgm:prSet presAssocID="{CC722AFE-5742-4D2C-963E-74C9965656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CC0923-2B5D-4BDE-AE72-461E52F6003A}" type="pres">
      <dgm:prSet presAssocID="{BA58BBA1-0B77-4C0F-AA9E-69DAE52B1E71}" presName="spacer" presStyleCnt="0"/>
      <dgm:spPr/>
    </dgm:pt>
    <dgm:pt modelId="{E4F9EF77-B7A5-4BB1-843E-626F09B269F1}" type="pres">
      <dgm:prSet presAssocID="{888A76CE-B3E0-45D9-A98D-C207483608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B1BBC32-8ABD-4DA0-8DB1-8DF2BE0A4EE4}" type="pres">
      <dgm:prSet presAssocID="{83F6E287-254F-494F-AC9F-E77D6849777C}" presName="spacer" presStyleCnt="0"/>
      <dgm:spPr/>
    </dgm:pt>
    <dgm:pt modelId="{2C8E96D0-5046-42B6-A779-18862E6F617D}" type="pres">
      <dgm:prSet presAssocID="{721F3D7C-8568-4223-B1AE-BC5D124FAB0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B95970D-3F09-4951-A9F4-78050302C1C2}" srcId="{7317F8AC-2CF4-47F6-89BD-FED3E3D39937}" destId="{721F3D7C-8568-4223-B1AE-BC5D124FAB09}" srcOrd="2" destOrd="0" parTransId="{53C0F08D-6AFF-4B4D-8E5D-0334FD1F7CB8}" sibTransId="{E9055139-D3C1-405B-B69E-2C34E9DC6730}"/>
    <dgm:cxn modelId="{1CC8582B-335A-4887-9A5F-0CF1785E5B63}" type="presOf" srcId="{7317F8AC-2CF4-47F6-89BD-FED3E3D39937}" destId="{13E311CE-4D16-4AF5-BCFB-DF58876C5F7B}" srcOrd="0" destOrd="0" presId="urn:microsoft.com/office/officeart/2005/8/layout/vList2"/>
    <dgm:cxn modelId="{A1048D2C-F2C0-4F66-B360-14B357BE41BF}" srcId="{7317F8AC-2CF4-47F6-89BD-FED3E3D39937}" destId="{CC722AFE-5742-4D2C-963E-74C99656560C}" srcOrd="0" destOrd="0" parTransId="{37EC383F-AB7F-483B-8D9E-BCDB6E3B997A}" sibTransId="{BA58BBA1-0B77-4C0F-AA9E-69DAE52B1E71}"/>
    <dgm:cxn modelId="{7E78FB8D-B25E-4103-A375-04C0E3F8540B}" type="presOf" srcId="{721F3D7C-8568-4223-B1AE-BC5D124FAB09}" destId="{2C8E96D0-5046-42B6-A779-18862E6F617D}" srcOrd="0" destOrd="0" presId="urn:microsoft.com/office/officeart/2005/8/layout/vList2"/>
    <dgm:cxn modelId="{B25C679F-FD8D-4F18-94AD-85CE59ABDBF7}" type="presOf" srcId="{888A76CE-B3E0-45D9-A98D-C20748360890}" destId="{E4F9EF77-B7A5-4BB1-843E-626F09B269F1}" srcOrd="0" destOrd="0" presId="urn:microsoft.com/office/officeart/2005/8/layout/vList2"/>
    <dgm:cxn modelId="{3D1C4DB7-DFE4-4ADC-9D9D-9D3CB870E980}" type="presOf" srcId="{CC722AFE-5742-4D2C-963E-74C99656560C}" destId="{4432621D-4014-4AE4-B769-1F5C97388839}" srcOrd="0" destOrd="0" presId="urn:microsoft.com/office/officeart/2005/8/layout/vList2"/>
    <dgm:cxn modelId="{608948C3-4AB5-4F57-8483-7546ED01AB98}" srcId="{7317F8AC-2CF4-47F6-89BD-FED3E3D39937}" destId="{888A76CE-B3E0-45D9-A98D-C20748360890}" srcOrd="1" destOrd="0" parTransId="{A83A1A60-1155-4F89-977B-E972E7530233}" sibTransId="{83F6E287-254F-494F-AC9F-E77D6849777C}"/>
    <dgm:cxn modelId="{90A65E54-02E3-48CC-B39E-596FED299B21}" type="presParOf" srcId="{13E311CE-4D16-4AF5-BCFB-DF58876C5F7B}" destId="{4432621D-4014-4AE4-B769-1F5C97388839}" srcOrd="0" destOrd="0" presId="urn:microsoft.com/office/officeart/2005/8/layout/vList2"/>
    <dgm:cxn modelId="{251F8A7B-2D60-4445-A27A-E182B79115BC}" type="presParOf" srcId="{13E311CE-4D16-4AF5-BCFB-DF58876C5F7B}" destId="{C9CC0923-2B5D-4BDE-AE72-461E52F6003A}" srcOrd="1" destOrd="0" presId="urn:microsoft.com/office/officeart/2005/8/layout/vList2"/>
    <dgm:cxn modelId="{0E2B7BE2-888C-470D-8AA6-22A6FF445F45}" type="presParOf" srcId="{13E311CE-4D16-4AF5-BCFB-DF58876C5F7B}" destId="{E4F9EF77-B7A5-4BB1-843E-626F09B269F1}" srcOrd="2" destOrd="0" presId="urn:microsoft.com/office/officeart/2005/8/layout/vList2"/>
    <dgm:cxn modelId="{8CB95FD3-ADF1-4E43-A35F-2F81766CA3CC}" type="presParOf" srcId="{13E311CE-4D16-4AF5-BCFB-DF58876C5F7B}" destId="{0B1BBC32-8ABD-4DA0-8DB1-8DF2BE0A4EE4}" srcOrd="3" destOrd="0" presId="urn:microsoft.com/office/officeart/2005/8/layout/vList2"/>
    <dgm:cxn modelId="{CA1EF6B4-D75F-4816-9AA9-ED5DBD701DA6}" type="presParOf" srcId="{13E311CE-4D16-4AF5-BCFB-DF58876C5F7B}" destId="{2C8E96D0-5046-42B6-A779-18862E6F617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2621D-4014-4AE4-B769-1F5C97388839}">
      <dsp:nvSpPr>
        <dsp:cNvPr id="0" name=""/>
        <dsp:cNvSpPr/>
      </dsp:nvSpPr>
      <dsp:spPr>
        <a:xfrm>
          <a:off x="0" y="11872"/>
          <a:ext cx="5906327" cy="14390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6000" kern="1200" dirty="0" err="1"/>
            <a:t>Inline</a:t>
          </a:r>
          <a:r>
            <a:rPr lang="nb-NO" sz="6000" kern="1200" dirty="0"/>
            <a:t> CSS</a:t>
          </a:r>
          <a:endParaRPr lang="en-US" sz="6000" kern="1200" dirty="0"/>
        </a:p>
      </dsp:txBody>
      <dsp:txXfrm>
        <a:off x="70251" y="82123"/>
        <a:ext cx="5765825" cy="1298597"/>
      </dsp:txXfrm>
    </dsp:sp>
    <dsp:sp modelId="{E4F9EF77-B7A5-4BB1-843E-626F09B269F1}">
      <dsp:nvSpPr>
        <dsp:cNvPr id="0" name=""/>
        <dsp:cNvSpPr/>
      </dsp:nvSpPr>
      <dsp:spPr>
        <a:xfrm>
          <a:off x="0" y="1623772"/>
          <a:ext cx="5906327" cy="1439099"/>
        </a:xfrm>
        <a:prstGeom prst="roundRect">
          <a:avLst/>
        </a:prstGeom>
        <a:solidFill>
          <a:schemeClr val="accent5">
            <a:hueOff val="-965760"/>
            <a:satOff val="0"/>
            <a:lumOff val="-2549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6000" kern="1200"/>
            <a:t>Internal CSS</a:t>
          </a:r>
          <a:endParaRPr lang="en-US" sz="6000" kern="1200"/>
        </a:p>
      </dsp:txBody>
      <dsp:txXfrm>
        <a:off x="70251" y="1694023"/>
        <a:ext cx="5765825" cy="1298597"/>
      </dsp:txXfrm>
    </dsp:sp>
    <dsp:sp modelId="{2C8E96D0-5046-42B6-A779-18862E6F617D}">
      <dsp:nvSpPr>
        <dsp:cNvPr id="0" name=""/>
        <dsp:cNvSpPr/>
      </dsp:nvSpPr>
      <dsp:spPr>
        <a:xfrm>
          <a:off x="0" y="3235672"/>
          <a:ext cx="5906327" cy="1439099"/>
        </a:xfrm>
        <a:prstGeom prst="roundRect">
          <a:avLst/>
        </a:prstGeom>
        <a:solidFill>
          <a:schemeClr val="accent5">
            <a:hueOff val="-1931520"/>
            <a:satOff val="0"/>
            <a:lumOff val="-5098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6000" kern="1200" dirty="0" err="1"/>
            <a:t>External</a:t>
          </a:r>
          <a:r>
            <a:rPr lang="nb-NO" sz="6000" kern="1200" dirty="0"/>
            <a:t> CSS</a:t>
          </a:r>
          <a:endParaRPr lang="en-US" sz="6000" kern="1200" dirty="0"/>
        </a:p>
      </dsp:txBody>
      <dsp:txXfrm>
        <a:off x="70251" y="3305923"/>
        <a:ext cx="5765825" cy="1298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10905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554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971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5975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24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78226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57798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4986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1172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45109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07822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6899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7746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1770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57FD275B-703B-43AA-A8C9-83803A1B4D77}" type="datetimeFigureOut">
              <a:rPr lang="nb-NO" smtClean="0"/>
              <a:t>14.09.2023</a:t>
            </a:fld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C73817E-FD43-4A42-A61D-BCBFA0B704D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6393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44" r:id="rId1"/>
    <p:sldLayoutId id="2147484545" r:id="rId2"/>
    <p:sldLayoutId id="2147484546" r:id="rId3"/>
    <p:sldLayoutId id="2147484547" r:id="rId4"/>
    <p:sldLayoutId id="2147484548" r:id="rId5"/>
    <p:sldLayoutId id="2147484549" r:id="rId6"/>
    <p:sldLayoutId id="2147484550" r:id="rId7"/>
    <p:sldLayoutId id="2147484551" r:id="rId8"/>
    <p:sldLayoutId id="2147484552" r:id="rId9"/>
    <p:sldLayoutId id="2147484553" r:id="rId10"/>
    <p:sldLayoutId id="2147484554" r:id="rId11"/>
    <p:sldLayoutId id="2147484555" r:id="rId12"/>
    <p:sldLayoutId id="2147484556" r:id="rId13"/>
    <p:sldLayoutId id="2147484557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nor.com/view/blinking-eyes-blinking-eyes-blinking-eyesa-white-gif-7847084" TargetMode="External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default.a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4C4B-3917-54C2-94CD-596DA8104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60819-568F-00D2-AED8-0F83D0130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B2465-0143-D9E6-AA68-A7CA4C3DED00}"/>
              </a:ext>
            </a:extLst>
          </p:cNvPr>
          <p:cNvSpPr/>
          <p:nvPr/>
        </p:nvSpPr>
        <p:spPr>
          <a:xfrm>
            <a:off x="-117231" y="-117231"/>
            <a:ext cx="12426462" cy="70572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851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21DCC7BA-3740-47E1-91B9-626938139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84CEFA49-6B2F-4FE6-B6AF-31D49E68C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40086" y="40084"/>
            <a:ext cx="6858002" cy="6777832"/>
          </a:xfrm>
          <a:custGeom>
            <a:avLst/>
            <a:gdLst>
              <a:gd name="connsiteX0" fmla="*/ 6858001 w 6858002"/>
              <a:gd name="connsiteY0" fmla="*/ 4666984 h 6777832"/>
              <a:gd name="connsiteX1" fmla="*/ 3829243 w 6858002"/>
              <a:gd name="connsiteY1" fmla="*/ 6654602 h 6777832"/>
              <a:gd name="connsiteX2" fmla="*/ 3827370 w 6858002"/>
              <a:gd name="connsiteY2" fmla="*/ 6656146 h 6777832"/>
              <a:gd name="connsiteX3" fmla="*/ 3824584 w 6858002"/>
              <a:gd name="connsiteY3" fmla="*/ 6657658 h 6777832"/>
              <a:gd name="connsiteX4" fmla="*/ 3798694 w 6858002"/>
              <a:gd name="connsiteY4" fmla="*/ 6674649 h 6777832"/>
              <a:gd name="connsiteX5" fmla="*/ 3785012 w 6858002"/>
              <a:gd name="connsiteY5" fmla="*/ 6679138 h 6777832"/>
              <a:gd name="connsiteX6" fmla="*/ 3706340 w 6858002"/>
              <a:gd name="connsiteY6" fmla="*/ 6721839 h 6777832"/>
              <a:gd name="connsiteX7" fmla="*/ 3428999 w 6858002"/>
              <a:gd name="connsiteY7" fmla="*/ 6777832 h 6777832"/>
              <a:gd name="connsiteX8" fmla="*/ 3151659 w 6858002"/>
              <a:gd name="connsiteY8" fmla="*/ 6721839 h 6777832"/>
              <a:gd name="connsiteX9" fmla="*/ 3072997 w 6858002"/>
              <a:gd name="connsiteY9" fmla="*/ 6679143 h 6777832"/>
              <a:gd name="connsiteX10" fmla="*/ 3059299 w 6858002"/>
              <a:gd name="connsiteY10" fmla="*/ 6674649 h 6777832"/>
              <a:gd name="connsiteX11" fmla="*/ 3033384 w 6858002"/>
              <a:gd name="connsiteY11" fmla="*/ 6657642 h 6777832"/>
              <a:gd name="connsiteX12" fmla="*/ 3030628 w 6858002"/>
              <a:gd name="connsiteY12" fmla="*/ 6656146 h 6777832"/>
              <a:gd name="connsiteX13" fmla="*/ 3028776 w 6858002"/>
              <a:gd name="connsiteY13" fmla="*/ 6654618 h 6777832"/>
              <a:gd name="connsiteX14" fmla="*/ 1 w 6858002"/>
              <a:gd name="connsiteY14" fmla="*/ 4666984 h 6777832"/>
              <a:gd name="connsiteX15" fmla="*/ 6858002 w 6858002"/>
              <a:gd name="connsiteY15" fmla="*/ 0 h 6777832"/>
              <a:gd name="connsiteX16" fmla="*/ 6858002 w 6858002"/>
              <a:gd name="connsiteY16" fmla="*/ 1570616 h 6777832"/>
              <a:gd name="connsiteX17" fmla="*/ 6858001 w 6858002"/>
              <a:gd name="connsiteY17" fmla="*/ 1570616 h 6777832"/>
              <a:gd name="connsiteX18" fmla="*/ 6858001 w 6858002"/>
              <a:gd name="connsiteY18" fmla="*/ 4666983 h 6777832"/>
              <a:gd name="connsiteX19" fmla="*/ 0 w 6858002"/>
              <a:gd name="connsiteY19" fmla="*/ 4666983 h 6777832"/>
              <a:gd name="connsiteX20" fmla="*/ 0 w 6858002"/>
              <a:gd name="connsiteY20" fmla="*/ 595217 h 6777832"/>
              <a:gd name="connsiteX21" fmla="*/ 1 w 6858002"/>
              <a:gd name="connsiteY21" fmla="*/ 595217 h 6777832"/>
              <a:gd name="connsiteX22" fmla="*/ 1 w 6858002"/>
              <a:gd name="connsiteY22" fmla="*/ 0 h 67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858002" h="6777832">
                <a:moveTo>
                  <a:pt x="6858001" y="4666984"/>
                </a:moveTo>
                <a:lnTo>
                  <a:pt x="3829243" y="6654602"/>
                </a:lnTo>
                <a:lnTo>
                  <a:pt x="3827370" y="6656146"/>
                </a:lnTo>
                <a:lnTo>
                  <a:pt x="3824584" y="6657658"/>
                </a:lnTo>
                <a:lnTo>
                  <a:pt x="3798694" y="6674649"/>
                </a:lnTo>
                <a:lnTo>
                  <a:pt x="3785012" y="6679138"/>
                </a:lnTo>
                <a:lnTo>
                  <a:pt x="3706340" y="6721839"/>
                </a:lnTo>
                <a:cubicBezTo>
                  <a:pt x="3621097" y="6757894"/>
                  <a:pt x="3527376" y="6777832"/>
                  <a:pt x="3428999" y="6777832"/>
                </a:cubicBezTo>
                <a:cubicBezTo>
                  <a:pt x="3330622" y="6777832"/>
                  <a:pt x="3236902" y="6757894"/>
                  <a:pt x="3151659" y="6721839"/>
                </a:cubicBezTo>
                <a:lnTo>
                  <a:pt x="3072997" y="6679143"/>
                </a:lnTo>
                <a:lnTo>
                  <a:pt x="3059299" y="6674649"/>
                </a:lnTo>
                <a:lnTo>
                  <a:pt x="3033384" y="6657642"/>
                </a:lnTo>
                <a:lnTo>
                  <a:pt x="3030628" y="6656146"/>
                </a:lnTo>
                <a:lnTo>
                  <a:pt x="3028776" y="6654618"/>
                </a:lnTo>
                <a:lnTo>
                  <a:pt x="1" y="4666984"/>
                </a:lnTo>
                <a:close/>
                <a:moveTo>
                  <a:pt x="6858002" y="0"/>
                </a:moveTo>
                <a:lnTo>
                  <a:pt x="6858002" y="1570616"/>
                </a:lnTo>
                <a:lnTo>
                  <a:pt x="6858001" y="1570616"/>
                </a:lnTo>
                <a:lnTo>
                  <a:pt x="6858001" y="4666983"/>
                </a:lnTo>
                <a:lnTo>
                  <a:pt x="0" y="4666983"/>
                </a:lnTo>
                <a:lnTo>
                  <a:pt x="0" y="595217"/>
                </a:lnTo>
                <a:lnTo>
                  <a:pt x="1" y="595217"/>
                </a:lnTo>
                <a:lnTo>
                  <a:pt x="1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D968F-E10D-CCB8-9785-328A68285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237" y="865544"/>
            <a:ext cx="5492086" cy="4962786"/>
          </a:xfrm>
        </p:spPr>
        <p:txBody>
          <a:bodyPr anchor="ctr">
            <a:normAutofit/>
          </a:bodyPr>
          <a:lstStyle/>
          <a:p>
            <a:r>
              <a:rPr lang="nb-NO" sz="7200" dirty="0"/>
              <a:t>CSS (Intro)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BEC31-7F24-BD2A-9821-9540006CD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345" y="947607"/>
            <a:ext cx="4152655" cy="4962785"/>
          </a:xfrm>
          <a:effectLst/>
        </p:spPr>
        <p:txBody>
          <a:bodyPr anchor="ctr">
            <a:normAutofit/>
          </a:bodyPr>
          <a:lstStyle/>
          <a:p>
            <a:r>
              <a:rPr lang="en-US" sz="2800" dirty="0"/>
              <a:t>It’s time to get in style!</a:t>
            </a:r>
            <a:endParaRPr lang="nb-NO" sz="2800" dirty="0"/>
          </a:p>
        </p:txBody>
      </p:sp>
    </p:spTree>
    <p:extLst>
      <p:ext uri="{BB962C8B-B14F-4D97-AF65-F5344CB8AC3E}">
        <p14:creationId xmlns:p14="http://schemas.microsoft.com/office/powerpoint/2010/main" val="16963304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53576798-7F98-4C7F-B6C7-6D41B5A7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264E67-6F59-4D8D-8E5F-8245B0FEA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158E1C6E-D299-4F5D-B15B-155EBF7F6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12121"/>
          </a:solidFill>
          <a:ln>
            <a:noFill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FA43F-BE6B-79DB-2E08-0751E3C8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457201"/>
            <a:ext cx="3575737" cy="13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HVA ER CSS?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32DA6-BBBA-18E8-2B5B-BB75B7DBB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257" y="2185988"/>
            <a:ext cx="4138247" cy="3994848"/>
          </a:xfrm>
          <a:effectLst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>
                <a:solidFill>
                  <a:srgbClr val="FFFFFF"/>
                </a:solidFill>
                <a:effectLst/>
              </a:rPr>
              <a:t>Vi husker at HTML var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bygge-blokkene</a:t>
            </a:r>
            <a:r>
              <a:rPr lang="en-US" sz="2400" dirty="0">
                <a:solidFill>
                  <a:srgbClr val="FFFFFF"/>
                </a:solidFill>
                <a:effectLst/>
              </a:rPr>
              <a:t>,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eller</a:t>
            </a:r>
            <a:r>
              <a:rPr lang="en-US" sz="2400" dirty="0">
                <a:solidFill>
                  <a:srgbClr val="FFFFFF"/>
                </a:solidFill>
                <a:effectLst/>
              </a:rPr>
              <a:t> «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skjelettet</a:t>
            </a:r>
            <a:r>
              <a:rPr lang="en-US" sz="2400" dirty="0">
                <a:solidFill>
                  <a:srgbClr val="FFFFFF"/>
                </a:solidFill>
                <a:effectLst/>
              </a:rPr>
              <a:t>»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til</a:t>
            </a:r>
            <a:r>
              <a:rPr lang="en-US" sz="2400" dirty="0">
                <a:solidFill>
                  <a:srgbClr val="FFFFFF"/>
                </a:solidFill>
                <a:effectLst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nettsider</a:t>
            </a:r>
            <a:endParaRPr lang="en-US" sz="2400" dirty="0">
              <a:solidFill>
                <a:srgbClr val="FFFFFF"/>
              </a:solidFill>
              <a:effectLst/>
            </a:endParaRPr>
          </a:p>
          <a:p>
            <a:r>
              <a:rPr lang="en-US" sz="2400" dirty="0" err="1">
                <a:solidFill>
                  <a:srgbClr val="FFFFFF"/>
                </a:solidFill>
                <a:effectLst/>
              </a:rPr>
              <a:t>Hva</a:t>
            </a:r>
            <a:r>
              <a:rPr lang="en-US" sz="2400" dirty="0">
                <a:solidFill>
                  <a:srgbClr val="FFFFFF"/>
                </a:solidFill>
                <a:effectLst/>
              </a:rPr>
              <a:t> er da CSS?</a:t>
            </a:r>
          </a:p>
          <a:p>
            <a:r>
              <a:rPr lang="en-US" sz="2400" dirty="0">
                <a:solidFill>
                  <a:srgbClr val="FFFFFF"/>
                </a:solidFill>
                <a:effectLst/>
              </a:rPr>
              <a:t>CSS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beskriver</a:t>
            </a:r>
            <a:r>
              <a:rPr lang="en-US" sz="2400" dirty="0">
                <a:solidFill>
                  <a:srgbClr val="FFFFFF"/>
                </a:solidFill>
                <a:effectLst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utseendet</a:t>
            </a:r>
            <a:r>
              <a:rPr lang="en-US" sz="2400" dirty="0">
                <a:solidFill>
                  <a:srgbClr val="FFFFFF"/>
                </a:solidFill>
                <a:effectLst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til</a:t>
            </a:r>
            <a:r>
              <a:rPr lang="en-US" sz="2400" dirty="0">
                <a:solidFill>
                  <a:srgbClr val="FFFFFF"/>
                </a:solidFill>
                <a:effectLst/>
              </a:rPr>
              <a:t> </a:t>
            </a:r>
            <a:r>
              <a:rPr lang="en-US" sz="2400" dirty="0" err="1">
                <a:solidFill>
                  <a:srgbClr val="FFFFFF"/>
                </a:solidFill>
                <a:effectLst/>
              </a:rPr>
              <a:t>nettsider</a:t>
            </a:r>
            <a:endParaRPr lang="en-US" sz="2400" dirty="0">
              <a:solidFill>
                <a:srgbClr val="FFFFFF"/>
              </a:solidFill>
              <a:effectLst/>
            </a:endParaRPr>
          </a:p>
          <a:p>
            <a:r>
              <a:rPr lang="en-US" sz="2400" dirty="0" err="1">
                <a:solidFill>
                  <a:srgbClr val="FFFFFF"/>
                </a:solidFill>
                <a:effectLst/>
              </a:rPr>
              <a:t>Står</a:t>
            </a:r>
            <a:r>
              <a:rPr lang="en-US" sz="2400" dirty="0">
                <a:solidFill>
                  <a:srgbClr val="FFFFFF"/>
                </a:solidFill>
                <a:effectLst/>
              </a:rPr>
              <a:t> for: «Cascading Style Sheets»</a:t>
            </a:r>
          </a:p>
        </p:txBody>
      </p:sp>
      <p:pic>
        <p:nvPicPr>
          <p:cNvPr id="5" name="Content Placeholder 4" descr="A person in a striped shirt&#10;&#10;Description automatically generated">
            <a:extLst>
              <a:ext uri="{FF2B5EF4-FFF2-40B4-BE49-F238E27FC236}">
                <a16:creationId xmlns:a16="http://schemas.microsoft.com/office/drawing/2014/main" id="{40C5A6CA-81F5-3395-4B5B-45984BD1A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790" y="1516875"/>
            <a:ext cx="6267743" cy="3525604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1517208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D45553-91A4-480A-9577-0E0FC0D91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" y="0"/>
            <a:ext cx="1218742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3">
            <a:extLst>
              <a:ext uri="{FF2B5EF4-FFF2-40B4-BE49-F238E27FC236}">
                <a16:creationId xmlns:a16="http://schemas.microsoft.com/office/drawing/2014/main" id="{D240F8A8-FEA1-42C2-B259-27A935127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9DFF3-21F4-1C54-24C0-580BA1B9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1741714"/>
            <a:ext cx="3518452" cy="4117749"/>
          </a:xfrm>
        </p:spPr>
        <p:txBody>
          <a:bodyPr anchor="t">
            <a:normAutofit/>
          </a:bodyPr>
          <a:lstStyle/>
          <a:p>
            <a:r>
              <a:rPr lang="nb-NO" dirty="0"/>
              <a:t>TYPER AV CSS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E692EC4-4089-0732-FDF9-95A89367ED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1222133"/>
              </p:ext>
            </p:extLst>
          </p:nvPr>
        </p:nvGraphicFramePr>
        <p:xfrm>
          <a:off x="5466523" y="1172818"/>
          <a:ext cx="5906328" cy="4686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4" descr="CSS - Wikipedia">
            <a:extLst>
              <a:ext uri="{FF2B5EF4-FFF2-40B4-BE49-F238E27FC236}">
                <a16:creationId xmlns:a16="http://schemas.microsoft.com/office/drawing/2014/main" id="{A4263C14-B065-E952-CE02-A118A3C92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419" y="2965985"/>
            <a:ext cx="2176996" cy="3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0019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365CE3-E45F-8940-0783-E33B484615E6}"/>
              </a:ext>
            </a:extLst>
          </p:cNvPr>
          <p:cNvSpPr/>
          <p:nvPr/>
        </p:nvSpPr>
        <p:spPr>
          <a:xfrm>
            <a:off x="1851675" y="3728308"/>
            <a:ext cx="2051539" cy="515815"/>
          </a:xfrm>
          <a:prstGeom prst="rect">
            <a:avLst/>
          </a:prstGeom>
          <a:solidFill>
            <a:srgbClr val="00B0F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CD76F-BC21-6B36-0CCC-7E9CE5199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609" y="1910053"/>
            <a:ext cx="8106796" cy="3636511"/>
          </a:xfrm>
          <a:effectLst/>
        </p:spPr>
        <p:txBody>
          <a:bodyPr>
            <a:normAutofit/>
          </a:bodyPr>
          <a:lstStyle/>
          <a:p>
            <a:r>
              <a:rPr lang="nb-NO" sz="2400" dirty="0"/>
              <a:t>Husk tilbake til HTML </a:t>
            </a:r>
          </a:p>
          <a:p>
            <a:r>
              <a:rPr lang="nb-NO" sz="2400" dirty="0"/>
              <a:t>Hvordan gjorde vi for eksempel tekst rød?</a:t>
            </a:r>
          </a:p>
          <a:p>
            <a:endParaRPr lang="nb-NO" sz="2400" dirty="0"/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color:red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;"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Denne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teksten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er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rød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!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nb-NO" sz="2400" dirty="0"/>
          </a:p>
          <a:p>
            <a:r>
              <a:rPr lang="nb-NO" sz="2400" dirty="0"/>
              <a:t>Greit for styling av enkelt-elementer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9DFF3-21F4-1C54-24C0-580BA1B9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INLINE CSS</a:t>
            </a:r>
          </a:p>
        </p:txBody>
      </p:sp>
      <p:pic>
        <p:nvPicPr>
          <p:cNvPr id="4" name="Content Placeholder 9" descr="A close up of a person's face&#10;&#10;Description automatically generated">
            <a:extLst>
              <a:ext uri="{FF2B5EF4-FFF2-40B4-BE49-F238E27FC236}">
                <a16:creationId xmlns:a16="http://schemas.microsoft.com/office/drawing/2014/main" id="{D03F545F-CC79-375A-F55D-D0C1FC7A3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6405" y="2220248"/>
            <a:ext cx="2995593" cy="3638550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35F95A-5E7C-B123-07D7-6DDC6CB28260}"/>
              </a:ext>
            </a:extLst>
          </p:cNvPr>
          <p:cNvSpPr txBox="1"/>
          <p:nvPr/>
        </p:nvSpPr>
        <p:spPr>
          <a:xfrm>
            <a:off x="8275427" y="5856759"/>
            <a:ext cx="32175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b-NO" sz="2400" dirty="0" err="1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When</a:t>
            </a:r>
            <a:r>
              <a:rPr lang="nb-NO" sz="2400" dirty="0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 </a:t>
            </a:r>
            <a:r>
              <a:rPr lang="nb-NO" sz="2400" dirty="0" err="1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you</a:t>
            </a:r>
            <a:r>
              <a:rPr lang="nb-NO" sz="2400" dirty="0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 </a:t>
            </a:r>
            <a:r>
              <a:rPr lang="nb-NO" sz="2400" dirty="0" err="1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realize</a:t>
            </a:r>
            <a:r>
              <a:rPr lang="nb-NO" sz="2400" dirty="0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 </a:t>
            </a:r>
          </a:p>
          <a:p>
            <a:pPr algn="ctr"/>
            <a:r>
              <a:rPr lang="nb-NO" sz="2400" dirty="0" err="1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you’ve</a:t>
            </a:r>
            <a:r>
              <a:rPr lang="nb-NO" sz="2400" dirty="0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 </a:t>
            </a:r>
            <a:r>
              <a:rPr lang="nb-NO" sz="2400" dirty="0" err="1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already</a:t>
            </a:r>
            <a:r>
              <a:rPr lang="nb-NO" sz="2400" dirty="0">
                <a:ln w="12700">
                  <a:solidFill>
                    <a:schemeClr val="bg1"/>
                  </a:solidFill>
                </a:ln>
                <a:latin typeface="Impact" panose="020B0806030902050204" pitchFamily="34" charset="0"/>
              </a:rPr>
              <a:t> used CSS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888AD-7428-16D9-6FF8-5CBEF4480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638" y="5455793"/>
            <a:ext cx="5192200" cy="10492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88007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"/>
                            </p:stCondLst>
                            <p:childTnLst>
                              <p:par>
                                <p:cTn id="31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xit" presetSubtype="0" fill="hold" grpId="3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50"/>
                            </p:stCondLst>
                            <p:childTnLst>
                              <p:par>
                                <p:cTn id="37" presetID="1" presetClass="entr" presetSubtype="0" fill="hold" grpId="4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6" grpId="4" animBg="1"/>
      <p:bldP spid="3" grpId="0" uiExpand="1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88681-AAEC-7766-884E-DF172358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INTERNAL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3A4EA-AE24-195F-B192-804DE098C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1" y="2264230"/>
            <a:ext cx="10807231" cy="4321628"/>
          </a:xfrm>
          <a:effectLst/>
        </p:spPr>
        <p:txBody>
          <a:bodyPr>
            <a:normAutofit lnSpcReduction="10000"/>
          </a:bodyPr>
          <a:lstStyle/>
          <a:p>
            <a:r>
              <a:rPr lang="nb-NO" dirty="0"/>
              <a:t>Istedenfor å gi en style til hvert eneste element: bruk intern CSS for å gi style til mye samtidig.</a:t>
            </a:r>
          </a:p>
          <a:p>
            <a:r>
              <a:rPr lang="nb-NO" dirty="0"/>
              <a:t>Befinner seg i &lt;style&gt; taggen i head.</a:t>
            </a:r>
          </a:p>
          <a:p>
            <a:endParaRPr lang="nb-NO" dirty="0"/>
          </a:p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CSS Eksempel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blue;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955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7C7686AB-9136-3F2A-B457-6C3F6BAE3E53}"/>
              </a:ext>
            </a:extLst>
          </p:cNvPr>
          <p:cNvCxnSpPr>
            <a:cxnSpLocks/>
            <a:endCxn id="4" idx="0"/>
          </p:cNvCxnSpPr>
          <p:nvPr/>
        </p:nvCxnSpPr>
        <p:spPr>
          <a:xfrm rot="10800000" flipV="1">
            <a:off x="1017743" y="2305735"/>
            <a:ext cx="5602132" cy="607736"/>
          </a:xfrm>
          <a:prstGeom prst="bentConnector2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C2C9A5AE-A2CF-3F7B-9320-5A742DC56CDF}"/>
              </a:ext>
            </a:extLst>
          </p:cNvPr>
          <p:cNvCxnSpPr>
            <a:cxnSpLocks/>
            <a:endCxn id="6" idx="0"/>
          </p:cNvCxnSpPr>
          <p:nvPr/>
        </p:nvCxnSpPr>
        <p:spPr>
          <a:xfrm rot="10800000" flipV="1">
            <a:off x="2182307" y="2609602"/>
            <a:ext cx="4437569" cy="937841"/>
          </a:xfrm>
          <a:prstGeom prst="bent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C89B90C-FBF2-E156-2299-BF5C3806E15F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 flipV="1">
            <a:off x="3333161" y="2913470"/>
            <a:ext cx="3286714" cy="633973"/>
          </a:xfrm>
          <a:prstGeom prst="bentConnector2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33F29F0-12BD-A2CB-631B-D97DABBE769B}"/>
              </a:ext>
            </a:extLst>
          </p:cNvPr>
          <p:cNvCxnSpPr>
            <a:cxnSpLocks/>
            <a:endCxn id="17" idx="0"/>
          </p:cNvCxnSpPr>
          <p:nvPr/>
        </p:nvCxnSpPr>
        <p:spPr>
          <a:xfrm rot="10800000" flipV="1">
            <a:off x="3771429" y="3256970"/>
            <a:ext cx="2848446" cy="289688"/>
          </a:xfrm>
          <a:prstGeom prst="bentConnector2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223A955-98D6-1157-BC81-71E78281F134}"/>
              </a:ext>
            </a:extLst>
          </p:cNvPr>
          <p:cNvSpPr txBox="1"/>
          <p:nvPr/>
        </p:nvSpPr>
        <p:spPr>
          <a:xfrm>
            <a:off x="6735251" y="2121069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 err="1"/>
              <a:t>Selector</a:t>
            </a:r>
            <a:r>
              <a:rPr lang="nb-NO" dirty="0"/>
              <a:t> (Velger)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D09E8D-B6E4-45D4-B565-BEE67794D47F}"/>
              </a:ext>
            </a:extLst>
          </p:cNvPr>
          <p:cNvSpPr txBox="1"/>
          <p:nvPr/>
        </p:nvSpPr>
        <p:spPr>
          <a:xfrm>
            <a:off x="6735252" y="2424936"/>
            <a:ext cx="24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Property (Egenskap)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C9BD43-D2AC-FA5A-0336-21A042C7739A}"/>
              </a:ext>
            </a:extLst>
          </p:cNvPr>
          <p:cNvSpPr txBox="1"/>
          <p:nvPr/>
        </p:nvSpPr>
        <p:spPr>
          <a:xfrm>
            <a:off x="6735251" y="2728804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Value (Verdi)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59B294-4722-D69E-AF41-CA03CD8A3EAA}"/>
              </a:ext>
            </a:extLst>
          </p:cNvPr>
          <p:cNvSpPr txBox="1"/>
          <p:nvPr/>
        </p:nvSpPr>
        <p:spPr>
          <a:xfrm>
            <a:off x="6735252" y="3067058"/>
            <a:ext cx="2547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 err="1"/>
              <a:t>Structural</a:t>
            </a:r>
            <a:r>
              <a:rPr lang="nb-NO" dirty="0"/>
              <a:t> (Strukturelt)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6B7481-A579-1A83-54DC-182BAF4BF3DA}"/>
              </a:ext>
            </a:extLst>
          </p:cNvPr>
          <p:cNvSpPr/>
          <p:nvPr/>
        </p:nvSpPr>
        <p:spPr>
          <a:xfrm>
            <a:off x="810000" y="2913471"/>
            <a:ext cx="415485" cy="515529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F7AFDD-3298-0167-18CA-48DFB68DF061}"/>
              </a:ext>
            </a:extLst>
          </p:cNvPr>
          <p:cNvSpPr/>
          <p:nvPr/>
        </p:nvSpPr>
        <p:spPr>
          <a:xfrm>
            <a:off x="1668545" y="3547444"/>
            <a:ext cx="1027522" cy="435357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94444-5B3A-7D86-0300-3413C55F0576}"/>
              </a:ext>
            </a:extLst>
          </p:cNvPr>
          <p:cNvSpPr/>
          <p:nvPr/>
        </p:nvSpPr>
        <p:spPr>
          <a:xfrm>
            <a:off x="1668545" y="4155180"/>
            <a:ext cx="3176832" cy="435357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6CCB18-2873-1F57-A557-0CC483BCFD2B}"/>
              </a:ext>
            </a:extLst>
          </p:cNvPr>
          <p:cNvSpPr/>
          <p:nvPr/>
        </p:nvSpPr>
        <p:spPr>
          <a:xfrm>
            <a:off x="1668545" y="4722829"/>
            <a:ext cx="1800520" cy="435357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096EA-9703-7351-94A2-5F1FE22AD78A}"/>
              </a:ext>
            </a:extLst>
          </p:cNvPr>
          <p:cNvSpPr/>
          <p:nvPr/>
        </p:nvSpPr>
        <p:spPr>
          <a:xfrm>
            <a:off x="2989867" y="3547444"/>
            <a:ext cx="686587" cy="435357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34AA57-EAAC-85A3-FDEA-EC15FDE0B08C}"/>
              </a:ext>
            </a:extLst>
          </p:cNvPr>
          <p:cNvSpPr/>
          <p:nvPr/>
        </p:nvSpPr>
        <p:spPr>
          <a:xfrm>
            <a:off x="5112471" y="4155180"/>
            <a:ext cx="911258" cy="435357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C5226F-26FC-263C-3855-26167E5E2E19}"/>
              </a:ext>
            </a:extLst>
          </p:cNvPr>
          <p:cNvSpPr/>
          <p:nvPr/>
        </p:nvSpPr>
        <p:spPr>
          <a:xfrm>
            <a:off x="3771429" y="4722829"/>
            <a:ext cx="885412" cy="435357"/>
          </a:xfrm>
          <a:prstGeom prst="rect">
            <a:avLst/>
          </a:prstGeom>
          <a:solidFill>
            <a:srgbClr val="00B05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297370-C976-BCA2-23AB-838AA9BD4E28}"/>
              </a:ext>
            </a:extLst>
          </p:cNvPr>
          <p:cNvSpPr/>
          <p:nvPr/>
        </p:nvSpPr>
        <p:spPr>
          <a:xfrm>
            <a:off x="1225485" y="2913471"/>
            <a:ext cx="329938" cy="515529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AAEDD9-142A-9753-5656-5B9CC182C799}"/>
              </a:ext>
            </a:extLst>
          </p:cNvPr>
          <p:cNvSpPr/>
          <p:nvPr/>
        </p:nvSpPr>
        <p:spPr>
          <a:xfrm>
            <a:off x="810000" y="5281170"/>
            <a:ext cx="329938" cy="515529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1B833A-A1C1-AE35-6D4F-144C511F463D}"/>
              </a:ext>
            </a:extLst>
          </p:cNvPr>
          <p:cNvSpPr/>
          <p:nvPr/>
        </p:nvSpPr>
        <p:spPr>
          <a:xfrm>
            <a:off x="2697637" y="3546658"/>
            <a:ext cx="196392" cy="435357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7929A9-9805-F67D-20BE-E521CA71EA20}"/>
              </a:ext>
            </a:extLst>
          </p:cNvPr>
          <p:cNvSpPr/>
          <p:nvPr/>
        </p:nvSpPr>
        <p:spPr>
          <a:xfrm>
            <a:off x="3673233" y="3546658"/>
            <a:ext cx="196392" cy="435357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AF809B-BE28-8EEC-57C8-842CB44704FB}"/>
              </a:ext>
            </a:extLst>
          </p:cNvPr>
          <p:cNvSpPr/>
          <p:nvPr/>
        </p:nvSpPr>
        <p:spPr>
          <a:xfrm>
            <a:off x="4845377" y="4155179"/>
            <a:ext cx="188536" cy="435357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C3952E-F905-5D46-D3E5-BA7A32D9BE1B}"/>
              </a:ext>
            </a:extLst>
          </p:cNvPr>
          <p:cNvSpPr/>
          <p:nvPr/>
        </p:nvSpPr>
        <p:spPr>
          <a:xfrm>
            <a:off x="6032441" y="4155178"/>
            <a:ext cx="188536" cy="435357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698844-EF7E-D4E7-04A4-5B9F0C777FF6}"/>
              </a:ext>
            </a:extLst>
          </p:cNvPr>
          <p:cNvSpPr/>
          <p:nvPr/>
        </p:nvSpPr>
        <p:spPr>
          <a:xfrm>
            <a:off x="3469065" y="4722828"/>
            <a:ext cx="197962" cy="435357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17F7E3-E419-9307-3E1A-8904720ED527}"/>
              </a:ext>
            </a:extLst>
          </p:cNvPr>
          <p:cNvSpPr/>
          <p:nvPr/>
        </p:nvSpPr>
        <p:spPr>
          <a:xfrm>
            <a:off x="4656841" y="4722829"/>
            <a:ext cx="146934" cy="435357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C6B364-655B-E2C7-359A-A8F72873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CSS STRUKTUR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0AC9E-C226-844D-3B2C-3B514B2CC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529066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800" dirty="0">
                <a:solidFill>
                  <a:srgbClr val="D7BA7D"/>
                </a:solidFill>
                <a:latin typeface="Consolas" panose="020B0609020204030204" pitchFamily="49" charset="0"/>
              </a:rPr>
              <a:t>p</a:t>
            </a:r>
            <a:r>
              <a:rPr lang="nb-NO" sz="2800" dirty="0">
                <a:latin typeface="Consolas" panose="020B0609020204030204" pitchFamily="49" charset="0"/>
              </a:rPr>
              <a:t> </a:t>
            </a:r>
            <a:r>
              <a:rPr lang="nb-NO" sz="2800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nb-NO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nb-NO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2800" dirty="0">
                <a:solidFill>
                  <a:srgbClr val="D4D4D4"/>
                </a:solidFill>
                <a:latin typeface="Consolas" panose="020B0609020204030204" pitchFamily="49" charset="0"/>
              </a:rPr>
              <a:t>: red;</a:t>
            </a:r>
          </a:p>
          <a:p>
            <a:pPr marL="0" indent="0">
              <a:buNone/>
            </a:pPr>
            <a:r>
              <a:rPr lang="nb-NO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nb-NO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nb-NO" sz="2800" dirty="0">
                <a:solidFill>
                  <a:srgbClr val="D4D4D4"/>
                </a:solidFill>
                <a:latin typeface="Consolas" panose="020B0609020204030204" pitchFamily="49" charset="0"/>
              </a:rPr>
              <a:t>: gray;</a:t>
            </a:r>
          </a:p>
          <a:p>
            <a:pPr marL="0" indent="0">
              <a:buNone/>
            </a:pPr>
            <a:r>
              <a:rPr lang="nb-NO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nb-NO" sz="2800" dirty="0">
                <a:solidFill>
                  <a:srgbClr val="9CDCFE"/>
                </a:solidFill>
                <a:latin typeface="Consolas" panose="020B0609020204030204" pitchFamily="49" charset="0"/>
              </a:rPr>
              <a:t>font-</a:t>
            </a:r>
            <a:r>
              <a:rPr lang="nb-NO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nb-NO" sz="28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nb-NO" sz="28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nb-NO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nb-NO" sz="2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FE6A0E3-52F6-5D65-A14C-5F487B72E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254" y="4940506"/>
            <a:ext cx="4458322" cy="11145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276863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5" grpId="1"/>
      <p:bldP spid="55" grpId="2"/>
      <p:bldP spid="56" grpId="0"/>
      <p:bldP spid="56" grpId="1"/>
      <p:bldP spid="56" grpId="2"/>
      <p:bldP spid="57" grpId="0"/>
      <p:bldP spid="57" grpId="1"/>
      <p:bldP spid="57" grpId="2"/>
      <p:bldP spid="58" grpId="0"/>
      <p:bldP spid="4" grpId="0" animBg="1"/>
      <p:bldP spid="4" grpId="1" animBg="1"/>
      <p:bldP spid="4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2E904A-BEDF-5844-3CCE-FB0CBE36AF3A}"/>
              </a:ext>
            </a:extLst>
          </p:cNvPr>
          <p:cNvSpPr/>
          <p:nvPr/>
        </p:nvSpPr>
        <p:spPr>
          <a:xfrm>
            <a:off x="5798512" y="1647825"/>
            <a:ext cx="2676525" cy="1971675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1813D7-1790-91DB-CF7A-C934E9F84132}"/>
              </a:ext>
            </a:extLst>
          </p:cNvPr>
          <p:cNvSpPr/>
          <p:nvPr/>
        </p:nvSpPr>
        <p:spPr>
          <a:xfrm>
            <a:off x="5798512" y="4829175"/>
            <a:ext cx="6079163" cy="1228725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D731EA-8456-2012-7FEA-2515134D50A1}"/>
              </a:ext>
            </a:extLst>
          </p:cNvPr>
          <p:cNvSpPr/>
          <p:nvPr/>
        </p:nvSpPr>
        <p:spPr>
          <a:xfrm>
            <a:off x="5798512" y="5267325"/>
            <a:ext cx="6079163" cy="390526"/>
          </a:xfrm>
          <a:prstGeom prst="rect">
            <a:avLst/>
          </a:prstGeom>
          <a:solidFill>
            <a:srgbClr val="00B0F0">
              <a:alpha val="25098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65B9D-4905-02DD-7611-F464BE0C6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8074" y="1"/>
            <a:ext cx="7433926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CSS Eksempel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nb-NO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nb-NO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        &lt;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Dette er en overskrift!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nb-NO" dirty="0">
                <a:solidFill>
                  <a:srgbClr val="569CD6"/>
                </a:solidFill>
                <a:latin typeface="Consolas" panose="020B0609020204030204" pitchFamily="49" charset="0"/>
              </a:rPr>
              <a:t>h1</a:t>
            </a:r>
            <a:r>
              <a:rPr lang="nb-NO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Hvilken farge er denne teksten?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color:red</a:t>
            </a:r>
            <a:r>
              <a:rPr lang="nb-NO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;"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Hva med denne teksten?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dirty="0">
                <a:solidFill>
                  <a:srgbClr val="D4D4D4"/>
                </a:solidFill>
                <a:latin typeface="Consolas" panose="020B0609020204030204" pitchFamily="49" charset="0"/>
              </a:rPr>
              <a:t>Også til slutt, hva med denne teksten?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B657B-9654-2D77-FA49-2384B6009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3600" dirty="0"/>
              <a:t>INTERNAL CSS: EKSEMPEL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E2F24-7DEF-9F63-C5A6-1254DA12F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2428" y="2064484"/>
            <a:ext cx="4155645" cy="2596277"/>
          </a:xfrm>
          <a:effectLst/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Hvor har vi </a:t>
            </a:r>
            <a:r>
              <a:rPr lang="nb-NO" sz="2400" dirty="0" err="1"/>
              <a:t>Internal</a:t>
            </a:r>
            <a:r>
              <a:rPr lang="nb-NO" sz="2400" dirty="0"/>
              <a:t> CSS?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Hva er det som blir farget?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sz="2400" dirty="0"/>
              <a:t>Hva med den paragrafen i midten?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BF0A53-6832-6295-4CDC-71534FDF3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490109"/>
            <a:ext cx="4758074" cy="24062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148469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animBg="1"/>
      <p:bldP spid="8" grpId="1" uiExpand="1" animBg="1"/>
      <p:bldP spid="9" grpId="0" uiExpand="1" animBg="1"/>
      <p:bldP spid="9" grpId="1" uiExpand="1" animBg="1"/>
      <p:bldP spid="10" grpId="0" animBg="1"/>
      <p:bldP spid="10" grpId="1" animBg="1"/>
      <p:bldP spid="5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912A-CFF0-D731-6BA2-FC1AD25B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SELECTORS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2408-EB22-5247-69A1-2DD88182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292813"/>
          </a:xfrm>
          <a:effectLst/>
        </p:spPr>
        <p:txBody>
          <a:bodyPr>
            <a:normAutofit/>
          </a:bodyPr>
          <a:lstStyle/>
          <a:p>
            <a:r>
              <a:rPr lang="nb-NO" sz="2400" dirty="0"/>
              <a:t>Første delen av CSS koden</a:t>
            </a:r>
          </a:p>
          <a:p>
            <a:r>
              <a:rPr lang="nb-NO" sz="2400" dirty="0"/>
              <a:t>Betydning ligger i navnet: De velger hva som skal bli stylet</a:t>
            </a:r>
          </a:p>
          <a:p>
            <a:pPr marL="0" indent="0">
              <a:buNone/>
            </a:pPr>
            <a:endParaRPr lang="nb-NO" sz="2400" dirty="0"/>
          </a:p>
          <a:p>
            <a:r>
              <a:rPr lang="nb-NO" sz="2400" dirty="0"/>
              <a:t>Eksempler:</a:t>
            </a:r>
          </a:p>
          <a:p>
            <a:pPr marL="0" indent="0">
              <a:buNone/>
            </a:pP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p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h1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h2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div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pre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body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D7BA7D"/>
                </a:solidFill>
                <a:latin typeface="Consolas" panose="020B0609020204030204" pitchFamily="49" charset="0"/>
              </a:rPr>
              <a:t>img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 ul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 ol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 li</a:t>
            </a:r>
          </a:p>
          <a:p>
            <a:pPr marL="0" indent="0">
              <a:buNone/>
            </a:pPr>
            <a:endParaRPr lang="nb-NO" sz="2400" dirty="0">
              <a:solidFill>
                <a:srgbClr val="D7BA7D"/>
              </a:solidFill>
              <a:latin typeface="Consolas" panose="020B0609020204030204" pitchFamily="49" charset="0"/>
            </a:endParaRPr>
          </a:p>
          <a:p>
            <a:r>
              <a:rPr lang="nb-NO" sz="2400" dirty="0"/>
              <a:t>Vi har flere måter å velge ting på (hva dette betyr, kommer vi til):</a:t>
            </a:r>
          </a:p>
          <a:p>
            <a:pPr marL="0" indent="0">
              <a:buNone/>
            </a:pP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.</a:t>
            </a:r>
            <a:r>
              <a:rPr lang="nb-NO" sz="2400" dirty="0" err="1">
                <a:solidFill>
                  <a:srgbClr val="D7BA7D"/>
                </a:solidFill>
                <a:latin typeface="Consolas" panose="020B0609020204030204" pitchFamily="49" charset="0"/>
              </a:rPr>
              <a:t>yoyo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.</a:t>
            </a:r>
            <a:r>
              <a:rPr lang="nb-NO" sz="2400" dirty="0" err="1">
                <a:solidFill>
                  <a:srgbClr val="D7BA7D"/>
                </a:solidFill>
                <a:latin typeface="Consolas" panose="020B0609020204030204" pitchFamily="49" charset="0"/>
              </a:rPr>
              <a:t>thing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.</a:t>
            </a:r>
            <a:r>
              <a:rPr lang="nb-NO" sz="2400" dirty="0" err="1">
                <a:solidFill>
                  <a:srgbClr val="D7BA7D"/>
                </a:solidFill>
                <a:latin typeface="Consolas" panose="020B0609020204030204" pitchFamily="49" charset="0"/>
              </a:rPr>
              <a:t>redcolor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#unique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D7BA7D"/>
                </a:solidFill>
                <a:latin typeface="Consolas" panose="020B0609020204030204" pitchFamily="49" charset="0"/>
              </a:rPr>
              <a:t>#navigation</a:t>
            </a: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29199636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8B94-7E17-6EAD-DE8F-F51847EB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51D92-4D42-FFF9-B4A1-289AFED9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1894040"/>
            <a:ext cx="10554574" cy="4354359"/>
          </a:xfrm>
          <a:effectLst/>
        </p:spPr>
        <p:txBody>
          <a:bodyPr>
            <a:noAutofit/>
          </a:bodyPr>
          <a:lstStyle/>
          <a:p>
            <a:r>
              <a:rPr lang="nb-NO" sz="2400" dirty="0"/>
              <a:t>Andre del av CSS koden</a:t>
            </a:r>
          </a:p>
          <a:p>
            <a:r>
              <a:rPr lang="nb-NO" sz="2400" dirty="0"/>
              <a:t>Dette er "Stil-attributter"</a:t>
            </a:r>
          </a:p>
          <a:p>
            <a:endParaRPr lang="nb-NO" sz="2400" dirty="0"/>
          </a:p>
          <a:p>
            <a:r>
              <a:rPr lang="nb-NO" sz="2400" dirty="0"/>
              <a:t>Eksempler:</a:t>
            </a:r>
          </a:p>
          <a:p>
            <a:pPr marL="0" indent="0">
              <a:buNone/>
            </a:pP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background-color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 font-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 font-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weight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position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 border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padding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 margin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outline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display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float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width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height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offset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order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overflow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rotate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scale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tab-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top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transform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visibility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word-wrap</a:t>
            </a:r>
            <a:r>
              <a:rPr lang="nb-NO" sz="2400" dirty="0">
                <a:latin typeface="Consolas" panose="020B0609020204030204" pitchFamily="49" charset="0"/>
              </a:rPr>
              <a:t>, 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z-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index</a:t>
            </a:r>
            <a:r>
              <a:rPr lang="nb-NO" sz="2400" dirty="0">
                <a:latin typeface="Consolas" panose="020B0609020204030204" pitchFamily="49" charset="0"/>
              </a:rPr>
              <a:t>,</a:t>
            </a:r>
            <a:r>
              <a:rPr lang="nb-NO" sz="240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nb-NO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transition</a:t>
            </a: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16506872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95DB-5E75-0CB0-DC3C-9A31A1D91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1508D-E52F-93F1-C277-6F055D697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327795"/>
            <a:ext cx="10554574" cy="4188525"/>
          </a:xfrm>
          <a:effectLst/>
        </p:spPr>
        <p:txBody>
          <a:bodyPr>
            <a:normAutofit/>
          </a:bodyPr>
          <a:lstStyle/>
          <a:p>
            <a:r>
              <a:rPr lang="nb-NO" sz="2400" dirty="0"/>
              <a:t>Tredje delen av CSS koden</a:t>
            </a:r>
          </a:p>
          <a:p>
            <a:r>
              <a:rPr lang="nb-NO" sz="2400" dirty="0"/>
              <a:t>Brukes sammen med </a:t>
            </a:r>
            <a:r>
              <a:rPr lang="nb-NO" sz="2400" dirty="0" err="1"/>
              <a:t>properties</a:t>
            </a:r>
            <a:r>
              <a:rPr lang="nb-NO" sz="2400" dirty="0"/>
              <a:t> for å gi dem en verdi.</a:t>
            </a:r>
          </a:p>
          <a:p>
            <a:endParaRPr lang="nb-NO" sz="2400" dirty="0"/>
          </a:p>
          <a:p>
            <a:r>
              <a:rPr lang="nb-NO" sz="2400" dirty="0"/>
              <a:t>For eksempel:</a:t>
            </a:r>
          </a:p>
          <a:p>
            <a:endParaRPr lang="nb-NO" sz="2400" dirty="0"/>
          </a:p>
          <a:p>
            <a:pPr marL="0" indent="0">
              <a:buNone/>
            </a:pP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orange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nb-NO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bold;</a:t>
            </a:r>
          </a:p>
          <a:p>
            <a:pPr marL="0" indent="0">
              <a:buNone/>
            </a:pPr>
            <a:r>
              <a:rPr lang="nb-NO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</a:t>
            </a:r>
            <a:r>
              <a:rPr lang="nb-NO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nb-NO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369525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8BC3A-FF7F-86AD-992F-91FB4FB4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LA OSS "STYLE" ET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120DA-31F7-5758-4AEA-CBC00FEB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389528"/>
          </a:xfrm>
          <a:effectLst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Her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har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vi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noe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tekst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!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Her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har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vi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noe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mer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tekst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!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4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sz="2400" dirty="0"/>
          </a:p>
          <a:p>
            <a:pPr marL="0" indent="0">
              <a:buNone/>
            </a:pPr>
            <a:endParaRPr lang="en-US" sz="2400" b="0" dirty="0">
              <a:solidFill>
                <a:srgbClr val="D7BA7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dirty="0"/>
              <a:t>CSS Kode:</a:t>
            </a:r>
          </a:p>
          <a:p>
            <a:endParaRPr lang="en-US" sz="2400" b="0" dirty="0">
              <a:effectLst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D7BA7D"/>
                </a:solidFill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purple;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cyan;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94A91-BA44-B2BF-7FA1-CEA385D2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718" y="3264365"/>
            <a:ext cx="6249272" cy="23053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747307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2CE8-4F01-1CF2-39C0-0F801F6C2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KLASSER (CLASSES)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D32B-8D3A-2D33-966A-A59D9F7F3236}"/>
              </a:ext>
            </a:extLst>
          </p:cNvPr>
          <p:cNvSpPr>
            <a:spLocks noGrp="1"/>
          </p:cNvSpPr>
          <p:nvPr>
            <p:ph idx="1"/>
          </p:nvPr>
        </p:nvSpPr>
        <p:spPr>
          <a:effectLst/>
        </p:spPr>
        <p:txBody>
          <a:bodyPr>
            <a:normAutofit/>
          </a:bodyPr>
          <a:lstStyle/>
          <a:p>
            <a:r>
              <a:rPr lang="nb-NO" sz="2400" dirty="0"/>
              <a:t>Med klasser så kan vi gi gitte HTML elementer stiler</a:t>
            </a:r>
          </a:p>
          <a:p>
            <a:r>
              <a:rPr lang="nb-NO" sz="2400" dirty="0"/>
              <a:t>Vi har en ny HTML attributt, som heter enkelt: «</a:t>
            </a:r>
            <a:r>
              <a:rPr lang="nb-NO" sz="2400" dirty="0" err="1"/>
              <a:t>class</a:t>
            </a:r>
            <a:r>
              <a:rPr lang="nb-NO" sz="2400" dirty="0"/>
              <a:t>»</a:t>
            </a:r>
          </a:p>
          <a:p>
            <a:pPr marL="0" indent="0">
              <a:buNone/>
            </a:pPr>
            <a:endParaRPr lang="nb-NO" sz="2400" dirty="0"/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"yoyo"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Dette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befinner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seg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en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klasse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!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400" dirty="0"/>
          </a:p>
          <a:p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3955742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8BC3A-FF7F-86AD-992F-91FB4FB4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LA OSS "STYLE" EN KLASSE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120DA-31F7-5758-4AEA-CBC00FEB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48144"/>
          </a:xfrm>
          <a:effectLst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"yoyo"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Dette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befinner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seg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en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klasse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!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Dette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befinner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seg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ikke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en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klasse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!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sz="2000" dirty="0"/>
          </a:p>
          <a:p>
            <a:pPr marL="0" indent="0">
              <a:buNone/>
            </a:pPr>
            <a:endParaRPr lang="en-US" sz="2000" b="0" dirty="0">
              <a:solidFill>
                <a:srgbClr val="D7BA7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dirty="0"/>
              <a:t>CSS Kode:</a:t>
            </a:r>
          </a:p>
          <a:p>
            <a:endParaRPr lang="en-US" sz="2000" b="0" dirty="0">
              <a:effectLst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.yoyo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orange;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bold;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1EB7DD6-F204-0ADC-4009-84E715DB2295}"/>
              </a:ext>
            </a:extLst>
          </p:cNvPr>
          <p:cNvSpPr/>
          <p:nvPr/>
        </p:nvSpPr>
        <p:spPr>
          <a:xfrm rot="2588011">
            <a:off x="324813" y="4278192"/>
            <a:ext cx="713976" cy="3363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F7A30D-48D7-7953-56BF-67C9761F9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665" y="3949754"/>
            <a:ext cx="7885777" cy="20561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01531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xit" presetSubtype="0" fill="hold" grpId="3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1" presetClass="entr" presetSubtype="0" fill="hold" grpId="4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5E0F-6EC8-2E4C-725E-030E9BF1A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ID (IDENTIFIERS)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289C7-CC9A-8AF1-8E77-8B7737F49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892642" cy="3636511"/>
          </a:xfrm>
          <a:effectLst/>
        </p:spPr>
        <p:txBody>
          <a:bodyPr>
            <a:normAutofit/>
          </a:bodyPr>
          <a:lstStyle/>
          <a:p>
            <a:r>
              <a:rPr lang="nb-NO" sz="2400" dirty="0"/>
              <a:t>Vi har en HTML attributt som heter "id" for spesifikke elementer.</a:t>
            </a:r>
          </a:p>
          <a:p>
            <a:r>
              <a:rPr lang="nb-NO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KUN</a:t>
            </a:r>
            <a:r>
              <a:rPr lang="nb-NO" sz="2400" dirty="0"/>
              <a:t> ett element per HTML fil skal ha en gitt ID.</a:t>
            </a:r>
          </a:p>
          <a:p>
            <a:endParaRPr lang="nb-NO" sz="2400" dirty="0"/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"unique"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Jeg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har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en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ID! </a:t>
            </a:r>
            <a:r>
              <a:rPr lang="en-US" sz="2400" dirty="0" err="1">
                <a:solidFill>
                  <a:srgbClr val="D4D4D4"/>
                </a:solidFill>
                <a:latin typeface="Consolas" panose="020B0609020204030204" pitchFamily="49" charset="0"/>
              </a:rPr>
              <a:t>Helmaks</a:t>
            </a:r>
            <a:r>
              <a:rPr lang="en-US" sz="2400" dirty="0">
                <a:solidFill>
                  <a:srgbClr val="D4D4D4"/>
                </a:solidFill>
                <a:latin typeface="Consolas" panose="020B0609020204030204" pitchFamily="49" charset="0"/>
              </a:rPr>
              <a:t> Egon!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400" dirty="0"/>
          </a:p>
        </p:txBody>
      </p:sp>
    </p:spTree>
    <p:extLst>
      <p:ext uri="{BB962C8B-B14F-4D97-AF65-F5344CB8AC3E}">
        <p14:creationId xmlns:p14="http://schemas.microsoft.com/office/powerpoint/2010/main" val="4995931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8BC3A-FF7F-86AD-992F-91FB4FB4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LA OSS "STYLE" NOE MED EN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120DA-31F7-5758-4AEA-CBC00FEB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20413"/>
            <a:ext cx="10554574" cy="4188525"/>
          </a:xfrm>
          <a:effectLst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"unique"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Jeg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har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ID!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Helmaks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Egon!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"unique"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Jeg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har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klasse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!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Næmmen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så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bra da!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Jeg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er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kjedelig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...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nb-NO" dirty="0"/>
          </a:p>
          <a:p>
            <a:pPr marL="0" indent="0">
              <a:buNone/>
            </a:pPr>
            <a:endParaRPr lang="en-US" b="0" dirty="0">
              <a:solidFill>
                <a:srgbClr val="D7BA7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/>
              <a:t>CSS Kode:</a:t>
            </a:r>
          </a:p>
          <a:p>
            <a:pPr marL="0" indent="0">
              <a:buNone/>
            </a:pPr>
            <a:r>
              <a:rPr lang="en-US" dirty="0">
                <a:solidFill>
                  <a:srgbClr val="D7BA7D"/>
                </a:solidFill>
                <a:latin typeface="Consolas" panose="020B0609020204030204" pitchFamily="49" charset="0"/>
              </a:rPr>
              <a:t>#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font-family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: Arial, Helvetica, sans-serif;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center;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outline-color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: red;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outline-style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: solid;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1EB7DD6-F204-0ADC-4009-84E715DB2295}"/>
              </a:ext>
            </a:extLst>
          </p:cNvPr>
          <p:cNvSpPr/>
          <p:nvPr/>
        </p:nvSpPr>
        <p:spPr>
          <a:xfrm rot="2588011">
            <a:off x="255437" y="3961775"/>
            <a:ext cx="713976" cy="33633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2FCC74-F906-03F0-41A5-7727A1F8B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640" y="5174429"/>
            <a:ext cx="8068360" cy="16835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96044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1" presetClass="entr" presetSubtype="0" fill="hold" grpId="2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xit" presetSubtype="0" fill="hold" grpId="3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" presetClass="entr" presetSubtype="0" fill="hold" grpId="4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ECBC-72B8-FBE5-9E0E-67876A37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SELECTORS FOR FLERE TING SAMTIDIG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E9B85-8BA6-46A8-815F-47811D981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331205"/>
            <a:ext cx="10554574" cy="1073054"/>
          </a:xfrm>
          <a:effectLst/>
        </p:spPr>
        <p:txBody>
          <a:bodyPr/>
          <a:lstStyle/>
          <a:p>
            <a:r>
              <a:rPr lang="nb-NO" dirty="0"/>
              <a:t>Vi kan velge flere ting samtidig i </a:t>
            </a:r>
            <a:r>
              <a:rPr lang="nb-NO" dirty="0" err="1"/>
              <a:t>selector</a:t>
            </a:r>
            <a:r>
              <a:rPr lang="nb-NO" dirty="0"/>
              <a:t> feltet</a:t>
            </a:r>
          </a:p>
          <a:p>
            <a:r>
              <a:rPr lang="nb-NO" dirty="0"/>
              <a:t>Nyttig for å ikke trenge å skrive det samme om og om igjen</a:t>
            </a:r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D6673-3D13-77EE-8041-20677B11AA18}"/>
              </a:ext>
            </a:extLst>
          </p:cNvPr>
          <p:cNvSpPr txBox="1"/>
          <p:nvPr/>
        </p:nvSpPr>
        <p:spPr>
          <a:xfrm>
            <a:off x="818712" y="3121627"/>
            <a:ext cx="4743606" cy="1709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darkmagenta;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Impact, sans-serif;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D9226-CB35-845C-5B2C-445BF9630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459" y="1893346"/>
            <a:ext cx="4188541" cy="49646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DD9B04-CE99-E617-1C29-E3848740FEB9}"/>
              </a:ext>
            </a:extLst>
          </p:cNvPr>
          <p:cNvSpPr txBox="1"/>
          <p:nvPr/>
        </p:nvSpPr>
        <p:spPr>
          <a:xfrm>
            <a:off x="818712" y="5440660"/>
            <a:ext cx="3735564" cy="1294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.yoyo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D7BA7D"/>
                </a:solidFill>
                <a:latin typeface="Consolas" panose="020B0609020204030204" pitchFamily="49" charset="0"/>
              </a:rPr>
              <a:t>#unique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	...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DF599B-9273-38FF-6DAE-164EE9FFB7B9}"/>
              </a:ext>
            </a:extLst>
          </p:cNvPr>
          <p:cNvSpPr txBox="1">
            <a:spLocks/>
          </p:cNvSpPr>
          <p:nvPr/>
        </p:nvSpPr>
        <p:spPr>
          <a:xfrm>
            <a:off x="827424" y="5074248"/>
            <a:ext cx="10554574" cy="54991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/>
              <a:t>Vi kan også blande skrivemåtene</a:t>
            </a:r>
          </a:p>
        </p:txBody>
      </p:sp>
    </p:spTree>
    <p:extLst>
      <p:ext uri="{BB962C8B-B14F-4D97-AF65-F5344CB8AC3E}">
        <p14:creationId xmlns:p14="http://schemas.microsoft.com/office/powerpoint/2010/main" val="33355695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D8C0-9AED-BD0D-E6AD-C84CB11CE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OG NÅ…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11038-656F-91BB-DA5C-FBF4312EE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3089794"/>
            <a:ext cx="10554574" cy="2150421"/>
          </a:xfrm>
        </p:spPr>
        <p:txBody>
          <a:bodyPr>
            <a:normAutofit/>
          </a:bodyPr>
          <a:lstStyle/>
          <a:p>
            <a:r>
              <a:rPr lang="nb-NO" sz="3600" dirty="0"/>
              <a:t>Nå: </a:t>
            </a:r>
            <a:r>
              <a:rPr lang="nb-NO" sz="3600" b="1" dirty="0">
                <a:solidFill>
                  <a:srgbClr val="00B050"/>
                </a:solidFill>
              </a:rPr>
              <a:t>w3schools</a:t>
            </a:r>
            <a:r>
              <a:rPr lang="nb-NO" sz="3600" dirty="0"/>
              <a:t> CSS </a:t>
            </a:r>
            <a:r>
              <a:rPr lang="nb-NO" sz="3600" dirty="0" err="1"/>
              <a:t>Tutorial</a:t>
            </a:r>
            <a:endParaRPr lang="nb-NO" sz="3600" dirty="0"/>
          </a:p>
          <a:p>
            <a:r>
              <a:rPr lang="nb-NO" sz="3600" dirty="0">
                <a:hlinkClick r:id="rId2"/>
              </a:rPr>
              <a:t>https://www.w3schools.com/css/default.asp</a:t>
            </a:r>
            <a:endParaRPr lang="nb-NO" sz="3600" dirty="0"/>
          </a:p>
        </p:txBody>
      </p:sp>
    </p:spTree>
    <p:extLst>
      <p:ext uri="{BB962C8B-B14F-4D97-AF65-F5344CB8AC3E}">
        <p14:creationId xmlns:p14="http://schemas.microsoft.com/office/powerpoint/2010/main" val="1025463922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740601303664D89A49B4379666EAF" ma:contentTypeVersion="11" ma:contentTypeDescription="Opprett et nytt dokument." ma:contentTypeScope="" ma:versionID="bab265c8af60ab04d26a74db93fda490">
  <xsd:schema xmlns:xsd="http://www.w3.org/2001/XMLSchema" xmlns:xs="http://www.w3.org/2001/XMLSchema" xmlns:p="http://schemas.microsoft.com/office/2006/metadata/properties" xmlns:ns2="af681af4-b657-4b5a-8179-809605163d28" xmlns:ns3="378a66ac-eb65-4c48-aeff-c371a53ffd72" targetNamespace="http://schemas.microsoft.com/office/2006/metadata/properties" ma:root="true" ma:fieldsID="3e147aff7170a36a0d108e4f2ae3c7ae" ns2:_="" ns3:_="">
    <xsd:import namespace="af681af4-b657-4b5a-8179-809605163d28"/>
    <xsd:import namespace="378a66ac-eb65-4c48-aeff-c371a53ffd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1af4-b657-4b5a-8179-809605163d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8e92dff-9770-449a-a2b1-8a7a45e58194}" ma:internalName="TaxCatchAll" ma:showField="CatchAllData" ma:web="af681af4-b657-4b5a-8179-809605163d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a66ac-eb65-4c48-aeff-c371a53ff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681af4-b657-4b5a-8179-809605163d28" xsi:nil="true"/>
    <lcf76f155ced4ddcb4097134ff3c332f xmlns="378a66ac-eb65-4c48-aeff-c371a53ffd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935DC8B-E76F-438C-8AD3-AD7FB27273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EB2FB1-2574-4076-9C3C-B1899BB82695}"/>
</file>

<file path=customXml/itemProps3.xml><?xml version="1.0" encoding="utf-8"?>
<ds:datastoreItem xmlns:ds="http://schemas.openxmlformats.org/officeDocument/2006/customXml" ds:itemID="{DB8D76E6-DEDF-484E-A9CF-51700A0012B7}">
  <ds:schemaRefs>
    <ds:schemaRef ds:uri="http://purl.org/dc/dcmitype/"/>
    <ds:schemaRef ds:uri="http://purl.org/dc/elements/1.1/"/>
    <ds:schemaRef ds:uri="http://schemas.openxmlformats.org/package/2006/metadata/core-properties"/>
    <ds:schemaRef ds:uri="b1227f61-4b01-4b9a-91d2-bad7f317c526"/>
    <ds:schemaRef ds:uri="http://www.w3.org/XML/1998/namespace"/>
    <ds:schemaRef ds:uri="http://schemas.microsoft.com/office/2006/metadata/properties"/>
    <ds:schemaRef ds:uri="f39e6ce4-1b24-43f0-ac3a-8251e17daebe"/>
    <ds:schemaRef ds:uri="http://schemas.microsoft.com/office/2006/documentManagement/types"/>
    <ds:schemaRef ds:uri="http://purl.org/dc/terms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2183</TotalTime>
  <Words>857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Century Gothic</vt:lpstr>
      <vt:lpstr>Consolas</vt:lpstr>
      <vt:lpstr>Impact</vt:lpstr>
      <vt:lpstr>Wingdings 2</vt:lpstr>
      <vt:lpstr>Quotable</vt:lpstr>
      <vt:lpstr>PowerPoint Presentation</vt:lpstr>
      <vt:lpstr>CSS (Intro)</vt:lpstr>
      <vt:lpstr>HVA ER CSS?</vt:lpstr>
      <vt:lpstr>TYPER AV CSS</vt:lpstr>
      <vt:lpstr>INLINE CSS</vt:lpstr>
      <vt:lpstr>INTERNAL CSS</vt:lpstr>
      <vt:lpstr>CSS STRUKTUR</vt:lpstr>
      <vt:lpstr>INTERNAL CSS: EKSEMPEL</vt:lpstr>
      <vt:lpstr>SELECTORS</vt:lpstr>
      <vt:lpstr>PROPERTIES</vt:lpstr>
      <vt:lpstr>VALUES</vt:lpstr>
      <vt:lpstr>LA OSS "STYLE" ET ELEMENT</vt:lpstr>
      <vt:lpstr>KLASSER (CLASSES)</vt:lpstr>
      <vt:lpstr>LA OSS "STYLE" EN KLASSE</vt:lpstr>
      <vt:lpstr>ID (IDENTIFIERS)</vt:lpstr>
      <vt:lpstr>LA OSS "STYLE" NOE MED EN ID</vt:lpstr>
      <vt:lpstr>SELECTORS FOR FLERE TING SAMTIDIG</vt:lpstr>
      <vt:lpstr>OG NÅ…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(Intro)</dc:title>
  <dc:creator>Sindre Vatland Hvidsten</dc:creator>
  <cp:lastModifiedBy>Sindre Vatland Hvidsten</cp:lastModifiedBy>
  <cp:revision>56</cp:revision>
  <dcterms:created xsi:type="dcterms:W3CDTF">2023-09-08T09:19:41Z</dcterms:created>
  <dcterms:modified xsi:type="dcterms:W3CDTF">2023-09-15T06:07:52Z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0x010100DAE740601303664D89A49B4379666EAF</vt:lpwstr>
  </property>
</Properties>
</file>