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2" r:id="rId1"/>
  </p:sldMasterIdLst>
  <p:sldIdLst>
    <p:sldId id="256" r:id="rId2"/>
    <p:sldId id="257" r:id="rId3"/>
    <p:sldId id="262" r:id="rId4"/>
    <p:sldId id="263" r:id="rId5"/>
    <p:sldId id="258" r:id="rId6"/>
    <p:sldId id="261" r:id="rId7"/>
    <p:sldId id="260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3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1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34778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7475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41220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7236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3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06457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5550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51118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4412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38739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553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96091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3203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9034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99588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3227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3AA7C-3BA8-42D5-83B0-3B97AFFFF0A2}" type="datetimeFigureOut">
              <a:rPr lang="nb-NO" smtClean="0"/>
              <a:t>15.09.2023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BCE81F2-02DD-4B16-8FA5-62C3D0F347D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43581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F4184-271B-6F66-FBD8-77338BE1EA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103" y="1318591"/>
            <a:ext cx="5800929" cy="4220820"/>
          </a:xfrm>
        </p:spPr>
        <p:txBody>
          <a:bodyPr anchor="ctr">
            <a:normAutofit/>
          </a:bodyPr>
          <a:lstStyle/>
          <a:p>
            <a:pPr algn="r"/>
            <a:r>
              <a:rPr lang="nb-NO" sz="6600" dirty="0">
                <a:solidFill>
                  <a:schemeClr val="tx2">
                    <a:lumMod val="75000"/>
                  </a:schemeClr>
                </a:solidFill>
              </a:rPr>
              <a:t>Litt ekstra HTML og CSS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62A0C-A42A-C616-8244-92ACAD68A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5048" y="1871831"/>
            <a:ext cx="3084569" cy="3199806"/>
          </a:xfrm>
        </p:spPr>
        <p:txBody>
          <a:bodyPr anchor="ctr">
            <a:normAutofit/>
          </a:bodyPr>
          <a:lstStyle/>
          <a:p>
            <a:r>
              <a:rPr lang="nb-NO" sz="2800" dirty="0">
                <a:solidFill>
                  <a:schemeClr val="tx2">
                    <a:lumMod val="75000"/>
                  </a:schemeClr>
                </a:solidFill>
              </a:rPr>
              <a:t>For å gjøre CSS litt enklere!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17EBE3-FF86-4DA1-BC9A-331F7F214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D43EC1-35FA-4FC3-8526-F655CEB09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7196" y="1871831"/>
            <a:ext cx="0" cy="320040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686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610D94-BECB-ECA4-EE3D-AFBEB3AF78A1}"/>
              </a:ext>
            </a:extLst>
          </p:cNvPr>
          <p:cNvSpPr/>
          <p:nvPr/>
        </p:nvSpPr>
        <p:spPr>
          <a:xfrm>
            <a:off x="3281082" y="5524526"/>
            <a:ext cx="7504431" cy="413566"/>
          </a:xfrm>
          <a:prstGeom prst="rect">
            <a:avLst/>
          </a:prstGeom>
          <a:solidFill>
            <a:schemeClr val="accent6">
              <a:lumMod val="75000"/>
              <a:alpha val="34902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7EB38-E95B-0EC1-5F79-30FC4F946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59859"/>
            <a:ext cx="8915400" cy="4876800"/>
          </a:xfrm>
        </p:spPr>
        <p:txBody>
          <a:bodyPr>
            <a:noAutofit/>
          </a:bodyPr>
          <a:lstStyle/>
          <a:p>
            <a:r>
              <a:rPr lang="nb-NO" sz="2400" dirty="0"/>
              <a:t>Det kan bli litt tungvint å ha alt i samme HTML fil.</a:t>
            </a:r>
          </a:p>
          <a:p>
            <a:r>
              <a:rPr lang="nb-NO" sz="2400" dirty="0"/>
              <a:t>Derfor har vi det vi kaller "</a:t>
            </a:r>
            <a:r>
              <a:rPr lang="nb-NO" sz="2400" dirty="0" err="1"/>
              <a:t>External</a:t>
            </a:r>
            <a:r>
              <a:rPr lang="nb-NO" sz="2400" dirty="0"/>
              <a:t> CSS".</a:t>
            </a:r>
          </a:p>
          <a:p>
            <a:r>
              <a:rPr lang="nb-NO" sz="2400" dirty="0"/>
              <a:t>Med dette kan vi ha CSS i en egen fil.</a:t>
            </a:r>
          </a:p>
          <a:p>
            <a:r>
              <a:rPr lang="nb-NO" sz="2400" dirty="0"/>
              <a:t>Gjør det mer ryddig!</a:t>
            </a:r>
          </a:p>
          <a:p>
            <a:endParaRPr lang="nb-NO" sz="2400" dirty="0"/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Min </a:t>
            </a:r>
            <a:r>
              <a:rPr lang="en-US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nettside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/style.css"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6F2DCD-BDEC-A6C9-8F50-E38C072B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545452"/>
            <a:ext cx="8911687" cy="1280890"/>
          </a:xfrm>
        </p:spPr>
        <p:txBody>
          <a:bodyPr/>
          <a:lstStyle/>
          <a:p>
            <a:r>
              <a:rPr lang="nb-NO" dirty="0" err="1"/>
              <a:t>External</a:t>
            </a:r>
            <a:r>
              <a:rPr lang="nb-NO" dirty="0"/>
              <a:t> CSS</a:t>
            </a:r>
          </a:p>
        </p:txBody>
      </p:sp>
    </p:spTree>
    <p:extLst>
      <p:ext uri="{BB962C8B-B14F-4D97-AF65-F5344CB8AC3E}">
        <p14:creationId xmlns:p14="http://schemas.microsoft.com/office/powerpoint/2010/main" val="35881820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0C023-2A20-39E8-12D6-4D194FCD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686" y="658629"/>
            <a:ext cx="8911687" cy="1280890"/>
          </a:xfrm>
        </p:spPr>
        <p:txBody>
          <a:bodyPr/>
          <a:lstStyle/>
          <a:p>
            <a:pPr algn="ctr"/>
            <a:r>
              <a:rPr lang="nb-NO" dirty="0"/>
              <a:t>Hvor ligger denne CSS filen?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F544E7-C61E-08FD-CD21-F41248065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5918" y="2637828"/>
            <a:ext cx="4220164" cy="292458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50C571-58BF-7C6D-D93F-871D9D4F7634}"/>
              </a:ext>
            </a:extLst>
          </p:cNvPr>
          <p:cNvSpPr txBox="1"/>
          <p:nvPr/>
        </p:nvSpPr>
        <p:spPr>
          <a:xfrm>
            <a:off x="3397623" y="1599101"/>
            <a:ext cx="5865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/style.css"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B630E54D-34F5-BC1B-113A-615FFD81D64E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68588" y="2087033"/>
            <a:ext cx="3128684" cy="1274732"/>
          </a:xfrm>
          <a:prstGeom prst="bentConnector3">
            <a:avLst>
              <a:gd name="adj1" fmla="val 12220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B004311-F28A-73EB-6629-0B3278059C5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85131" y="2366681"/>
            <a:ext cx="3603810" cy="1456297"/>
          </a:xfrm>
          <a:prstGeom prst="bentConnector3">
            <a:avLst>
              <a:gd name="adj1" fmla="val 140547"/>
            </a:avLst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F1C33D-C325-343A-3871-53F09ACDB152}"/>
              </a:ext>
            </a:extLst>
          </p:cNvPr>
          <p:cNvCxnSpPr/>
          <p:nvPr/>
        </p:nvCxnSpPr>
        <p:spPr>
          <a:xfrm flipV="1">
            <a:off x="7888941" y="2038331"/>
            <a:ext cx="0" cy="32834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BD75630-B608-0692-EE97-7A5B59D9CE3D}"/>
              </a:ext>
            </a:extLst>
          </p:cNvPr>
          <p:cNvSpPr txBox="1"/>
          <p:nvPr/>
        </p:nvSpPr>
        <p:spPr>
          <a:xfrm>
            <a:off x="3753852" y="5768484"/>
            <a:ext cx="468429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Vi kan også ha flere CSS filer hvis vi vil!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dirty="0"/>
              <a:t>Husk filtypen: </a:t>
            </a:r>
            <a:r>
              <a:rPr lang="nb-NO" sz="3200" b="1" dirty="0">
                <a:solidFill>
                  <a:srgbClr val="FFC000"/>
                </a:solidFill>
                <a:latin typeface="Consolas" panose="020B0609020204030204" pitchFamily="49" charset="0"/>
              </a:rPr>
              <a:t>.</a:t>
            </a:r>
            <a:r>
              <a:rPr lang="nb-NO" sz="32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css</a:t>
            </a:r>
            <a:endParaRPr lang="nb-NO" b="1" dirty="0">
              <a:solidFill>
                <a:srgbClr val="FFC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0743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809B993-8FEB-46DC-9CD7-69C95E2C9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35B20-2126-757F-DD9C-3A9BC626E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nb-NO" sz="3200">
                <a:solidFill>
                  <a:schemeClr val="bg1"/>
                </a:solidFill>
              </a:rPr>
              <a:t>Hvordan skrives External CSS?</a:t>
            </a:r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E9821DA-CF82-4DA7-A2E9-77C49ECD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7F90B71-DFD0-4AAD-BD8F-3D4A022F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AA09F-92D4-05A4-635F-E0B4F2553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2036" y="284965"/>
            <a:ext cx="6832212" cy="2894936"/>
          </a:xfrm>
        </p:spPr>
        <p:txBody>
          <a:bodyPr>
            <a:normAutofit/>
          </a:bodyPr>
          <a:lstStyle/>
          <a:p>
            <a:pPr marL="260604" indent="-260604" defTabSz="347472">
              <a:lnSpc>
                <a:spcPct val="150000"/>
              </a:lnSpc>
              <a:spcBef>
                <a:spcPts val="760"/>
              </a:spcBef>
            </a:pPr>
            <a:r>
              <a:rPr lang="nb-NO" sz="2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Skrives inn i "style.css" filen</a:t>
            </a:r>
          </a:p>
          <a:p>
            <a:pPr marL="260604" indent="-260604" defTabSz="347472">
              <a:lnSpc>
                <a:spcPct val="150000"/>
              </a:lnSpc>
              <a:spcBef>
                <a:spcPts val="760"/>
              </a:spcBef>
            </a:pPr>
            <a:r>
              <a:rPr lang="nb-NO" sz="2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Helt likt som "</a:t>
            </a:r>
            <a:r>
              <a:rPr lang="nb-NO" sz="2800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Internal</a:t>
            </a:r>
            <a:r>
              <a:rPr lang="nb-NO" sz="2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CSS"</a:t>
            </a:r>
          </a:p>
          <a:p>
            <a:pPr marL="260604" indent="-260604" defTabSz="347472">
              <a:lnSpc>
                <a:spcPct val="150000"/>
              </a:lnSpc>
              <a:spcBef>
                <a:spcPts val="760"/>
              </a:spcBef>
            </a:pPr>
            <a:r>
              <a:rPr lang="nb-NO" sz="28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Vi trenger ikke å skrive en &lt;style&gt; tag</a:t>
            </a:r>
            <a:endParaRPr lang="nb-NO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C9D1C4-C024-E8F6-78B1-59B302335DFB}"/>
              </a:ext>
            </a:extLst>
          </p:cNvPr>
          <p:cNvSpPr txBox="1"/>
          <p:nvPr/>
        </p:nvSpPr>
        <p:spPr>
          <a:xfrm>
            <a:off x="4312036" y="2516825"/>
            <a:ext cx="7641772" cy="4197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7472">
              <a:lnSpc>
                <a:spcPct val="150000"/>
              </a:lnSpc>
              <a:spcAft>
                <a:spcPts val="600"/>
              </a:spcAft>
            </a:pPr>
            <a:r>
              <a:rPr lang="nb-NO" sz="2000" kern="1200" dirty="0">
                <a:solidFill>
                  <a:srgbClr val="D7BA7D"/>
                </a:solidFill>
                <a:latin typeface="Consolas" panose="020B0609020204030204" pitchFamily="49" charset="0"/>
                <a:ea typeface="+mn-ea"/>
                <a:cs typeface="+mn-cs"/>
              </a:rPr>
              <a:t>body</a:t>
            </a: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defTabSz="347472">
              <a:lnSpc>
                <a:spcPct val="150000"/>
              </a:lnSpc>
              <a:spcAft>
                <a:spcPts val="600"/>
              </a:spcAft>
            </a:pP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lang="nb-NO" sz="2000" kern="1200" dirty="0">
                <a:solidFill>
                  <a:srgbClr val="9CDCFE"/>
                </a:solidFill>
                <a:latin typeface="Consolas" panose="020B0609020204030204" pitchFamily="49" charset="0"/>
                <a:ea typeface="+mn-ea"/>
                <a:cs typeface="+mn-cs"/>
              </a:rPr>
              <a:t>font-</a:t>
            </a:r>
            <a:r>
              <a:rPr lang="nb-NO" sz="2000" kern="1200" dirty="0" err="1">
                <a:solidFill>
                  <a:srgbClr val="9CDCFE"/>
                </a:solidFill>
                <a:latin typeface="Consolas" panose="020B0609020204030204" pitchFamily="49" charset="0"/>
                <a:ea typeface="+mn-ea"/>
                <a:cs typeface="+mn-cs"/>
              </a:rPr>
              <a:t>family</a:t>
            </a: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: Verdana, </a:t>
            </a:r>
            <a:r>
              <a:rPr lang="nb-NO" sz="2000" kern="1200" dirty="0" err="1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Geneva</a:t>
            </a: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, Tahoma, sans-</a:t>
            </a:r>
            <a:r>
              <a:rPr lang="nb-NO" sz="2000" kern="1200" dirty="0" err="1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serif</a:t>
            </a: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347472">
              <a:lnSpc>
                <a:spcPct val="150000"/>
              </a:lnSpc>
              <a:spcAft>
                <a:spcPts val="600"/>
              </a:spcAft>
            </a:pP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lang="nb-NO" sz="2000" kern="1200" dirty="0" err="1">
                <a:solidFill>
                  <a:srgbClr val="9CDCFE"/>
                </a:solidFill>
                <a:latin typeface="Consolas" panose="020B0609020204030204" pitchFamily="49" charset="0"/>
                <a:ea typeface="+mn-ea"/>
                <a:cs typeface="+mn-cs"/>
              </a:rPr>
              <a:t>background-color</a:t>
            </a: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: </a:t>
            </a:r>
            <a:r>
              <a:rPr lang="nb-NO" sz="2000" kern="1200" dirty="0" err="1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azure</a:t>
            </a: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defTabSz="347472">
              <a:lnSpc>
                <a:spcPct val="150000"/>
              </a:lnSpc>
              <a:spcAft>
                <a:spcPts val="600"/>
              </a:spcAft>
            </a:pP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defTabSz="347472">
              <a:lnSpc>
                <a:spcPct val="150000"/>
              </a:lnSpc>
              <a:spcAft>
                <a:spcPts val="600"/>
              </a:spcAft>
            </a:pPr>
            <a:b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</a:br>
            <a:r>
              <a:rPr lang="nb-NO" sz="2000" kern="1200" dirty="0">
                <a:solidFill>
                  <a:srgbClr val="D7BA7D"/>
                </a:solidFill>
                <a:latin typeface="Consolas" panose="020B0609020204030204" pitchFamily="49" charset="0"/>
                <a:ea typeface="+mn-ea"/>
                <a:cs typeface="+mn-cs"/>
              </a:rPr>
              <a:t>#mainheadline</a:t>
            </a: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defTabSz="347472">
              <a:lnSpc>
                <a:spcPct val="150000"/>
              </a:lnSpc>
              <a:spcAft>
                <a:spcPts val="600"/>
              </a:spcAft>
            </a:pP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lang="nb-NO" sz="2000" kern="1200" dirty="0" err="1">
                <a:solidFill>
                  <a:srgbClr val="9CDCFE"/>
                </a:solidFill>
                <a:latin typeface="Consolas" panose="020B0609020204030204" pitchFamily="49" charset="0"/>
                <a:ea typeface="+mn-ea"/>
                <a:cs typeface="+mn-cs"/>
              </a:rPr>
              <a:t>color</a:t>
            </a: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: green;</a:t>
            </a:r>
          </a:p>
          <a:p>
            <a:pPr defTabSz="347472">
              <a:lnSpc>
                <a:spcPct val="150000"/>
              </a:lnSpc>
              <a:spcAft>
                <a:spcPts val="600"/>
              </a:spcAft>
            </a:pPr>
            <a:r>
              <a:rPr lang="nb-NO" sz="2000" kern="1200" dirty="0">
                <a:solidFill>
                  <a:srgbClr val="D4D4D4"/>
                </a:solidFill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lang="nb-NO" sz="3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4053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47D3502-15D7-40E3-8799-AADA72E46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ABBD0-2A13-302E-D299-FFC609D0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nb-NO" dirty="0"/>
              <a:t>Flere HTML filer samtidig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4DC666-97B4-4AC4-9916-A1936C2F6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235E9-3BC4-938B-2BD0-7AEAE7253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5002428" cy="375925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nb-NO" sz="2400" dirty="0"/>
              <a:t>Vi kan ha flere HTML filer i samme prosjekt!</a:t>
            </a:r>
          </a:p>
          <a:p>
            <a:pPr>
              <a:lnSpc>
                <a:spcPct val="150000"/>
              </a:lnSpc>
            </a:pPr>
            <a:r>
              <a:rPr lang="nb-NO" sz="2400" dirty="0"/>
              <a:t>Dette kan da brukes for å lage "undersider"</a:t>
            </a:r>
          </a:p>
          <a:p>
            <a:pPr>
              <a:lnSpc>
                <a:spcPct val="150000"/>
              </a:lnSpc>
            </a:pPr>
            <a:r>
              <a:rPr lang="nb-NO" sz="2400" dirty="0"/>
              <a:t>Men hvordan lager vi koblinger mellom dem?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9841B51-97C7-2793-435F-0B0D7BDC0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631" y="1433738"/>
            <a:ext cx="5758312" cy="3990523"/>
          </a:xfrm>
          <a:prstGeom prst="rect">
            <a:avLst/>
          </a:prstGeom>
        </p:spPr>
      </p:pic>
      <p:sp>
        <p:nvSpPr>
          <p:cNvPr id="13" name="Freeform 43">
            <a:extLst>
              <a:ext uri="{FF2B5EF4-FFF2-40B4-BE49-F238E27FC236}">
                <a16:creationId xmlns:a16="http://schemas.microsoft.com/office/drawing/2014/main" id="{4EEFCCD7-9BFF-47EA-9C91-94E380FD8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238529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47F3-98B7-6C04-5642-07E2BF4C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Navigasjon mellom nettsider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D4F31-F857-E4C7-7105-D13D9183B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762" y="1555276"/>
            <a:ext cx="8915400" cy="37776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nb-NO" sz="2000" dirty="0"/>
              <a:t>Ny HTML </a:t>
            </a:r>
            <a:r>
              <a:rPr lang="nb-NO" sz="2000" b="1" i="1" dirty="0"/>
              <a:t>tag </a:t>
            </a:r>
            <a:r>
              <a:rPr lang="nb-NO" sz="2000" dirty="0"/>
              <a:t>som heter &lt;nav&gt;</a:t>
            </a:r>
          </a:p>
          <a:p>
            <a:pPr>
              <a:lnSpc>
                <a:spcPct val="150000"/>
              </a:lnSpc>
            </a:pPr>
            <a:r>
              <a:rPr lang="nb-NO" sz="2000" dirty="0"/>
              <a:t>Nyttig for å linke mellom sider</a:t>
            </a:r>
          </a:p>
          <a:p>
            <a:pPr>
              <a:lnSpc>
                <a:spcPct val="150000"/>
              </a:lnSpc>
            </a:pPr>
            <a:r>
              <a:rPr lang="nb-NO" sz="2000" dirty="0"/>
              <a:t>Vi husker &lt;a&gt; taggen, den brukes nå!</a:t>
            </a:r>
          </a:p>
          <a:p>
            <a:pPr marL="0" indent="0">
              <a:lnSpc>
                <a:spcPct val="150000"/>
              </a:lnSpc>
              <a:buNone/>
            </a:pPr>
            <a:endParaRPr lang="nb-NO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30C41-6F63-7487-CDAF-4E8B0A6C07D1}"/>
              </a:ext>
            </a:extLst>
          </p:cNvPr>
          <p:cNvSpPr txBox="1"/>
          <p:nvPr/>
        </p:nvSpPr>
        <p:spPr>
          <a:xfrm>
            <a:off x="2165039" y="3683475"/>
            <a:ext cx="6931345" cy="2351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nb-NO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"index.html"</a:t>
            </a: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Startside</a:t>
            </a: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nb-NO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"about.html"</a:t>
            </a: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Om meg</a:t>
            </a: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nb-NO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nb-NO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"contact.html"</a:t>
            </a: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nb-NO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Kontakt</a:t>
            </a: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nb-NO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sz="20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234244-049C-DA8D-A60B-9DF998F16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307" y="1389644"/>
            <a:ext cx="3083939" cy="14480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76C3BA-0E7D-029A-C030-8536B7D03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2454" y="3204698"/>
            <a:ext cx="3285644" cy="1530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9790FF-830C-F89D-2A9D-3E1DA0AD9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081" y="5102038"/>
            <a:ext cx="3651340" cy="1530300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7A410F5F-3404-A390-5A14-E31CE8A76F49}"/>
              </a:ext>
            </a:extLst>
          </p:cNvPr>
          <p:cNvSpPr/>
          <p:nvPr/>
        </p:nvSpPr>
        <p:spPr>
          <a:xfrm>
            <a:off x="9623591" y="2837658"/>
            <a:ext cx="403370" cy="36704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6B27A038-69AA-794C-10D1-CAD6A4BE143B}"/>
              </a:ext>
            </a:extLst>
          </p:cNvPr>
          <p:cNvSpPr/>
          <p:nvPr/>
        </p:nvSpPr>
        <p:spPr>
          <a:xfrm>
            <a:off x="9623591" y="4734998"/>
            <a:ext cx="403370" cy="36704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7276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E0789E-91A7-4246-978E-A17FE1BF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795735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C6C0BD2-8B3C-4042-B4EE-5DB7665A3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  <a:solidFill>
            <a:schemeClr val="bg2"/>
          </a:solidFill>
        </p:grpSpPr>
        <p:sp>
          <p:nvSpPr>
            <p:cNvPr id="11" name="Freeform 27">
              <a:extLst>
                <a:ext uri="{FF2B5EF4-FFF2-40B4-BE49-F238E27FC236}">
                  <a16:creationId xmlns:a16="http://schemas.microsoft.com/office/drawing/2014/main" id="{5F53669F-C1E6-43B8-AC6F-B44CE56BF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2" name="Freeform 28">
              <a:extLst>
                <a:ext uri="{FF2B5EF4-FFF2-40B4-BE49-F238E27FC236}">
                  <a16:creationId xmlns:a16="http://schemas.microsoft.com/office/drawing/2014/main" id="{53966C25-DAEA-4318-8FBC-EC6FF8F5A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3" name="Freeform 29">
              <a:extLst>
                <a:ext uri="{FF2B5EF4-FFF2-40B4-BE49-F238E27FC236}">
                  <a16:creationId xmlns:a16="http://schemas.microsoft.com/office/drawing/2014/main" id="{ED6EA716-EAD4-4023-8673-0809A1E24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84261748-EFC0-4729-A7BB-A88FDAF6F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5" name="Freeform 31">
              <a:extLst>
                <a:ext uri="{FF2B5EF4-FFF2-40B4-BE49-F238E27FC236}">
                  <a16:creationId xmlns:a16="http://schemas.microsoft.com/office/drawing/2014/main" id="{2C14F808-CC69-494F-98AC-CB750416C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6" name="Freeform 32">
              <a:extLst>
                <a:ext uri="{FF2B5EF4-FFF2-40B4-BE49-F238E27FC236}">
                  <a16:creationId xmlns:a16="http://schemas.microsoft.com/office/drawing/2014/main" id="{F1CA3607-84D0-4085-A363-796A17B1D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7" name="Freeform 33">
              <a:extLst>
                <a:ext uri="{FF2B5EF4-FFF2-40B4-BE49-F238E27FC236}">
                  <a16:creationId xmlns:a16="http://schemas.microsoft.com/office/drawing/2014/main" id="{491E6160-2958-4A90-8B50-EDA182AAB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" name="Freeform 34">
              <a:extLst>
                <a:ext uri="{FF2B5EF4-FFF2-40B4-BE49-F238E27FC236}">
                  <a16:creationId xmlns:a16="http://schemas.microsoft.com/office/drawing/2014/main" id="{559F6CB7-E057-499B-A859-360276989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FF12353D-CF89-4D03-8075-C161824E2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5B91C9D6-FAF2-445B-AF1B-43992602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1" name="Freeform 37">
              <a:extLst>
                <a:ext uri="{FF2B5EF4-FFF2-40B4-BE49-F238E27FC236}">
                  <a16:creationId xmlns:a16="http://schemas.microsoft.com/office/drawing/2014/main" id="{570F7A1D-86B1-4AD1-B4A3-9AE2A52C8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22" name="Freeform 38">
              <a:extLst>
                <a:ext uri="{FF2B5EF4-FFF2-40B4-BE49-F238E27FC236}">
                  <a16:creationId xmlns:a16="http://schemas.microsoft.com/office/drawing/2014/main" id="{52C6EBA8-95CC-4FE6-A8E4-3A6911E8A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A711D6A-07C7-91E2-2839-A8E9B04C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56" y="1093380"/>
            <a:ext cx="3068182" cy="4671240"/>
          </a:xfrm>
        </p:spPr>
        <p:txBody>
          <a:bodyPr anchor="ctr">
            <a:normAutofit/>
          </a:bodyPr>
          <a:lstStyle/>
          <a:p>
            <a:pPr algn="r"/>
            <a:r>
              <a:rPr lang="nb-NO" sz="4400" dirty="0"/>
              <a:t>Oppgave!</a:t>
            </a:r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15EDA122-4530-45D2-A70A-B1A967AAE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82F52E-0F94-4BFC-9F89-B054DDEAB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AFD4D-0FBC-7DF4-FA98-10FCFB3E8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757" y="149087"/>
            <a:ext cx="7121530" cy="6422515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nb-NO" sz="3000" b="1" dirty="0"/>
              <a:t>Nå skal vi lage en litt mer fullverdig nettside!</a:t>
            </a:r>
          </a:p>
          <a:p>
            <a:endParaRPr lang="nb-NO" sz="2800" dirty="0"/>
          </a:p>
          <a:p>
            <a:r>
              <a:rPr lang="nb-NO" sz="2800" dirty="0"/>
              <a:t>Dette </a:t>
            </a:r>
            <a:r>
              <a:rPr lang="nb-NO" sz="2800" u="sng" dirty="0"/>
              <a:t>skal</a:t>
            </a:r>
            <a:r>
              <a:rPr lang="nb-NO" sz="2800" dirty="0"/>
              <a:t> vi lage:</a:t>
            </a:r>
          </a:p>
          <a:p>
            <a:r>
              <a:rPr lang="nb-NO" sz="2800" u="sng" dirty="0"/>
              <a:t>Minst</a:t>
            </a:r>
            <a:r>
              <a:rPr lang="nb-NO" sz="2800" dirty="0"/>
              <a:t> tre HTML sider (inkluderer startsiden "index.html")</a:t>
            </a:r>
          </a:p>
          <a:p>
            <a:r>
              <a:rPr lang="nb-NO" sz="2800" dirty="0"/>
              <a:t>Du </a:t>
            </a:r>
            <a:r>
              <a:rPr lang="nb-NO" sz="2800" u="sng" dirty="0"/>
              <a:t>skal</a:t>
            </a:r>
            <a:r>
              <a:rPr lang="nb-NO" sz="2800" dirty="0"/>
              <a:t> kunne navigere mellom sidene</a:t>
            </a:r>
          </a:p>
          <a:p>
            <a:r>
              <a:rPr lang="nb-NO" sz="2800" dirty="0"/>
              <a:t>Hver side skal ha minst </a:t>
            </a:r>
          </a:p>
          <a:p>
            <a:pPr lvl="1"/>
            <a:r>
              <a:rPr lang="nb-NO" sz="2400" dirty="0"/>
              <a:t>En overskrift (&lt;h1&gt;), brødtekst (&lt;p&gt;), en illustrasjon eller et bilde (&lt;</a:t>
            </a:r>
            <a:r>
              <a:rPr lang="nb-NO" sz="2400" dirty="0" err="1"/>
              <a:t>img</a:t>
            </a:r>
            <a:r>
              <a:rPr lang="nb-NO" sz="2400" dirty="0"/>
              <a:t>&gt;)</a:t>
            </a:r>
          </a:p>
          <a:p>
            <a:r>
              <a:rPr lang="nb-NO" sz="2800" dirty="0"/>
              <a:t>Siden </a:t>
            </a:r>
            <a:r>
              <a:rPr lang="nb-NO" sz="2800" u="sng" dirty="0"/>
              <a:t>skal</a:t>
            </a:r>
            <a:r>
              <a:rPr lang="nb-NO" sz="2800" dirty="0"/>
              <a:t> være stylet med Ekstern CSS</a:t>
            </a:r>
          </a:p>
          <a:p>
            <a:r>
              <a:rPr lang="nb-NO" sz="2800" dirty="0"/>
              <a:t>Dere kan ha mer enn dette hvis dere vil</a:t>
            </a:r>
          </a:p>
        </p:txBody>
      </p:sp>
    </p:spTree>
    <p:extLst>
      <p:ext uri="{BB962C8B-B14F-4D97-AF65-F5344CB8AC3E}">
        <p14:creationId xmlns:p14="http://schemas.microsoft.com/office/powerpoint/2010/main" val="64852859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95B45654-1E41-4D0C-AA8C-A46B1AC38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D39BB06B-F9E3-4C9A-8A74-5BF85D948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21454BBF-CB9C-4FF6-915A-4ADCC85C1F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F1D72402-9D54-465B-9656-8F938318D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4" name="Freeform 14">
              <a:extLst>
                <a:ext uri="{FF2B5EF4-FFF2-40B4-BE49-F238E27FC236}">
                  <a16:creationId xmlns:a16="http://schemas.microsoft.com/office/drawing/2014/main" id="{85BE8435-1920-4535-AA32-B6F5DB36B6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5" name="Freeform 15">
              <a:extLst>
                <a:ext uri="{FF2B5EF4-FFF2-40B4-BE49-F238E27FC236}">
                  <a16:creationId xmlns:a16="http://schemas.microsoft.com/office/drawing/2014/main" id="{BB1A2F77-E480-4E18-A13F-2B952567D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6" name="Freeform 16">
              <a:extLst>
                <a:ext uri="{FF2B5EF4-FFF2-40B4-BE49-F238E27FC236}">
                  <a16:creationId xmlns:a16="http://schemas.microsoft.com/office/drawing/2014/main" id="{0B0B76BF-DCF4-4EB9-969C-3805C02563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7" name="Freeform 17">
              <a:extLst>
                <a:ext uri="{FF2B5EF4-FFF2-40B4-BE49-F238E27FC236}">
                  <a16:creationId xmlns:a16="http://schemas.microsoft.com/office/drawing/2014/main" id="{E997E693-06AC-4EC9-89D3-954C32A1A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8" name="Freeform 18">
              <a:extLst>
                <a:ext uri="{FF2B5EF4-FFF2-40B4-BE49-F238E27FC236}">
                  <a16:creationId xmlns:a16="http://schemas.microsoft.com/office/drawing/2014/main" id="{E252D29B-22CB-4CC3-B107-E0C6C3A0E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69" name="Freeform 19">
              <a:extLst>
                <a:ext uri="{FF2B5EF4-FFF2-40B4-BE49-F238E27FC236}">
                  <a16:creationId xmlns:a16="http://schemas.microsoft.com/office/drawing/2014/main" id="{DF9C1965-DC01-463D-BD42-F93D1192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0" name="Freeform 20">
              <a:extLst>
                <a:ext uri="{FF2B5EF4-FFF2-40B4-BE49-F238E27FC236}">
                  <a16:creationId xmlns:a16="http://schemas.microsoft.com/office/drawing/2014/main" id="{91BDE1D7-423A-465A-B4C9-EA3CD265D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6D1A970E-B87C-430F-BB94-4A55F2E55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2" name="Freeform 22">
              <a:extLst>
                <a:ext uri="{FF2B5EF4-FFF2-40B4-BE49-F238E27FC236}">
                  <a16:creationId xmlns:a16="http://schemas.microsoft.com/office/drawing/2014/main" id="{CAE781ED-FA4B-4175-9944-54B576CAE3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CA928F7-3AF8-43CC-94D9-7975B422A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C085AF0E-C55A-4484-A20D-5FFF046C1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2401E571-D69A-4A04-B9F8-FF90006F9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02F27D18-A26B-464F-B52F-52EF4166E4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9B2EF7E3-8AD6-4114-883F-64ED2F816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79" name="Freeform 31">
              <a:extLst>
                <a:ext uri="{FF2B5EF4-FFF2-40B4-BE49-F238E27FC236}">
                  <a16:creationId xmlns:a16="http://schemas.microsoft.com/office/drawing/2014/main" id="{3E5BBFA2-0C3A-4832-B823-66E6C7373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0" name="Freeform 32">
              <a:extLst>
                <a:ext uri="{FF2B5EF4-FFF2-40B4-BE49-F238E27FC236}">
                  <a16:creationId xmlns:a16="http://schemas.microsoft.com/office/drawing/2014/main" id="{9C382B9F-1916-4465-9B86-E5D180E3D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1" name="Freeform 33">
              <a:extLst>
                <a:ext uri="{FF2B5EF4-FFF2-40B4-BE49-F238E27FC236}">
                  <a16:creationId xmlns:a16="http://schemas.microsoft.com/office/drawing/2014/main" id="{DA9C5780-AB44-4111-AD14-B9CDC7D7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2" name="Freeform 34">
              <a:extLst>
                <a:ext uri="{FF2B5EF4-FFF2-40B4-BE49-F238E27FC236}">
                  <a16:creationId xmlns:a16="http://schemas.microsoft.com/office/drawing/2014/main" id="{583D8553-2965-4E5F-B403-CD08C4529A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3" name="Freeform 35">
              <a:extLst>
                <a:ext uri="{FF2B5EF4-FFF2-40B4-BE49-F238E27FC236}">
                  <a16:creationId xmlns:a16="http://schemas.microsoft.com/office/drawing/2014/main" id="{7CD7A569-E069-4B39-A2E7-6B736647F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4" name="Freeform 36">
              <a:extLst>
                <a:ext uri="{FF2B5EF4-FFF2-40B4-BE49-F238E27FC236}">
                  <a16:creationId xmlns:a16="http://schemas.microsoft.com/office/drawing/2014/main" id="{B79C6BC1-0E07-4A80-A633-BC50D3228E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B847BAD8-EE16-46EF-9F1D-2E69AB93A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86" name="Freeform 38">
              <a:extLst>
                <a:ext uri="{FF2B5EF4-FFF2-40B4-BE49-F238E27FC236}">
                  <a16:creationId xmlns:a16="http://schemas.microsoft.com/office/drawing/2014/main" id="{99A4F28A-BC31-4132-8833-AB6E2F2A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4CD9E3B6-76D9-4C3C-8904-66301FE63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90" name="Freeform 6">
            <a:extLst>
              <a:ext uri="{FF2B5EF4-FFF2-40B4-BE49-F238E27FC236}">
                <a16:creationId xmlns:a16="http://schemas.microsoft.com/office/drawing/2014/main" id="{B03E5DAD-6D56-4406-8126-57E9A3EFB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nb-NO"/>
          </a:p>
        </p:txBody>
      </p:sp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EF9DBCE5-2A0D-4132-9400-C1A905E72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8190A0C-390B-418A-9335-DCD0FD830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accent1">
              <a:alpha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51E2B5-17BF-95CC-EE79-1E312FEF4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>
                <a:solidFill>
                  <a:srgbClr val="FEFFFF"/>
                </a:solidFill>
              </a:rPr>
              <a:t>Eksempel på</a:t>
            </a:r>
            <a:br>
              <a:rPr lang="en-US" sz="4000" b="1">
                <a:solidFill>
                  <a:srgbClr val="FEFFFF"/>
                </a:solidFill>
              </a:rPr>
            </a:br>
            <a:r>
              <a:rPr lang="en-US" sz="4000" b="1">
                <a:solidFill>
                  <a:srgbClr val="FEFFFF"/>
                </a:solidFill>
              </a:rPr>
              <a:t>hvordan det kan se ut</a:t>
            </a:r>
          </a:p>
        </p:txBody>
      </p:sp>
      <p:sp>
        <p:nvSpPr>
          <p:cNvPr id="96" name="Freeform 5">
            <a:extLst>
              <a:ext uri="{FF2B5EF4-FFF2-40B4-BE49-F238E27FC236}">
                <a16:creationId xmlns:a16="http://schemas.microsoft.com/office/drawing/2014/main" id="{A868EC83-FF48-45B4-B4C3-D25755DB4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A05E29-42D0-8BB3-5B79-E6584F1CC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034" y="885285"/>
            <a:ext cx="6364282" cy="507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7249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740601303664D89A49B4379666EAF" ma:contentTypeVersion="11" ma:contentTypeDescription="Opprett et nytt dokument." ma:contentTypeScope="" ma:versionID="bab265c8af60ab04d26a74db93fda490">
  <xsd:schema xmlns:xsd="http://www.w3.org/2001/XMLSchema" xmlns:xs="http://www.w3.org/2001/XMLSchema" xmlns:p="http://schemas.microsoft.com/office/2006/metadata/properties" xmlns:ns2="af681af4-b657-4b5a-8179-809605163d28" xmlns:ns3="378a66ac-eb65-4c48-aeff-c371a53ffd72" targetNamespace="http://schemas.microsoft.com/office/2006/metadata/properties" ma:root="true" ma:fieldsID="3e147aff7170a36a0d108e4f2ae3c7ae" ns2:_="" ns3:_="">
    <xsd:import namespace="af681af4-b657-4b5a-8179-809605163d28"/>
    <xsd:import namespace="378a66ac-eb65-4c48-aeff-c371a53ffd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681af4-b657-4b5a-8179-809605163d2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8e92dff-9770-449a-a2b1-8a7a45e58194}" ma:internalName="TaxCatchAll" ma:showField="CatchAllData" ma:web="af681af4-b657-4b5a-8179-809605163d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a66ac-eb65-4c48-aeff-c371a53ff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emerkelapper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681af4-b657-4b5a-8179-809605163d28" xsi:nil="true"/>
    <lcf76f155ced4ddcb4097134ff3c332f xmlns="378a66ac-eb65-4c48-aeff-c371a53ffd7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4D4AB1F-5856-42E8-8A1D-DD51DA571125}"/>
</file>

<file path=customXml/itemProps2.xml><?xml version="1.0" encoding="utf-8"?>
<ds:datastoreItem xmlns:ds="http://schemas.openxmlformats.org/officeDocument/2006/customXml" ds:itemID="{2DFF77CA-9CE0-412C-AF79-5CD1781AF781}"/>
</file>

<file path=customXml/itemProps3.xml><?xml version="1.0" encoding="utf-8"?>
<ds:datastoreItem xmlns:ds="http://schemas.openxmlformats.org/officeDocument/2006/customXml" ds:itemID="{E635E983-D3EF-443B-83EB-5E3E9C435E4D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120</TotalTime>
  <Words>367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Consolas</vt:lpstr>
      <vt:lpstr>Wingdings 3</vt:lpstr>
      <vt:lpstr>Wisp</vt:lpstr>
      <vt:lpstr>Litt ekstra HTML og CSS</vt:lpstr>
      <vt:lpstr>External CSS</vt:lpstr>
      <vt:lpstr>Hvor ligger denne CSS filen?</vt:lpstr>
      <vt:lpstr>Hvordan skrives External CSS?</vt:lpstr>
      <vt:lpstr>Flere HTML filer samtidig</vt:lpstr>
      <vt:lpstr>Navigasjon mellom nettsider</vt:lpstr>
      <vt:lpstr>Oppgave!</vt:lpstr>
      <vt:lpstr>Eksempel på hvordan det kan se 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Litt ekstra HTML</dc:title>
  <dc:creator>Sindre Vatland Hvidsten</dc:creator>
  <cp:lastModifiedBy>Sindre Vatland Hvidsten</cp:lastModifiedBy>
  <cp:revision>26</cp:revision>
  <dcterms:created xsi:type="dcterms:W3CDTF">2023-09-15T07:05:17Z</dcterms:created>
  <dcterms:modified xsi:type="dcterms:W3CDTF">2023-09-15T09:05:28Z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0x010100DAE740601303664D89A49B4379666EAF</vt:lpwstr>
  </property>
</Properties>
</file>