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80" r:id="rId14"/>
    <p:sldId id="265" r:id="rId15"/>
    <p:sldId id="266" r:id="rId16"/>
    <p:sldId id="275" r:id="rId17"/>
    <p:sldId id="277" r:id="rId18"/>
    <p:sldId id="267" r:id="rId19"/>
    <p:sldId id="273" r:id="rId20"/>
    <p:sldId id="278" r:id="rId21"/>
    <p:sldId id="279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741B9B-3A64-4B63-B75C-07047BB249F2}" v="434" dt="2021-02-10T15:20:01.242"/>
    <p1510:client id="{44E204B0-DABB-40E8-8534-F3D036F22245}" v="17" dt="2022-03-07T07:21:05.682"/>
    <p1510:client id="{58C870EF-EC16-4868-AAB6-961278CAD68F}" v="4" dt="2021-02-07T20:14:26.292"/>
    <p1510:client id="{669C78E6-8156-4336-9377-9C37FA2E1CB9}" v="3490" dt="2021-02-10T15:00:18.805"/>
    <p1510:client id="{884D3698-4724-4441-99FC-937520023FEC}" v="291" dt="2021-02-10T15:11:56.306"/>
    <p1510:client id="{C0F8A37E-ABA5-4FBD-AA9D-4193FF0C93FF}" v="700" dt="2021-02-07T07:20:11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3B54D3-D353-4986-82E4-1FCD3A17C97B}" type="doc">
      <dgm:prSet loTypeId="urn:microsoft.com/office/officeart/2018/5/layout/IconCircleLabelList" loCatId="icon" qsTypeId="urn:microsoft.com/office/officeart/2005/8/quickstyle/simple1#9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F4885E3D-EE74-4986-B58B-5234BE53CD0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b-NO" dirty="0">
              <a:latin typeface="Tw Cen MT Condensed" panose="020B0606020104020203"/>
            </a:rPr>
            <a:t>Det er farlig</a:t>
          </a:r>
          <a:endParaRPr lang="en-US" dirty="0"/>
        </a:p>
      </dgm:t>
    </dgm:pt>
    <dgm:pt modelId="{787E38DE-C439-4DBD-AB77-3C0C3BFC7399}" type="parTrans" cxnId="{F64B99BD-0735-40F3-88D6-AF0488C6D99A}">
      <dgm:prSet/>
      <dgm:spPr/>
      <dgm:t>
        <a:bodyPr/>
        <a:lstStyle/>
        <a:p>
          <a:endParaRPr lang="en-US"/>
        </a:p>
      </dgm:t>
    </dgm:pt>
    <dgm:pt modelId="{04752E6B-6495-4EE7-8615-2054A02DA1FF}" type="sibTrans" cxnId="{F64B99BD-0735-40F3-88D6-AF0488C6D99A}">
      <dgm:prSet/>
      <dgm:spPr/>
      <dgm:t>
        <a:bodyPr/>
        <a:lstStyle/>
        <a:p>
          <a:endParaRPr lang="en-US"/>
        </a:p>
      </dgm:t>
    </dgm:pt>
    <dgm:pt modelId="{E63C5B45-7F3D-4837-91A5-80475EE6D3C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b-NO" dirty="0">
              <a:latin typeface="Tw Cen MT Condensed" panose="020B0606020104020203"/>
            </a:rPr>
            <a:t>Det kan</a:t>
          </a:r>
          <a:r>
            <a:rPr lang="nb-NO" dirty="0"/>
            <a:t> unngås</a:t>
          </a:r>
          <a:endParaRPr lang="en-US" dirty="0"/>
        </a:p>
      </dgm:t>
    </dgm:pt>
    <dgm:pt modelId="{3780F89F-E07A-4599-BC18-7B64B77897F9}" type="parTrans" cxnId="{902C7DFD-BB38-44B2-BF45-341E5368C124}">
      <dgm:prSet/>
      <dgm:spPr/>
      <dgm:t>
        <a:bodyPr/>
        <a:lstStyle/>
        <a:p>
          <a:endParaRPr lang="en-US"/>
        </a:p>
      </dgm:t>
    </dgm:pt>
    <dgm:pt modelId="{8143CFAE-5259-47A4-9DC1-7018C157A6FB}" type="sibTrans" cxnId="{902C7DFD-BB38-44B2-BF45-341E5368C124}">
      <dgm:prSet/>
      <dgm:spPr/>
      <dgm:t>
        <a:bodyPr/>
        <a:lstStyle/>
        <a:p>
          <a:endParaRPr lang="en-US"/>
        </a:p>
      </dgm:t>
    </dgm:pt>
    <dgm:pt modelId="{73A84502-4D83-4EA8-B33D-60070176C19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b-NO" dirty="0">
              <a:latin typeface="Tw Cen MT Condensed" panose="020B0606020104020203"/>
            </a:rPr>
            <a:t>Det </a:t>
          </a:r>
          <a:r>
            <a:rPr lang="nb-NO" dirty="0"/>
            <a:t>Setter andre i fare</a:t>
          </a:r>
          <a:endParaRPr lang="en-US" dirty="0"/>
        </a:p>
      </dgm:t>
    </dgm:pt>
    <dgm:pt modelId="{0EEEDA2A-5737-4510-9D92-EE99E5AE1951}" type="parTrans" cxnId="{363FA42B-6D22-40D0-8377-3D15FC0FB8B1}">
      <dgm:prSet/>
      <dgm:spPr/>
      <dgm:t>
        <a:bodyPr/>
        <a:lstStyle/>
        <a:p>
          <a:endParaRPr lang="en-US"/>
        </a:p>
      </dgm:t>
    </dgm:pt>
    <dgm:pt modelId="{500A7EC7-4BE1-4E1F-8DD2-105352292C04}" type="sibTrans" cxnId="{363FA42B-6D22-40D0-8377-3D15FC0FB8B1}">
      <dgm:prSet/>
      <dgm:spPr/>
      <dgm:t>
        <a:bodyPr/>
        <a:lstStyle/>
        <a:p>
          <a:endParaRPr lang="en-US"/>
        </a:p>
      </dgm:t>
    </dgm:pt>
    <dgm:pt modelId="{D66C4F88-276B-4D5E-A580-AB49AA46C39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b-NO" dirty="0">
              <a:latin typeface="Tw Cen MT Condensed" panose="020B0606020104020203"/>
            </a:rPr>
            <a:t>Løsningen er ENKEL</a:t>
          </a:r>
          <a:endParaRPr lang="en-US" dirty="0"/>
        </a:p>
      </dgm:t>
    </dgm:pt>
    <dgm:pt modelId="{1C01AF42-727C-4ACC-A8D4-2F3BACE225AA}" type="parTrans" cxnId="{C2387683-30D3-40BD-9CB9-C8B0552493FC}">
      <dgm:prSet/>
      <dgm:spPr/>
      <dgm:t>
        <a:bodyPr/>
        <a:lstStyle/>
        <a:p>
          <a:endParaRPr lang="en-US"/>
        </a:p>
      </dgm:t>
    </dgm:pt>
    <dgm:pt modelId="{1488758F-6F94-41CC-B4B4-AEC2D1EC2CBD}" type="sibTrans" cxnId="{C2387683-30D3-40BD-9CB9-C8B0552493FC}">
      <dgm:prSet/>
      <dgm:spPr/>
      <dgm:t>
        <a:bodyPr/>
        <a:lstStyle/>
        <a:p>
          <a:endParaRPr lang="en-US"/>
        </a:p>
      </dgm:t>
    </dgm:pt>
    <dgm:pt modelId="{C7C93685-76CE-4B6E-BE52-62105BD16F3D}" type="pres">
      <dgm:prSet presAssocID="{CE3B54D3-D353-4986-82E4-1FCD3A17C97B}" presName="root" presStyleCnt="0">
        <dgm:presLayoutVars>
          <dgm:dir/>
          <dgm:resizeHandles val="exact"/>
        </dgm:presLayoutVars>
      </dgm:prSet>
      <dgm:spPr/>
    </dgm:pt>
    <dgm:pt modelId="{E118C3E0-4461-4163-BBAE-B07C3BD3A674}" type="pres">
      <dgm:prSet presAssocID="{F4885E3D-EE74-4986-B58B-5234BE53CD09}" presName="compNode" presStyleCnt="0"/>
      <dgm:spPr/>
    </dgm:pt>
    <dgm:pt modelId="{B7DF6AB9-74A3-4637-93CC-D972025EE4D2}" type="pres">
      <dgm:prSet presAssocID="{F4885E3D-EE74-4986-B58B-5234BE53CD09}" presName="iconBgRect" presStyleLbl="bgShp" presStyleIdx="0" presStyleCnt="4"/>
      <dgm:spPr/>
    </dgm:pt>
    <dgm:pt modelId="{443272FD-E4EF-47F0-9C57-9E42B08F9DE2}" type="pres">
      <dgm:prSet presAssocID="{F4885E3D-EE74-4986-B58B-5234BE53CD0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ktiv"/>
        </a:ext>
      </dgm:extLst>
    </dgm:pt>
    <dgm:pt modelId="{42F14B0A-75CE-4EA0-8FF5-E22EE764054B}" type="pres">
      <dgm:prSet presAssocID="{F4885E3D-EE74-4986-B58B-5234BE53CD09}" presName="spaceRect" presStyleCnt="0"/>
      <dgm:spPr/>
    </dgm:pt>
    <dgm:pt modelId="{6640EFFF-8A7B-412D-9357-1059141BB4DD}" type="pres">
      <dgm:prSet presAssocID="{F4885E3D-EE74-4986-B58B-5234BE53CD09}" presName="textRect" presStyleLbl="revTx" presStyleIdx="0" presStyleCnt="4">
        <dgm:presLayoutVars>
          <dgm:chMax val="1"/>
          <dgm:chPref val="1"/>
        </dgm:presLayoutVars>
      </dgm:prSet>
      <dgm:spPr/>
    </dgm:pt>
    <dgm:pt modelId="{66776F63-5D87-4943-A5B3-67BCF4C9675C}" type="pres">
      <dgm:prSet presAssocID="{04752E6B-6495-4EE7-8615-2054A02DA1FF}" presName="sibTrans" presStyleCnt="0"/>
      <dgm:spPr/>
    </dgm:pt>
    <dgm:pt modelId="{30788BA5-812E-427F-8672-D484A2986C00}" type="pres">
      <dgm:prSet presAssocID="{E63C5B45-7F3D-4837-91A5-80475EE6D3C6}" presName="compNode" presStyleCnt="0"/>
      <dgm:spPr/>
    </dgm:pt>
    <dgm:pt modelId="{F226BDC0-6178-4B07-86DE-50E12A36CFC4}" type="pres">
      <dgm:prSet presAssocID="{E63C5B45-7F3D-4837-91A5-80475EE6D3C6}" presName="iconBgRect" presStyleLbl="bgShp" presStyleIdx="1" presStyleCnt="4"/>
      <dgm:spPr/>
    </dgm:pt>
    <dgm:pt modelId="{1E725F86-6BDF-4FD4-A16D-43F2B32664FF}" type="pres">
      <dgm:prSet presAssocID="{E63C5B45-7F3D-4837-91A5-80475EE6D3C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4B82FF23-FB76-4E3E-8955-BA351099AD7C}" type="pres">
      <dgm:prSet presAssocID="{E63C5B45-7F3D-4837-91A5-80475EE6D3C6}" presName="spaceRect" presStyleCnt="0"/>
      <dgm:spPr/>
    </dgm:pt>
    <dgm:pt modelId="{B719B249-37AD-4ABF-BF7C-2DF9D6D946BB}" type="pres">
      <dgm:prSet presAssocID="{E63C5B45-7F3D-4837-91A5-80475EE6D3C6}" presName="textRect" presStyleLbl="revTx" presStyleIdx="1" presStyleCnt="4">
        <dgm:presLayoutVars>
          <dgm:chMax val="1"/>
          <dgm:chPref val="1"/>
        </dgm:presLayoutVars>
      </dgm:prSet>
      <dgm:spPr/>
    </dgm:pt>
    <dgm:pt modelId="{6265A8D4-57AC-4B2E-9B6B-2BA1214945D8}" type="pres">
      <dgm:prSet presAssocID="{8143CFAE-5259-47A4-9DC1-7018C157A6FB}" presName="sibTrans" presStyleCnt="0"/>
      <dgm:spPr/>
    </dgm:pt>
    <dgm:pt modelId="{153D740C-04B1-4D4B-ABA3-D9CC7C7C1D79}" type="pres">
      <dgm:prSet presAssocID="{73A84502-4D83-4EA8-B33D-60070176C19E}" presName="compNode" presStyleCnt="0"/>
      <dgm:spPr/>
    </dgm:pt>
    <dgm:pt modelId="{AF76CCC3-62EC-4721-B700-EF6E58673BC4}" type="pres">
      <dgm:prSet presAssocID="{73A84502-4D83-4EA8-B33D-60070176C19E}" presName="iconBgRect" presStyleLbl="bgShp" presStyleIdx="2" presStyleCnt="4"/>
      <dgm:spPr/>
    </dgm:pt>
    <dgm:pt modelId="{F25C1D6D-D282-448C-949E-EEEA78CC3B75}" type="pres">
      <dgm:prSet presAssocID="{73A84502-4D83-4EA8-B33D-60070176C19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jør"/>
        </a:ext>
      </dgm:extLst>
    </dgm:pt>
    <dgm:pt modelId="{AC2E946D-038F-4F09-8C5D-B83CF002E21A}" type="pres">
      <dgm:prSet presAssocID="{73A84502-4D83-4EA8-B33D-60070176C19E}" presName="spaceRect" presStyleCnt="0"/>
      <dgm:spPr/>
    </dgm:pt>
    <dgm:pt modelId="{7F1A2E06-60D8-49C7-B84D-B26E95246E99}" type="pres">
      <dgm:prSet presAssocID="{73A84502-4D83-4EA8-B33D-60070176C19E}" presName="textRect" presStyleLbl="revTx" presStyleIdx="2" presStyleCnt="4">
        <dgm:presLayoutVars>
          <dgm:chMax val="1"/>
          <dgm:chPref val="1"/>
        </dgm:presLayoutVars>
      </dgm:prSet>
      <dgm:spPr/>
    </dgm:pt>
    <dgm:pt modelId="{7A9A23BB-65D1-4F12-8514-1075239961EF}" type="pres">
      <dgm:prSet presAssocID="{500A7EC7-4BE1-4E1F-8DD2-105352292C04}" presName="sibTrans" presStyleCnt="0"/>
      <dgm:spPr/>
    </dgm:pt>
    <dgm:pt modelId="{2577A0C7-35DD-4FF7-9ABE-01D90E866B7B}" type="pres">
      <dgm:prSet presAssocID="{D66C4F88-276B-4D5E-A580-AB49AA46C398}" presName="compNode" presStyleCnt="0"/>
      <dgm:spPr/>
    </dgm:pt>
    <dgm:pt modelId="{389B6D13-9AAA-4580-A1C5-7078FA96C243}" type="pres">
      <dgm:prSet presAssocID="{D66C4F88-276B-4D5E-A580-AB49AA46C398}" presName="iconBgRect" presStyleLbl="bgShp" presStyleIdx="3" presStyleCnt="4"/>
      <dgm:spPr/>
    </dgm:pt>
    <dgm:pt modelId="{28125772-CFC3-47AD-9AD9-E3F4957F8CB3}" type="pres">
      <dgm:prSet presAssocID="{D66C4F88-276B-4D5E-A580-AB49AA46C39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03CAF9E2-0A37-4DAA-AC6C-9B73BADE97E3}" type="pres">
      <dgm:prSet presAssocID="{D66C4F88-276B-4D5E-A580-AB49AA46C398}" presName="spaceRect" presStyleCnt="0"/>
      <dgm:spPr/>
    </dgm:pt>
    <dgm:pt modelId="{CF8D073A-F61E-4937-BB03-AE06A9FAE55C}" type="pres">
      <dgm:prSet presAssocID="{D66C4F88-276B-4D5E-A580-AB49AA46C39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63FA42B-6D22-40D0-8377-3D15FC0FB8B1}" srcId="{CE3B54D3-D353-4986-82E4-1FCD3A17C97B}" destId="{73A84502-4D83-4EA8-B33D-60070176C19E}" srcOrd="2" destOrd="0" parTransId="{0EEEDA2A-5737-4510-9D92-EE99E5AE1951}" sibTransId="{500A7EC7-4BE1-4E1F-8DD2-105352292C04}"/>
    <dgm:cxn modelId="{E2953A3C-A206-4C7B-A315-54AAFF1C7C8A}" type="presOf" srcId="{E63C5B45-7F3D-4837-91A5-80475EE6D3C6}" destId="{B719B249-37AD-4ABF-BF7C-2DF9D6D946BB}" srcOrd="0" destOrd="0" presId="urn:microsoft.com/office/officeart/2018/5/layout/IconCircleLabelList"/>
    <dgm:cxn modelId="{B46B7364-B2DC-4000-85B6-77E96152B21F}" type="presOf" srcId="{CE3B54D3-D353-4986-82E4-1FCD3A17C97B}" destId="{C7C93685-76CE-4B6E-BE52-62105BD16F3D}" srcOrd="0" destOrd="0" presId="urn:microsoft.com/office/officeart/2018/5/layout/IconCircleLabelList"/>
    <dgm:cxn modelId="{6ED3AD82-F392-4E9C-824D-D321D5A03034}" type="presOf" srcId="{73A84502-4D83-4EA8-B33D-60070176C19E}" destId="{7F1A2E06-60D8-49C7-B84D-B26E95246E99}" srcOrd="0" destOrd="0" presId="urn:microsoft.com/office/officeart/2018/5/layout/IconCircleLabelList"/>
    <dgm:cxn modelId="{C2387683-30D3-40BD-9CB9-C8B0552493FC}" srcId="{CE3B54D3-D353-4986-82E4-1FCD3A17C97B}" destId="{D66C4F88-276B-4D5E-A580-AB49AA46C398}" srcOrd="3" destOrd="0" parTransId="{1C01AF42-727C-4ACC-A8D4-2F3BACE225AA}" sibTransId="{1488758F-6F94-41CC-B4B4-AEC2D1EC2CBD}"/>
    <dgm:cxn modelId="{F64B99BD-0735-40F3-88D6-AF0488C6D99A}" srcId="{CE3B54D3-D353-4986-82E4-1FCD3A17C97B}" destId="{F4885E3D-EE74-4986-B58B-5234BE53CD09}" srcOrd="0" destOrd="0" parTransId="{787E38DE-C439-4DBD-AB77-3C0C3BFC7399}" sibTransId="{04752E6B-6495-4EE7-8615-2054A02DA1FF}"/>
    <dgm:cxn modelId="{BED4BBC8-D8F0-41B6-9DF8-EDF93242AF01}" type="presOf" srcId="{D66C4F88-276B-4D5E-A580-AB49AA46C398}" destId="{CF8D073A-F61E-4937-BB03-AE06A9FAE55C}" srcOrd="0" destOrd="0" presId="urn:microsoft.com/office/officeart/2018/5/layout/IconCircleLabelList"/>
    <dgm:cxn modelId="{7BB095E4-AA25-4E54-999A-D977C74985D9}" type="presOf" srcId="{F4885E3D-EE74-4986-B58B-5234BE53CD09}" destId="{6640EFFF-8A7B-412D-9357-1059141BB4DD}" srcOrd="0" destOrd="0" presId="urn:microsoft.com/office/officeart/2018/5/layout/IconCircleLabelList"/>
    <dgm:cxn modelId="{902C7DFD-BB38-44B2-BF45-341E5368C124}" srcId="{CE3B54D3-D353-4986-82E4-1FCD3A17C97B}" destId="{E63C5B45-7F3D-4837-91A5-80475EE6D3C6}" srcOrd="1" destOrd="0" parTransId="{3780F89F-E07A-4599-BC18-7B64B77897F9}" sibTransId="{8143CFAE-5259-47A4-9DC1-7018C157A6FB}"/>
    <dgm:cxn modelId="{4A903C46-3BD9-45A3-B85A-619DA987DA00}" type="presParOf" srcId="{C7C93685-76CE-4B6E-BE52-62105BD16F3D}" destId="{E118C3E0-4461-4163-BBAE-B07C3BD3A674}" srcOrd="0" destOrd="0" presId="urn:microsoft.com/office/officeart/2018/5/layout/IconCircleLabelList"/>
    <dgm:cxn modelId="{3933A77B-1940-45DC-9D49-C44888FBA869}" type="presParOf" srcId="{E118C3E0-4461-4163-BBAE-B07C3BD3A674}" destId="{B7DF6AB9-74A3-4637-93CC-D972025EE4D2}" srcOrd="0" destOrd="0" presId="urn:microsoft.com/office/officeart/2018/5/layout/IconCircleLabelList"/>
    <dgm:cxn modelId="{D027E87D-499F-4C7B-8575-A9371E5FC1B7}" type="presParOf" srcId="{E118C3E0-4461-4163-BBAE-B07C3BD3A674}" destId="{443272FD-E4EF-47F0-9C57-9E42B08F9DE2}" srcOrd="1" destOrd="0" presId="urn:microsoft.com/office/officeart/2018/5/layout/IconCircleLabelList"/>
    <dgm:cxn modelId="{C60F5FDA-59C7-4651-AB97-72F917B84421}" type="presParOf" srcId="{E118C3E0-4461-4163-BBAE-B07C3BD3A674}" destId="{42F14B0A-75CE-4EA0-8FF5-E22EE764054B}" srcOrd="2" destOrd="0" presId="urn:microsoft.com/office/officeart/2018/5/layout/IconCircleLabelList"/>
    <dgm:cxn modelId="{0ABDF608-C154-4ECE-A6E8-A4A081321C27}" type="presParOf" srcId="{E118C3E0-4461-4163-BBAE-B07C3BD3A674}" destId="{6640EFFF-8A7B-412D-9357-1059141BB4DD}" srcOrd="3" destOrd="0" presId="urn:microsoft.com/office/officeart/2018/5/layout/IconCircleLabelList"/>
    <dgm:cxn modelId="{3154B239-1DAE-46B6-8C69-BFB165F152CA}" type="presParOf" srcId="{C7C93685-76CE-4B6E-BE52-62105BD16F3D}" destId="{66776F63-5D87-4943-A5B3-67BCF4C9675C}" srcOrd="1" destOrd="0" presId="urn:microsoft.com/office/officeart/2018/5/layout/IconCircleLabelList"/>
    <dgm:cxn modelId="{42B6D691-822C-4659-B6FE-CF567F2E7570}" type="presParOf" srcId="{C7C93685-76CE-4B6E-BE52-62105BD16F3D}" destId="{30788BA5-812E-427F-8672-D484A2986C00}" srcOrd="2" destOrd="0" presId="urn:microsoft.com/office/officeart/2018/5/layout/IconCircleLabelList"/>
    <dgm:cxn modelId="{79A5E787-DD17-416D-8DD3-DE8F9E139449}" type="presParOf" srcId="{30788BA5-812E-427F-8672-D484A2986C00}" destId="{F226BDC0-6178-4B07-86DE-50E12A36CFC4}" srcOrd="0" destOrd="0" presId="urn:microsoft.com/office/officeart/2018/5/layout/IconCircleLabelList"/>
    <dgm:cxn modelId="{224805F1-D947-4FDD-A364-CD035A09E218}" type="presParOf" srcId="{30788BA5-812E-427F-8672-D484A2986C00}" destId="{1E725F86-6BDF-4FD4-A16D-43F2B32664FF}" srcOrd="1" destOrd="0" presId="urn:microsoft.com/office/officeart/2018/5/layout/IconCircleLabelList"/>
    <dgm:cxn modelId="{F75FDCB7-F1BF-4B82-B99E-1D33993B9DD9}" type="presParOf" srcId="{30788BA5-812E-427F-8672-D484A2986C00}" destId="{4B82FF23-FB76-4E3E-8955-BA351099AD7C}" srcOrd="2" destOrd="0" presId="urn:microsoft.com/office/officeart/2018/5/layout/IconCircleLabelList"/>
    <dgm:cxn modelId="{BD4729EA-9299-4206-BCAF-E9FF7EC53B1B}" type="presParOf" srcId="{30788BA5-812E-427F-8672-D484A2986C00}" destId="{B719B249-37AD-4ABF-BF7C-2DF9D6D946BB}" srcOrd="3" destOrd="0" presId="urn:microsoft.com/office/officeart/2018/5/layout/IconCircleLabelList"/>
    <dgm:cxn modelId="{8AB5AE98-80B5-42E8-BAC8-DC8D69C0EBDE}" type="presParOf" srcId="{C7C93685-76CE-4B6E-BE52-62105BD16F3D}" destId="{6265A8D4-57AC-4B2E-9B6B-2BA1214945D8}" srcOrd="3" destOrd="0" presId="urn:microsoft.com/office/officeart/2018/5/layout/IconCircleLabelList"/>
    <dgm:cxn modelId="{05E09324-6D5F-41CD-B57B-BF165B80F89A}" type="presParOf" srcId="{C7C93685-76CE-4B6E-BE52-62105BD16F3D}" destId="{153D740C-04B1-4D4B-ABA3-D9CC7C7C1D79}" srcOrd="4" destOrd="0" presId="urn:microsoft.com/office/officeart/2018/5/layout/IconCircleLabelList"/>
    <dgm:cxn modelId="{00DE0631-B521-4456-8A4C-BC91A09A4BFF}" type="presParOf" srcId="{153D740C-04B1-4D4B-ABA3-D9CC7C7C1D79}" destId="{AF76CCC3-62EC-4721-B700-EF6E58673BC4}" srcOrd="0" destOrd="0" presId="urn:microsoft.com/office/officeart/2018/5/layout/IconCircleLabelList"/>
    <dgm:cxn modelId="{D6350CAB-EADD-4671-BF86-4E9B17586F98}" type="presParOf" srcId="{153D740C-04B1-4D4B-ABA3-D9CC7C7C1D79}" destId="{F25C1D6D-D282-448C-949E-EEEA78CC3B75}" srcOrd="1" destOrd="0" presId="urn:microsoft.com/office/officeart/2018/5/layout/IconCircleLabelList"/>
    <dgm:cxn modelId="{2B7C394E-A40D-47A4-A93D-8E961B25AF7A}" type="presParOf" srcId="{153D740C-04B1-4D4B-ABA3-D9CC7C7C1D79}" destId="{AC2E946D-038F-4F09-8C5D-B83CF002E21A}" srcOrd="2" destOrd="0" presId="urn:microsoft.com/office/officeart/2018/5/layout/IconCircleLabelList"/>
    <dgm:cxn modelId="{618754A4-82F2-4FB8-8EBC-639E0949B162}" type="presParOf" srcId="{153D740C-04B1-4D4B-ABA3-D9CC7C7C1D79}" destId="{7F1A2E06-60D8-49C7-B84D-B26E95246E99}" srcOrd="3" destOrd="0" presId="urn:microsoft.com/office/officeart/2018/5/layout/IconCircleLabelList"/>
    <dgm:cxn modelId="{48F1A118-0EED-47AA-95D1-4AF5A2AA8CAA}" type="presParOf" srcId="{C7C93685-76CE-4B6E-BE52-62105BD16F3D}" destId="{7A9A23BB-65D1-4F12-8514-1075239961EF}" srcOrd="5" destOrd="0" presId="urn:microsoft.com/office/officeart/2018/5/layout/IconCircleLabelList"/>
    <dgm:cxn modelId="{3005B26F-9B41-4F6D-9F62-046E8DF6EACB}" type="presParOf" srcId="{C7C93685-76CE-4B6E-BE52-62105BD16F3D}" destId="{2577A0C7-35DD-4FF7-9ABE-01D90E866B7B}" srcOrd="6" destOrd="0" presId="urn:microsoft.com/office/officeart/2018/5/layout/IconCircleLabelList"/>
    <dgm:cxn modelId="{B1A4AC86-EA64-460F-A5F1-4A63F89AE9D0}" type="presParOf" srcId="{2577A0C7-35DD-4FF7-9ABE-01D90E866B7B}" destId="{389B6D13-9AAA-4580-A1C5-7078FA96C243}" srcOrd="0" destOrd="0" presId="urn:microsoft.com/office/officeart/2018/5/layout/IconCircleLabelList"/>
    <dgm:cxn modelId="{47E5A6D1-0E16-41FA-B06F-1323C157502F}" type="presParOf" srcId="{2577A0C7-35DD-4FF7-9ABE-01D90E866B7B}" destId="{28125772-CFC3-47AD-9AD9-E3F4957F8CB3}" srcOrd="1" destOrd="0" presId="urn:microsoft.com/office/officeart/2018/5/layout/IconCircleLabelList"/>
    <dgm:cxn modelId="{79F2F286-42EA-412B-A126-D2CAF53346C5}" type="presParOf" srcId="{2577A0C7-35DD-4FF7-9ABE-01D90E866B7B}" destId="{03CAF9E2-0A37-4DAA-AC6C-9B73BADE97E3}" srcOrd="2" destOrd="0" presId="urn:microsoft.com/office/officeart/2018/5/layout/IconCircleLabelList"/>
    <dgm:cxn modelId="{F4DC49AE-6E27-4FCB-BA1B-8E02E8CC9AB6}" type="presParOf" srcId="{2577A0C7-35DD-4FF7-9ABE-01D90E866B7B}" destId="{CF8D073A-F61E-4937-BB03-AE06A9FAE55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F6AB9-74A3-4637-93CC-D972025EE4D2}">
      <dsp:nvSpPr>
        <dsp:cNvPr id="0" name=""/>
        <dsp:cNvSpPr/>
      </dsp:nvSpPr>
      <dsp:spPr>
        <a:xfrm>
          <a:off x="626907" y="832359"/>
          <a:ext cx="1248979" cy="12489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3272FD-E4EF-47F0-9C57-9E42B08F9DE2}">
      <dsp:nvSpPr>
        <dsp:cNvPr id="0" name=""/>
        <dsp:cNvSpPr/>
      </dsp:nvSpPr>
      <dsp:spPr>
        <a:xfrm>
          <a:off x="893083" y="1098535"/>
          <a:ext cx="716627" cy="716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40EFFF-8A7B-412D-9357-1059141BB4DD}">
      <dsp:nvSpPr>
        <dsp:cNvPr id="0" name=""/>
        <dsp:cNvSpPr/>
      </dsp:nvSpPr>
      <dsp:spPr>
        <a:xfrm>
          <a:off x="227643" y="2470365"/>
          <a:ext cx="20475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b-NO" sz="2500" kern="1200" dirty="0">
              <a:latin typeface="Tw Cen MT Condensed" panose="020B0606020104020203"/>
            </a:rPr>
            <a:t>Det er farlig</a:t>
          </a:r>
          <a:endParaRPr lang="en-US" sz="2500" kern="1200" dirty="0"/>
        </a:p>
      </dsp:txBody>
      <dsp:txXfrm>
        <a:off x="227643" y="2470365"/>
        <a:ext cx="2047508" cy="720000"/>
      </dsp:txXfrm>
    </dsp:sp>
    <dsp:sp modelId="{F226BDC0-6178-4B07-86DE-50E12A36CFC4}">
      <dsp:nvSpPr>
        <dsp:cNvPr id="0" name=""/>
        <dsp:cNvSpPr/>
      </dsp:nvSpPr>
      <dsp:spPr>
        <a:xfrm>
          <a:off x="3032729" y="832359"/>
          <a:ext cx="1248979" cy="12489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725F86-6BDF-4FD4-A16D-43F2B32664FF}">
      <dsp:nvSpPr>
        <dsp:cNvPr id="0" name=""/>
        <dsp:cNvSpPr/>
      </dsp:nvSpPr>
      <dsp:spPr>
        <a:xfrm>
          <a:off x="3298906" y="1098535"/>
          <a:ext cx="716627" cy="716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9B249-37AD-4ABF-BF7C-2DF9D6D946BB}">
      <dsp:nvSpPr>
        <dsp:cNvPr id="0" name=""/>
        <dsp:cNvSpPr/>
      </dsp:nvSpPr>
      <dsp:spPr>
        <a:xfrm>
          <a:off x="2633465" y="2470365"/>
          <a:ext cx="20475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b-NO" sz="2500" kern="1200" dirty="0">
              <a:latin typeface="Tw Cen MT Condensed" panose="020B0606020104020203"/>
            </a:rPr>
            <a:t>Det kan</a:t>
          </a:r>
          <a:r>
            <a:rPr lang="nb-NO" sz="2500" kern="1200" dirty="0"/>
            <a:t> unngås</a:t>
          </a:r>
          <a:endParaRPr lang="en-US" sz="2500" kern="1200" dirty="0"/>
        </a:p>
      </dsp:txBody>
      <dsp:txXfrm>
        <a:off x="2633465" y="2470365"/>
        <a:ext cx="2047508" cy="720000"/>
      </dsp:txXfrm>
    </dsp:sp>
    <dsp:sp modelId="{AF76CCC3-62EC-4721-B700-EF6E58673BC4}">
      <dsp:nvSpPr>
        <dsp:cNvPr id="0" name=""/>
        <dsp:cNvSpPr/>
      </dsp:nvSpPr>
      <dsp:spPr>
        <a:xfrm>
          <a:off x="5438552" y="832359"/>
          <a:ext cx="1248979" cy="12489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5C1D6D-D282-448C-949E-EEEA78CC3B75}">
      <dsp:nvSpPr>
        <dsp:cNvPr id="0" name=""/>
        <dsp:cNvSpPr/>
      </dsp:nvSpPr>
      <dsp:spPr>
        <a:xfrm>
          <a:off x="5704728" y="1098535"/>
          <a:ext cx="716627" cy="716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A2E06-60D8-49C7-B84D-B26E95246E99}">
      <dsp:nvSpPr>
        <dsp:cNvPr id="0" name=""/>
        <dsp:cNvSpPr/>
      </dsp:nvSpPr>
      <dsp:spPr>
        <a:xfrm>
          <a:off x="5039287" y="2470365"/>
          <a:ext cx="20475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b-NO" sz="2500" kern="1200" dirty="0">
              <a:latin typeface="Tw Cen MT Condensed" panose="020B0606020104020203"/>
            </a:rPr>
            <a:t>Det </a:t>
          </a:r>
          <a:r>
            <a:rPr lang="nb-NO" sz="2500" kern="1200" dirty="0"/>
            <a:t>Setter andre i fare</a:t>
          </a:r>
          <a:endParaRPr lang="en-US" sz="2500" kern="1200" dirty="0"/>
        </a:p>
      </dsp:txBody>
      <dsp:txXfrm>
        <a:off x="5039287" y="2470365"/>
        <a:ext cx="2047508" cy="720000"/>
      </dsp:txXfrm>
    </dsp:sp>
    <dsp:sp modelId="{389B6D13-9AAA-4580-A1C5-7078FA96C243}">
      <dsp:nvSpPr>
        <dsp:cNvPr id="0" name=""/>
        <dsp:cNvSpPr/>
      </dsp:nvSpPr>
      <dsp:spPr>
        <a:xfrm>
          <a:off x="7844374" y="832359"/>
          <a:ext cx="1248979" cy="124897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125772-CFC3-47AD-9AD9-E3F4957F8CB3}">
      <dsp:nvSpPr>
        <dsp:cNvPr id="0" name=""/>
        <dsp:cNvSpPr/>
      </dsp:nvSpPr>
      <dsp:spPr>
        <a:xfrm>
          <a:off x="8110550" y="1098535"/>
          <a:ext cx="716627" cy="716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D073A-F61E-4937-BB03-AE06A9FAE55C}">
      <dsp:nvSpPr>
        <dsp:cNvPr id="0" name=""/>
        <dsp:cNvSpPr/>
      </dsp:nvSpPr>
      <dsp:spPr>
        <a:xfrm>
          <a:off x="7445110" y="2470365"/>
          <a:ext cx="20475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b-NO" sz="2500" kern="1200" dirty="0">
              <a:latin typeface="Tw Cen MT Condensed" panose="020B0606020104020203"/>
            </a:rPr>
            <a:t>Løsningen er ENKEL</a:t>
          </a:r>
          <a:endParaRPr lang="en-US" sz="2500" kern="1200" dirty="0"/>
        </a:p>
      </dsp:txBody>
      <dsp:txXfrm>
        <a:off x="7445110" y="2470365"/>
        <a:ext cx="204750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967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90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19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607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046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351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36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24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19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28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64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8/31/26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5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oNdbI8NFgk?feature=oembed" TargetMode="External"/><Relationship Id="rId4" Type="http://schemas.openxmlformats.org/officeDocument/2006/relationships/hyperlink" Target="https://www.youtube.com/watch?v=1oNdbI8NFgk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nFbmqHkjGQ?feature=oembed" TargetMode="External"/><Relationship Id="rId4" Type="http://schemas.openxmlformats.org/officeDocument/2006/relationships/hyperlink" Target="https://www.youtube.com/watch?v=PnFbmqHkjGQ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4713224" y="1105351"/>
            <a:ext cx="6353967" cy="3023981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 err="1">
                <a:solidFill>
                  <a:srgbClr val="FFFFFF"/>
                </a:solidFill>
              </a:rPr>
              <a:t>Redundans</a:t>
            </a:r>
            <a:r>
              <a:rPr lang="en-US" sz="4800" dirty="0">
                <a:solidFill>
                  <a:srgbClr val="FFFFFF"/>
                </a:solidFill>
              </a:rPr>
              <a:t> </a:t>
            </a:r>
            <a:r>
              <a:rPr lang="en-US" sz="4800" cap="none" dirty="0">
                <a:ea typeface="+mj-lt"/>
                <a:cs typeface="+mj-lt"/>
              </a:rPr>
              <a:t>[</a:t>
            </a:r>
            <a:r>
              <a:rPr lang="en-US" sz="4800" cap="none" dirty="0" err="1">
                <a:ea typeface="+mj-lt"/>
                <a:cs typeface="+mj-lt"/>
              </a:rPr>
              <a:t>redunda´ns</a:t>
            </a:r>
            <a:r>
              <a:rPr lang="en-US" sz="4800" cap="none" dirty="0">
                <a:ea typeface="+mj-lt"/>
                <a:cs typeface="+mj-lt"/>
              </a:rPr>
              <a:t>]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4713224" y="4297556"/>
            <a:ext cx="6353968" cy="1433391"/>
          </a:xfrm>
        </p:spPr>
        <p:txBody>
          <a:bodyPr anchor="t">
            <a:normAutofit/>
          </a:bodyPr>
          <a:lstStyle/>
          <a:p>
            <a:r>
              <a:rPr lang="en-US" sz="1600" i="1" err="1">
                <a:latin typeface="Yu Gothic Light"/>
                <a:ea typeface="+mn-lt"/>
                <a:cs typeface="+mn-lt"/>
              </a:rPr>
              <a:t>tilstedeværelse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av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noe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som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ikke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er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strengt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nødvendig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i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en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bestemt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sammenheng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(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og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derfor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kan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anses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for å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være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overflødig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eller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</a:t>
            </a:r>
            <a:r>
              <a:rPr lang="en-US" sz="1600" i="1" err="1">
                <a:latin typeface="Yu Gothic Light"/>
                <a:ea typeface="+mn-lt"/>
                <a:cs typeface="+mn-lt"/>
              </a:rPr>
              <a:t>i</a:t>
            </a:r>
            <a:r>
              <a:rPr lang="en-US" sz="1600" i="1" dirty="0">
                <a:latin typeface="Yu Gothic Light"/>
                <a:ea typeface="+mn-lt"/>
                <a:cs typeface="+mn-lt"/>
              </a:rPr>
              <a:t> reserve)</a:t>
            </a:r>
            <a:endParaRPr lang="nb-NO" sz="1600" i="1">
              <a:latin typeface="Yu Gothic Light"/>
              <a:ea typeface="+mn-lt"/>
              <a:cs typeface="+mn-lt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2932" y="4214336"/>
            <a:ext cx="5120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24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414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B923BE2-A83D-4E24-8543-B570ECB8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nb-NO" sz="3900">
                <a:solidFill>
                  <a:srgbClr val="FFFFFF"/>
                </a:solidFill>
              </a:rPr>
              <a:t>Noen ganger bruker vi mer penger på ting, vi håper å aldri måtte bruke</a:t>
            </a:r>
          </a:p>
        </p:txBody>
      </p:sp>
      <p:pic>
        <p:nvPicPr>
          <p:cNvPr id="4" name="Bilde 4" descr="Et bilde som inneholder tekst&#10;&#10;Automatisk generert beskrivelse">
            <a:extLst>
              <a:ext uri="{FF2B5EF4-FFF2-40B4-BE49-F238E27FC236}">
                <a16:creationId xmlns:a16="http://schemas.microsoft.com/office/drawing/2014/main" id="{350DB05F-42C6-413C-8612-0E9070D96C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0" r="4" b="4846"/>
          <a:stretch/>
        </p:blipFill>
        <p:spPr>
          <a:xfrm>
            <a:off x="327547" y="321733"/>
            <a:ext cx="3448718" cy="4107392"/>
          </a:xfrm>
          <a:prstGeom prst="rect">
            <a:avLst/>
          </a:prstGeom>
        </p:spPr>
      </p:pic>
      <p:pic>
        <p:nvPicPr>
          <p:cNvPr id="5" name="Bilde 5">
            <a:extLst>
              <a:ext uri="{FF2B5EF4-FFF2-40B4-BE49-F238E27FC236}">
                <a16:creationId xmlns:a16="http://schemas.microsoft.com/office/drawing/2014/main" id="{9747608A-29BD-4DDB-8F3E-13F3F2DA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60" r="3" b="3"/>
          <a:stretch/>
        </p:blipFill>
        <p:spPr>
          <a:xfrm>
            <a:off x="3925067" y="321732"/>
            <a:ext cx="3448718" cy="410628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6" name="Bilde 6" descr="Et bilde som inneholder tekst, tavle&#10;&#10;Automatisk generert beskrivelse">
            <a:extLst>
              <a:ext uri="{FF2B5EF4-FFF2-40B4-BE49-F238E27FC236}">
                <a16:creationId xmlns:a16="http://schemas.microsoft.com/office/drawing/2014/main" id="{6053704B-99E6-487F-859C-3CED35E47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t="-23394" r="-46650"/>
          <a:stretch/>
        </p:blipFill>
        <p:spPr>
          <a:xfrm>
            <a:off x="8543423" y="-500653"/>
            <a:ext cx="3390359" cy="6179078"/>
          </a:xfrm>
        </p:spPr>
      </p:pic>
      <p:sp>
        <p:nvSpPr>
          <p:cNvPr id="7" name="TekstSylinder 6">
            <a:extLst>
              <a:ext uri="{FF2B5EF4-FFF2-40B4-BE49-F238E27FC236}">
                <a16:creationId xmlns:a16="http://schemas.microsoft.com/office/drawing/2014/main" id="{CCCEB530-D704-425F-B995-F9EF0814B5E9}"/>
              </a:ext>
            </a:extLst>
          </p:cNvPr>
          <p:cNvSpPr txBox="1"/>
          <p:nvPr/>
        </p:nvSpPr>
        <p:spPr>
          <a:xfrm>
            <a:off x="7532512" y="5987344"/>
            <a:ext cx="43377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nb-NO" dirty="0">
                <a:solidFill>
                  <a:schemeClr val="bg1"/>
                </a:solidFill>
              </a:rPr>
              <a:t>Bedre føre var enn etter snar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37831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3AFFA8D-BB83-4DC6-8F6D-F3684140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nb-NO" sz="4300"/>
              <a:t>Å glemme redundans (som it mann), er det samme som å kjøre på rødt lys. Ja, det "kan" gå godt.</a:t>
            </a:r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2ECFD59D-B52B-4416-87EB-2BBF2FBEC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8447125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8397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238970C-19DE-438D-80D2-5CF969055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B1E3F6-167B-40F3-B303-9A931BAB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28" y="484632"/>
            <a:ext cx="11244036" cy="58809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E4C580F-10F4-407C-B014-29CA4E4A3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356" y="810275"/>
            <a:ext cx="7020747" cy="52296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spc="200" dirty="0" err="1">
                <a:solidFill>
                  <a:srgbClr val="FFFFFF"/>
                </a:solidFill>
              </a:rPr>
              <a:t>Så</a:t>
            </a:r>
            <a:r>
              <a:rPr lang="en-US" sz="6600" spc="200" dirty="0">
                <a:solidFill>
                  <a:srgbClr val="FFFFFF"/>
                </a:solidFill>
              </a:rPr>
              <a:t> … </a:t>
            </a:r>
            <a:r>
              <a:rPr lang="en-US" sz="6600" spc="200" dirty="0" err="1">
                <a:solidFill>
                  <a:srgbClr val="FFFFFF"/>
                </a:solidFill>
              </a:rPr>
              <a:t>hva</a:t>
            </a:r>
            <a:r>
              <a:rPr lang="en-US" sz="6600" spc="200" dirty="0">
                <a:solidFill>
                  <a:srgbClr val="FFFFFF"/>
                </a:solidFill>
              </a:rPr>
              <a:t> er </a:t>
            </a:r>
            <a:r>
              <a:rPr lang="en-US" sz="6600" spc="200" dirty="0" err="1">
                <a:solidFill>
                  <a:srgbClr val="FFFFFF"/>
                </a:solidFill>
              </a:rPr>
              <a:t>redundans</a:t>
            </a:r>
            <a:r>
              <a:rPr lang="en-US" sz="6600" spc="200" dirty="0">
                <a:solidFill>
                  <a:srgbClr val="FFFFFF"/>
                </a:solidFill>
              </a:rPr>
              <a:t> for en </a:t>
            </a:r>
            <a:br>
              <a:rPr lang="en-US" dirty="0"/>
            </a:br>
            <a:r>
              <a:rPr lang="en-US" sz="6600" spc="200" dirty="0">
                <a:solidFill>
                  <a:srgbClr val="FFFFFF"/>
                </a:solidFill>
              </a:rPr>
              <a:t>it-</a:t>
            </a:r>
            <a:r>
              <a:rPr lang="en-US" sz="6600" spc="200" dirty="0" err="1">
                <a:solidFill>
                  <a:srgbClr val="FFFFFF"/>
                </a:solidFill>
              </a:rPr>
              <a:t>mann</a:t>
            </a:r>
            <a:r>
              <a:rPr lang="en-US" sz="6600" spc="200" dirty="0">
                <a:solidFill>
                  <a:srgbClr val="FFFFFF"/>
                </a:solidFill>
              </a:rPr>
              <a:t>?</a:t>
            </a:r>
            <a:br>
              <a:rPr lang="en-US" sz="6600" spc="200" dirty="0">
                <a:solidFill>
                  <a:srgbClr val="FFFFFF"/>
                </a:solidFill>
              </a:rPr>
            </a:br>
            <a:r>
              <a:rPr lang="en-US" sz="6600" spc="200" dirty="0">
                <a:solidFill>
                  <a:srgbClr val="FFFFFF"/>
                </a:solidFill>
              </a:rPr>
              <a:t>IT-</a:t>
            </a:r>
            <a:r>
              <a:rPr lang="en-US" sz="6600" spc="200" dirty="0" err="1">
                <a:solidFill>
                  <a:srgbClr val="FFFFFF"/>
                </a:solidFill>
              </a:rPr>
              <a:t>Kvinne</a:t>
            </a:r>
            <a:r>
              <a:rPr lang="en-US" sz="6600" spc="200" dirty="0">
                <a:solidFill>
                  <a:srgbClr val="FFFFFF"/>
                </a:solidFill>
              </a:rPr>
              <a:t>?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0465A9A-0B0E-4D7B-8150-D098AC71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596290"/>
            <a:ext cx="0" cy="3657600"/>
          </a:xfrm>
          <a:prstGeom prst="line">
            <a:avLst/>
          </a:prstGeom>
          <a:ln w="1905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738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O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238970C-19DE-438D-80D2-5CF969055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B1E3F6-167B-40F3-B303-9A931BAB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28" y="484632"/>
            <a:ext cx="11244036" cy="58809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EB95B963-568C-488E-88D4-D06406154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356" y="810275"/>
            <a:ext cx="7020747" cy="52296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spc="200" dirty="0">
                <a:solidFill>
                  <a:srgbClr val="FFFFFF"/>
                </a:solidFill>
              </a:rPr>
              <a:t>Eller </a:t>
            </a:r>
            <a:r>
              <a:rPr lang="en-US" sz="6600" spc="200" dirty="0" err="1">
                <a:solidFill>
                  <a:srgbClr val="FFFFFF"/>
                </a:solidFill>
              </a:rPr>
              <a:t>Mediamann</a:t>
            </a:r>
            <a:r>
              <a:rPr lang="en-US" sz="6600" spc="200" dirty="0">
                <a:solidFill>
                  <a:srgbClr val="FFFFFF"/>
                </a:solidFill>
              </a:rPr>
              <a:t>?</a:t>
            </a:r>
            <a:br>
              <a:rPr lang="en-US" sz="6600" spc="200" dirty="0">
                <a:solidFill>
                  <a:srgbClr val="FFFFFF"/>
                </a:solidFill>
              </a:rPr>
            </a:br>
            <a:r>
              <a:rPr lang="en-US" sz="6600" spc="200" dirty="0" err="1">
                <a:solidFill>
                  <a:srgbClr val="FFFFFF"/>
                </a:solidFill>
              </a:rPr>
              <a:t>MediaKvinne</a:t>
            </a:r>
            <a:r>
              <a:rPr lang="en-US" sz="6600" spc="200" dirty="0">
                <a:solidFill>
                  <a:srgbClr val="FFFFFF"/>
                </a:solidFill>
              </a:rPr>
              <a:t>?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0465A9A-0B0E-4D7B-8150-D098AC71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596290"/>
            <a:ext cx="0" cy="3657600"/>
          </a:xfrm>
          <a:prstGeom prst="line">
            <a:avLst/>
          </a:prstGeom>
          <a:ln w="1905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049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A44DB42-181D-428C-A39E-D6ACB0C2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Scenario 1: Campingtur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47A9A76-B674-43AF-A8B0-683B88CD2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r>
              <a:rPr lang="nb-NO" dirty="0"/>
              <a:t>Du skal på campingtur i </a:t>
            </a:r>
            <a:r>
              <a:rPr lang="nb-NO" dirty="0" err="1"/>
              <a:t>ca</a:t>
            </a:r>
            <a:r>
              <a:rPr lang="nb-NO" dirty="0"/>
              <a:t> 10 dager. Du er usikker på om hytten du skal overnatte i har strøm, men tror ikke det.</a:t>
            </a:r>
          </a:p>
          <a:p>
            <a:r>
              <a:rPr lang="nb-NO" dirty="0"/>
              <a:t>Du har et møte på Teams om 9 dager, telefonen din har en batteritid på </a:t>
            </a:r>
            <a:r>
              <a:rPr lang="nb-NO" dirty="0" err="1"/>
              <a:t>ca</a:t>
            </a:r>
            <a:r>
              <a:rPr lang="nb-NO" dirty="0"/>
              <a:t> 11.5 timer.</a:t>
            </a:r>
          </a:p>
        </p:txBody>
      </p:sp>
    </p:spTree>
    <p:extLst>
      <p:ext uri="{BB962C8B-B14F-4D97-AF65-F5344CB8AC3E}">
        <p14:creationId xmlns:p14="http://schemas.microsoft.com/office/powerpoint/2010/main" val="3276329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A44DB42-181D-428C-A39E-D6ACB0C2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Scenario 2: Presidentfotograf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47A9A76-B674-43AF-A8B0-683B88CD2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r>
              <a:rPr lang="nb-NO" dirty="0"/>
              <a:t>Vi husker Murphys lov – det som kan gå galt, går galt.</a:t>
            </a:r>
          </a:p>
          <a:p>
            <a:r>
              <a:rPr lang="nb-NO" dirty="0"/>
              <a:t>Du er en berømt presidentfotograf, men du bor en 50 minutters kjøretur unna.</a:t>
            </a:r>
          </a:p>
          <a:p>
            <a:r>
              <a:rPr lang="nb-NO"/>
              <a:t>Det GÅR buss, men det antas at det vil være ekstra mye kø denne dagen. Bussen tar vanligvis 2 timer.</a:t>
            </a:r>
            <a:endParaRPr lang="nb-NO" dirty="0"/>
          </a:p>
          <a:p>
            <a:r>
              <a:rPr lang="nb-NO" dirty="0"/>
              <a:t>Du skal ta bilder av presidenten mellom klokken 7:45 og 7:50. Utenfor tidsrommet er helt uaktuelt.</a:t>
            </a:r>
          </a:p>
          <a:p>
            <a:r>
              <a:rPr lang="nb-NO" dirty="0"/>
              <a:t>Hva bør man tenke på, som 'nesten' garanterer oss mulighet til å utføre arbeidet.</a:t>
            </a:r>
          </a:p>
        </p:txBody>
      </p:sp>
    </p:spTree>
    <p:extLst>
      <p:ext uri="{BB962C8B-B14F-4D97-AF65-F5344CB8AC3E}">
        <p14:creationId xmlns:p14="http://schemas.microsoft.com/office/powerpoint/2010/main" val="1324043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1F5654D-8A40-47B4-8538-C4896A3A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Scenario 3: Sykehus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BA2BCF2-00F3-4B74-9A14-6FDD8198B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r>
              <a:rPr lang="nb-NO"/>
              <a:t>Det er heftig tordenvær, og tordenværet slår ut strømmen i hele Rogaland. Estimert tid til å få strøm tilbake er 10 timer.</a:t>
            </a:r>
          </a:p>
          <a:p>
            <a:r>
              <a:rPr lang="nb-NO"/>
              <a:t>Hva skjer inne på sykehuset i disse 10 timene?</a:t>
            </a:r>
          </a:p>
          <a:p>
            <a:r>
              <a:rPr lang="nb-NO"/>
              <a:t>Hva kan sykehuset gjøre?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242114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E168161-20D8-43C3-9701-B8C33A5D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Scenario 4: Serverrom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10CD35E-08F5-4AC7-BB2E-3810699DA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r>
              <a:rPr lang="nb-NO"/>
              <a:t>Du holder på å laste over kritisk data mellom to servere. Serverne er koblet direkte opp mot hverandre via PTP nettverk, som tar ca 40 min å kjøre til. </a:t>
            </a:r>
          </a:p>
          <a:p>
            <a:r>
              <a:rPr lang="nb-NO"/>
              <a:t>Filene som skal overføres er på 35TB, og med hastigheten via PTP nettet vil det ta ca 55 dager. </a:t>
            </a:r>
          </a:p>
          <a:p>
            <a:r>
              <a:rPr lang="nb-NO"/>
              <a:t>Hvis strømmen går, eller vi mister kontakt med nettet, må vi starte overførelsen på ny. Vi kan til og med risikere å gjøre dataen korrupt.</a:t>
            </a:r>
            <a:endParaRPr lang="nb-NO" dirty="0"/>
          </a:p>
          <a:p>
            <a:endParaRPr lang="nb-NO" dirty="0"/>
          </a:p>
          <a:p>
            <a:r>
              <a:rPr lang="nb-NO"/>
              <a:t>Hvordan løser vi dette?</a:t>
            </a:r>
          </a:p>
          <a:p>
            <a:r>
              <a:rPr lang="nb-NO"/>
              <a:t>Hva bør vi tenke på? 35TB er mye data!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91273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2B5806-94F5-41C4-8516-A5874E1A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Scenario 5: Krig?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C277191-CF47-4DB3-9EDE-48CFD18CF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r>
              <a:rPr lang="nb-NO" dirty="0"/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214855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0410B22-D69C-4A1D-BFB6-50776E5D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Utstyr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0AA3CB7-9A36-4658-AB5E-C13719695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 fontScale="92500" lnSpcReduction="20000"/>
          </a:bodyPr>
          <a:lstStyle/>
          <a:p>
            <a:r>
              <a:rPr lang="nb-NO" dirty="0"/>
              <a:t>Alt som kan ødelegges, kan være lurt å ha en </a:t>
            </a:r>
            <a:r>
              <a:rPr lang="nb-NO" dirty="0" err="1"/>
              <a:t>backup</a:t>
            </a:r>
            <a:r>
              <a:rPr lang="nb-NO" dirty="0"/>
              <a:t> av – dersom det er kritisk.</a:t>
            </a:r>
          </a:p>
          <a:p>
            <a:endParaRPr lang="nb-NO" dirty="0"/>
          </a:p>
          <a:p>
            <a:r>
              <a:rPr lang="nb-NO" dirty="0"/>
              <a:t>Til mobiler brukes Powerbanker, til serverutstyr finnes UPS (</a:t>
            </a:r>
            <a:r>
              <a:rPr lang="nb-NO" dirty="0" err="1"/>
              <a:t>Uninterruptable</a:t>
            </a:r>
            <a:r>
              <a:rPr lang="nb-NO" dirty="0"/>
              <a:t> Power Supply). Denne er til for å sørge for at strømtilførsel aldri forsvinner.</a:t>
            </a:r>
          </a:p>
          <a:p>
            <a:endParaRPr lang="nb-NO" dirty="0"/>
          </a:p>
          <a:p>
            <a:r>
              <a:rPr lang="nb-NO" dirty="0" err="1"/>
              <a:t>Backup</a:t>
            </a:r>
            <a:r>
              <a:rPr lang="nb-NO" dirty="0"/>
              <a:t>, </a:t>
            </a:r>
            <a:r>
              <a:rPr lang="nb-NO" dirty="0" err="1"/>
              <a:t>backup</a:t>
            </a:r>
            <a:r>
              <a:rPr lang="nb-NO" dirty="0"/>
              <a:t>, </a:t>
            </a:r>
            <a:r>
              <a:rPr lang="nb-NO" dirty="0" err="1"/>
              <a:t>backup</a:t>
            </a:r>
            <a:r>
              <a:rPr lang="nb-NO" dirty="0"/>
              <a:t>, </a:t>
            </a:r>
            <a:r>
              <a:rPr lang="nb-NO" dirty="0" err="1"/>
              <a:t>backup</a:t>
            </a:r>
            <a:r>
              <a:rPr lang="nb-NO" dirty="0"/>
              <a:t>. Hva skjer med </a:t>
            </a:r>
            <a:r>
              <a:rPr lang="nb-NO" dirty="0" err="1"/>
              <a:t>YouTube</a:t>
            </a:r>
            <a:r>
              <a:rPr lang="nb-NO" dirty="0"/>
              <a:t> dersom en server fysisk brenner ned?</a:t>
            </a:r>
          </a:p>
          <a:p>
            <a:r>
              <a:rPr lang="nb-NO" dirty="0"/>
              <a:t>Hva skjer hvis diskene blir korrupte?</a:t>
            </a:r>
          </a:p>
          <a:p>
            <a:r>
              <a:rPr lang="nb-NO" dirty="0"/>
              <a:t>Hva skjer hvis strømmen hos Google går?</a:t>
            </a:r>
          </a:p>
          <a:p>
            <a:endParaRPr lang="nb-NO" dirty="0"/>
          </a:p>
          <a:p>
            <a:r>
              <a:rPr lang="nb-NO" dirty="0"/>
              <a:t>Hint: det skjer faktisk HELE veien.</a:t>
            </a:r>
          </a:p>
        </p:txBody>
      </p:sp>
    </p:spTree>
    <p:extLst>
      <p:ext uri="{BB962C8B-B14F-4D97-AF65-F5344CB8AC3E}">
        <p14:creationId xmlns:p14="http://schemas.microsoft.com/office/powerpoint/2010/main" val="2973350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D6008CE-34A0-4C03-8F31-7ED6EA536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>
            <a:normAutofit/>
          </a:bodyPr>
          <a:lstStyle/>
          <a:p>
            <a:r>
              <a:rPr lang="nb-NO" sz="3700"/>
              <a:t>RPS = Redundant Power System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2E0BC2F-3A19-497E-8DCD-CB8F136D5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415802" cy="3931920"/>
          </a:xfrm>
        </p:spPr>
        <p:txBody>
          <a:bodyPr vert="horz" lIns="45720" tIns="45720" rIns="45720" bIns="45720" rtlCol="0" anchor="t">
            <a:normAutofit/>
          </a:bodyPr>
          <a:lstStyle/>
          <a:p>
            <a:r>
              <a:rPr lang="en-US" sz="1600"/>
              <a:t>Hva gjør vi om strømforsyningen feiler?</a:t>
            </a:r>
          </a:p>
          <a:p>
            <a:r>
              <a:rPr lang="en-US" sz="1600"/>
              <a:t>Hva gjør vi om strømmen feiler?</a:t>
            </a:r>
            <a:endParaRPr lang="en-US" sz="1600" dirty="0"/>
          </a:p>
          <a:p>
            <a:endParaRPr lang="en-US" sz="1600" dirty="0"/>
          </a:p>
          <a:p>
            <a:r>
              <a:rPr lang="en-US" sz="1600"/>
              <a:t>Kritisk TV utstyr som filmopptakere, har ofte 2 batterier, og 2 sd kort lommer. I tillegg til fast-strøm</a:t>
            </a:r>
            <a:endParaRPr lang="en-US" sz="1600" dirty="0"/>
          </a:p>
          <a:p>
            <a:r>
              <a:rPr lang="en-US" sz="1600"/>
              <a:t>Disse kan byttes underveis. Gamle laptoper hadde også denne løsningen.</a:t>
            </a:r>
          </a:p>
          <a:p>
            <a:r>
              <a:rPr lang="en-US" sz="1600"/>
              <a:t>Proffe opptakere kan ta opp video på flere kort samtidig, og under tv-produksjon, tar vi opp gjerne 6 ganger mer enn det vi egentlig behøver.</a:t>
            </a:r>
            <a:endParaRPr lang="en-US" sz="1600" dirty="0"/>
          </a:p>
        </p:txBody>
      </p:sp>
      <p:pic>
        <p:nvPicPr>
          <p:cNvPr id="4" name="Bilde 4">
            <a:extLst>
              <a:ext uri="{FF2B5EF4-FFF2-40B4-BE49-F238E27FC236}">
                <a16:creationId xmlns:a16="http://schemas.microsoft.com/office/drawing/2014/main" id="{348D109D-7590-4D29-ABC7-2CC8E7F70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42" y="2211188"/>
            <a:ext cx="6909577" cy="24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110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4">
            <a:extLst>
              <a:ext uri="{FF2B5EF4-FFF2-40B4-BE49-F238E27FC236}">
                <a16:creationId xmlns:a16="http://schemas.microsoft.com/office/drawing/2014/main" id="{326A6E6F-8461-4BC1-8E66-5B4085659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793" y="2442100"/>
            <a:ext cx="6299199" cy="4089245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ED8A980F-8795-4521-B59A-13170B65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UPS = </a:t>
            </a:r>
            <a:r>
              <a:rPr lang="nb-NO" dirty="0" err="1"/>
              <a:t>Uninterruptible</a:t>
            </a:r>
            <a:r>
              <a:rPr lang="nb-NO" dirty="0"/>
              <a:t> Power Supply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C885360-9DA2-4404-8ED6-8CF698748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r>
              <a:rPr lang="nb-NO" dirty="0"/>
              <a:t>Som sagt, en powerbank for utstyr</a:t>
            </a:r>
          </a:p>
          <a:p>
            <a:r>
              <a:rPr lang="nb-NO" dirty="0"/>
              <a:t>Kan kommunisere til utstyr og be dem slå seg av, for å unngå datatap</a:t>
            </a:r>
          </a:p>
          <a:p>
            <a:r>
              <a:rPr lang="nb-NO" dirty="0"/>
              <a:t>500kVa er et stort nok batteri, for et helt hus i 2 uker</a:t>
            </a:r>
          </a:p>
          <a:p>
            <a:r>
              <a:rPr lang="nb-NO" dirty="0"/>
              <a:t>Det er dyrt – for noe vi helst ikke vil bruke</a:t>
            </a:r>
          </a:p>
          <a:p>
            <a:r>
              <a:rPr lang="nb-NO" dirty="0"/>
              <a:t>Men prisen av å ikke ha det når det trengs,</a:t>
            </a:r>
          </a:p>
          <a:p>
            <a:r>
              <a:rPr lang="nb-NO" dirty="0"/>
              <a:t>Er langt, langt større.</a:t>
            </a:r>
          </a:p>
        </p:txBody>
      </p:sp>
    </p:spTree>
    <p:extLst>
      <p:ext uri="{BB962C8B-B14F-4D97-AF65-F5344CB8AC3E}">
        <p14:creationId xmlns:p14="http://schemas.microsoft.com/office/powerpoint/2010/main" val="3879445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e 4">
            <a:hlinkClick r:id="" action="ppaction://media"/>
            <a:extLst>
              <a:ext uri="{FF2B5EF4-FFF2-40B4-BE49-F238E27FC236}">
                <a16:creationId xmlns:a16="http://schemas.microsoft.com/office/drawing/2014/main" id="{06B33E7D-451A-4558-B67D-27C73849F08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596444" y="804333"/>
            <a:ext cx="6999108" cy="5249331"/>
          </a:xfrm>
          <a:prstGeom prst="rect">
            <a:avLst/>
          </a:prstGeom>
        </p:spPr>
      </p:pic>
      <p:sp>
        <p:nvSpPr>
          <p:cNvPr id="7" name="TekstSylinder 6">
            <a:extLst>
              <a:ext uri="{FF2B5EF4-FFF2-40B4-BE49-F238E27FC236}">
                <a16:creationId xmlns:a16="http://schemas.microsoft.com/office/drawing/2014/main" id="{D4321C6D-AA9A-40FD-B271-3C15FFDCCA42}"/>
              </a:ext>
            </a:extLst>
          </p:cNvPr>
          <p:cNvSpPr txBox="1"/>
          <p:nvPr/>
        </p:nvSpPr>
        <p:spPr>
          <a:xfrm>
            <a:off x="4731456" y="616373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hlinkClick r:id="rId4"/>
              </a:rPr>
              <a:t>Link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8">
            <a:extLst>
              <a:ext uri="{FF2B5EF4-FFF2-40B4-BE49-F238E27FC236}">
                <a16:creationId xmlns:a16="http://schemas.microsoft.com/office/drawing/2014/main" id="{904F0732-C4BA-4229-B2C6-EA3F7FD96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1051" y="2286000"/>
            <a:ext cx="8766226" cy="4023360"/>
          </a:xfr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EF83C6B8-DDBB-4BB8-BA75-33787B3BA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0009349" cy="1499616"/>
          </a:xfrm>
        </p:spPr>
        <p:txBody>
          <a:bodyPr/>
          <a:lstStyle/>
          <a:p>
            <a:r>
              <a:rPr lang="nb-NO"/>
              <a:t>Skylagring – ubegrenset lagring, 50kr/mnd</a:t>
            </a:r>
          </a:p>
        </p:txBody>
      </p:sp>
      <p:pic>
        <p:nvPicPr>
          <p:cNvPr id="5" name="Bilde 5">
            <a:extLst>
              <a:ext uri="{FF2B5EF4-FFF2-40B4-BE49-F238E27FC236}">
                <a16:creationId xmlns:a16="http://schemas.microsoft.com/office/drawing/2014/main" id="{8B78FE0E-EC28-43ED-A504-F92A2FD93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345" y="5566105"/>
            <a:ext cx="2743200" cy="53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53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8C04167-299F-45D6-B74E-E9816DB30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nb-NO"/>
              <a:t>Skylagring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9D2B7F2-644A-4336-ABD3-51E024480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8" cy="4023360"/>
          </a:xfrm>
        </p:spPr>
        <p:txBody>
          <a:bodyPr vert="horz" lIns="45720" tIns="45720" rIns="45720" bIns="45720" rtlCol="0" anchor="t">
            <a:normAutofit/>
          </a:bodyPr>
          <a:lstStyle/>
          <a:p>
            <a:r>
              <a:rPr lang="nb-NO"/>
              <a:t>Fordeler:</a:t>
            </a:r>
          </a:p>
          <a:p>
            <a:pPr marL="264795" lvl="1"/>
            <a:r>
              <a:rPr lang="nb-NO"/>
              <a:t>Kan automatiseres</a:t>
            </a:r>
            <a:endParaRPr lang="nb-NO" dirty="0"/>
          </a:p>
          <a:p>
            <a:pPr marL="264795" lvl="1"/>
            <a:r>
              <a:rPr lang="nb-NO"/>
              <a:t>Billig</a:t>
            </a:r>
            <a:endParaRPr lang="nb-NO" dirty="0"/>
          </a:p>
          <a:p>
            <a:pPr marL="264795" lvl="1"/>
            <a:r>
              <a:rPr lang="nb-NO"/>
              <a:t>Tilgjengelig</a:t>
            </a:r>
            <a:endParaRPr lang="nb-NO" dirty="0"/>
          </a:p>
          <a:p>
            <a:pPr marL="264795" lvl="1"/>
            <a:endParaRPr lang="nb-NO" dirty="0"/>
          </a:p>
          <a:p>
            <a:r>
              <a:rPr lang="nb-NO"/>
              <a:t>Ulemper:</a:t>
            </a:r>
            <a:endParaRPr lang="nb-NO" dirty="0"/>
          </a:p>
          <a:p>
            <a:pPr marL="264795" lvl="1"/>
            <a:r>
              <a:rPr lang="nb-NO"/>
              <a:t>Få tilbydere som er 'billige'</a:t>
            </a:r>
            <a:endParaRPr lang="nb-NO" dirty="0"/>
          </a:p>
          <a:p>
            <a:pPr marL="264795" lvl="1"/>
            <a:r>
              <a:rPr lang="nb-NO"/>
              <a:t>Mindre kontroll på personvern</a:t>
            </a:r>
            <a:endParaRPr lang="nb-NO" dirty="0"/>
          </a:p>
          <a:p>
            <a:pPr marL="264795" lvl="1"/>
            <a:r>
              <a:rPr lang="nb-NO"/>
              <a:t>Paranoia</a:t>
            </a:r>
            <a:endParaRPr lang="nb-NO" dirty="0"/>
          </a:p>
          <a:p>
            <a:pPr marL="127635" lvl="1" indent="0">
              <a:buNone/>
            </a:pPr>
            <a:endParaRPr lang="nb-NO" dirty="0"/>
          </a:p>
        </p:txBody>
      </p:sp>
      <p:pic>
        <p:nvPicPr>
          <p:cNvPr id="4" name="Bilde 4">
            <a:extLst>
              <a:ext uri="{FF2B5EF4-FFF2-40B4-BE49-F238E27FC236}">
                <a16:creationId xmlns:a16="http://schemas.microsoft.com/office/drawing/2014/main" id="{6555B6EE-2BDA-4979-A815-6FF3D9E1CA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65" r="27876" b="-1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29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4" descr="Et bilde som inneholder tekst, hvitevarer, kjøleskap, husholdningsapparat&#10;&#10;Automatisk generert beskrivelse">
            <a:extLst>
              <a:ext uri="{FF2B5EF4-FFF2-40B4-BE49-F238E27FC236}">
                <a16:creationId xmlns:a16="http://schemas.microsoft.com/office/drawing/2014/main" id="{DC05C475-0D46-4967-AC40-1D6DF8907E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636" r="9091" b="87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7D175FC-84CC-4D12-A5E2-FA27D934E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52265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050B3D3-94E0-4CC2-BB56-93269FD00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6" cy="1499616"/>
          </a:xfrm>
        </p:spPr>
        <p:txBody>
          <a:bodyPr>
            <a:normAutofit/>
          </a:bodyPr>
          <a:lstStyle/>
          <a:p>
            <a:r>
              <a:rPr lang="nb-NO">
                <a:solidFill>
                  <a:srgbClr val="000000"/>
                </a:solidFill>
              </a:rPr>
              <a:t>Analog lagring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C38328-2D50-4DDB-BD20-28DE12E49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2EFDCED-7C91-43A9-9D8B-3005ECE6B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6" cy="4023360"/>
          </a:xfrm>
        </p:spPr>
        <p:txBody>
          <a:bodyPr vert="horz" lIns="45720" tIns="45720" rIns="45720" bIns="45720" rtlCol="0">
            <a:normAutofit/>
          </a:bodyPr>
          <a:lstStyle/>
          <a:p>
            <a:r>
              <a:rPr lang="nb-NO" sz="1500">
                <a:solidFill>
                  <a:srgbClr val="000000"/>
                </a:solidFill>
              </a:rPr>
              <a:t>Kjøtt holder seg lengst i fryseren, det gjør faktisk data og</a:t>
            </a:r>
          </a:p>
          <a:p>
            <a:endParaRPr lang="nb-NO" sz="1500">
              <a:solidFill>
                <a:srgbClr val="000000"/>
              </a:solidFill>
            </a:endParaRPr>
          </a:p>
          <a:p>
            <a:r>
              <a:rPr lang="nb-NO" sz="1500">
                <a:solidFill>
                  <a:srgbClr val="000000"/>
                </a:solidFill>
              </a:rPr>
              <a:t>Før lagret man faktisk bilder og videoer i kjøleskap, det gjør vi faktisk ennå.</a:t>
            </a:r>
          </a:p>
          <a:p>
            <a:endParaRPr lang="nb-NO" sz="1500">
              <a:solidFill>
                <a:srgbClr val="000000"/>
              </a:solidFill>
            </a:endParaRPr>
          </a:p>
          <a:p>
            <a:r>
              <a:rPr lang="nb-NO" sz="1500">
                <a:solidFill>
                  <a:srgbClr val="000000"/>
                </a:solidFill>
              </a:rPr>
              <a:t>Fordeler:</a:t>
            </a:r>
          </a:p>
          <a:p>
            <a:pPr marL="264795" lvl="1"/>
            <a:r>
              <a:rPr lang="nb-NO" sz="1500">
                <a:solidFill>
                  <a:srgbClr val="000000"/>
                </a:solidFill>
              </a:rPr>
              <a:t>Langsiktig</a:t>
            </a:r>
          </a:p>
          <a:p>
            <a:pPr marL="264795" lvl="1"/>
            <a:r>
              <a:rPr lang="nb-NO" sz="1500">
                <a:solidFill>
                  <a:srgbClr val="000000"/>
                </a:solidFill>
              </a:rPr>
              <a:t>Utrolig billig for 'evig' lagring</a:t>
            </a:r>
          </a:p>
          <a:p>
            <a:r>
              <a:rPr lang="nb-NO" sz="1500">
                <a:solidFill>
                  <a:srgbClr val="000000"/>
                </a:solidFill>
              </a:rPr>
              <a:t>Ulemper:</a:t>
            </a:r>
          </a:p>
          <a:p>
            <a:pPr marL="264795" lvl="1"/>
            <a:r>
              <a:rPr lang="nb-NO" sz="1500">
                <a:solidFill>
                  <a:srgbClr val="000000"/>
                </a:solidFill>
              </a:rPr>
              <a:t>Svindyrt å eie</a:t>
            </a:r>
          </a:p>
          <a:p>
            <a:pPr marL="264795" lvl="1"/>
            <a:r>
              <a:rPr lang="nb-NO" sz="1500">
                <a:solidFill>
                  <a:srgbClr val="000000"/>
                </a:solidFill>
              </a:rPr>
              <a:t>Super-tregt</a:t>
            </a:r>
          </a:p>
        </p:txBody>
      </p:sp>
    </p:spTree>
    <p:extLst>
      <p:ext uri="{BB962C8B-B14F-4D97-AF65-F5344CB8AC3E}">
        <p14:creationId xmlns:p14="http://schemas.microsoft.com/office/powerpoint/2010/main" val="1508020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e 4">
            <a:hlinkClick r:id="" action="ppaction://media"/>
            <a:extLst>
              <a:ext uri="{FF2B5EF4-FFF2-40B4-BE49-F238E27FC236}">
                <a16:creationId xmlns:a16="http://schemas.microsoft.com/office/drawing/2014/main" id="{FF63D316-5B3A-48E1-9242-FD7D8C83C2C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596444" y="804333"/>
            <a:ext cx="6999108" cy="5249331"/>
          </a:xfrm>
          <a:prstGeom prst="rect">
            <a:avLst/>
          </a:prstGeom>
        </p:spPr>
      </p:pic>
      <p:sp>
        <p:nvSpPr>
          <p:cNvPr id="5" name="TekstSylinder 4">
            <a:extLst>
              <a:ext uri="{FF2B5EF4-FFF2-40B4-BE49-F238E27FC236}">
                <a16:creationId xmlns:a16="http://schemas.microsoft.com/office/drawing/2014/main" id="{23208D11-0305-4313-ADA4-B795C2F8C82D}"/>
              </a:ext>
            </a:extLst>
          </p:cNvPr>
          <p:cNvSpPr txBox="1"/>
          <p:nvPr/>
        </p:nvSpPr>
        <p:spPr>
          <a:xfrm>
            <a:off x="4731456" y="622017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hlinkClick r:id="rId4"/>
              </a:rPr>
              <a:t>Link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86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6408FF-2533-4D8A-BF62-4C2C18351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>
            <a:normAutofit/>
          </a:bodyPr>
          <a:lstStyle/>
          <a:p>
            <a:r>
              <a:rPr lang="nb-NO" sz="4000"/>
              <a:t>RAID Lagring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8657DC-4844-478C-B4E1-7B3411E44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578079" cy="3931920"/>
          </a:xfrm>
        </p:spPr>
        <p:txBody>
          <a:bodyPr vert="horz" lIns="45720" tIns="45720" rIns="45720" bIns="45720" rtlCol="0" anchor="t">
            <a:normAutofit fontScale="92500"/>
          </a:bodyPr>
          <a:lstStyle/>
          <a:p>
            <a:r>
              <a:rPr lang="en-US" sz="1600"/>
              <a:t>Ved å kombinere harddisker, så får vi valg om måten harddiskene skal lagre data på</a:t>
            </a:r>
            <a:endParaRPr lang="nb-NO"/>
          </a:p>
          <a:p>
            <a:r>
              <a:rPr lang="en-US" sz="1600"/>
              <a:t>De vanligste er Raid 0, 1, 5, 6 eller 10.</a:t>
            </a:r>
          </a:p>
          <a:p>
            <a:r>
              <a:rPr lang="en-US" sz="1600"/>
              <a:t>Raid 0 – vi kombinerer 2 disker eller flere, og gjør dem dobbelt så rask, men hvis en feiler, feiler alt</a:t>
            </a:r>
            <a:endParaRPr lang="en-US" sz="1600" dirty="0"/>
          </a:p>
          <a:p>
            <a:r>
              <a:rPr lang="en-US" sz="1600"/>
              <a:t>Raid 1 – vi speiler 2 eller fler disker likt</a:t>
            </a:r>
            <a:endParaRPr lang="en-US" sz="1600" dirty="0"/>
          </a:p>
          <a:p>
            <a:r>
              <a:rPr lang="en-US" sz="1600"/>
              <a:t>Raid 5 – vi fordeler og reservere data mellom alle diskene, slik at vi kan miste 1 disk, erstatte disken, og bruke som vanlig</a:t>
            </a:r>
          </a:p>
          <a:p>
            <a:r>
              <a:rPr lang="en-US" sz="1600"/>
              <a:t>Raid 6 – samme som raid 5, men 2-3 disker kan feile.</a:t>
            </a:r>
            <a:endParaRPr lang="en-US" sz="1600" dirty="0"/>
          </a:p>
          <a:p>
            <a:r>
              <a:rPr lang="en-US" sz="1600"/>
              <a:t>Raid 10 er en kombinasjon mellom 0 og 1</a:t>
            </a:r>
            <a:endParaRPr lang="en-US" sz="1600" dirty="0"/>
          </a:p>
        </p:txBody>
      </p:sp>
      <p:pic>
        <p:nvPicPr>
          <p:cNvPr id="4" name="Bilde 4">
            <a:extLst>
              <a:ext uri="{FF2B5EF4-FFF2-40B4-BE49-F238E27FC236}">
                <a16:creationId xmlns:a16="http://schemas.microsoft.com/office/drawing/2014/main" id="{A4B55F8F-B18D-4774-AC84-C1D5D4A45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42" y="803361"/>
            <a:ext cx="6909577" cy="525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4">
            <a:extLst>
              <a:ext uri="{FF2B5EF4-FFF2-40B4-BE49-F238E27FC236}">
                <a16:creationId xmlns:a16="http://schemas.microsoft.com/office/drawing/2014/main" id="{A7732814-50C2-4D08-8405-C2D8E5E9D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053" y="0"/>
            <a:ext cx="7886613" cy="6281138"/>
          </a:xfrm>
        </p:spPr>
      </p:pic>
      <p:pic>
        <p:nvPicPr>
          <p:cNvPr id="7" name="Bilde 7">
            <a:extLst>
              <a:ext uri="{FF2B5EF4-FFF2-40B4-BE49-F238E27FC236}">
                <a16:creationId xmlns:a16="http://schemas.microsoft.com/office/drawing/2014/main" id="{D0042CEF-3CF0-41DD-BE02-0799272A99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25" b="1010"/>
          <a:stretch/>
        </p:blipFill>
        <p:spPr>
          <a:xfrm>
            <a:off x="2466622" y="5994050"/>
            <a:ext cx="7569261" cy="69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29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43A5B2B-EA2D-45BC-B6A1-EF71A2EAC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nb-NO"/>
              <a:t>Lokal backup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BD835BC-4936-4752-A8F1-3FD141B45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8" cy="4023360"/>
          </a:xfrm>
        </p:spPr>
        <p:txBody>
          <a:bodyPr vert="horz" lIns="45720" tIns="45720" rIns="45720" bIns="45720" rtlCol="0">
            <a:normAutofit/>
          </a:bodyPr>
          <a:lstStyle/>
          <a:p>
            <a:r>
              <a:rPr lang="nb-NO"/>
              <a:t>Lagre filer på flere disker – i tilfelle den ene går i bakken, eller slutte fungere.</a:t>
            </a:r>
          </a:p>
          <a:p>
            <a:r>
              <a:rPr lang="nb-NO"/>
              <a:t>Fordeler:</a:t>
            </a:r>
            <a:endParaRPr lang="nb-NO" dirty="0"/>
          </a:p>
          <a:p>
            <a:pPr marL="447675" lvl="2"/>
            <a:r>
              <a:rPr lang="nb-NO"/>
              <a:t>Man trenger ikke vente på å hente skylagrings-kopien (om man har en), for å fortsette arbeidet</a:t>
            </a:r>
          </a:p>
          <a:p>
            <a:pPr marL="447675" lvl="2"/>
            <a:r>
              <a:rPr lang="nb-NO"/>
              <a:t>Relativt billig, dersom man ikke har så altfor mye å ta backup av</a:t>
            </a:r>
          </a:p>
          <a:p>
            <a:pPr marL="447675" lvl="2"/>
            <a:r>
              <a:rPr lang="nb-NO"/>
              <a:t>Du har full kontroll over personvern</a:t>
            </a:r>
          </a:p>
          <a:p>
            <a:pPr>
              <a:buFont typeface="Tw Cen MT" pitchFamily="18" charset="2"/>
              <a:buChar char=" "/>
            </a:pPr>
            <a:r>
              <a:rPr lang="nb-NO">
                <a:ea typeface="+mn-lt"/>
                <a:cs typeface="+mn-lt"/>
              </a:rPr>
              <a:t>Ulemper:</a:t>
            </a:r>
          </a:p>
          <a:p>
            <a:pPr marL="447675" lvl="2"/>
            <a:r>
              <a:rPr lang="nb-NO">
                <a:ea typeface="+mn-lt"/>
                <a:cs typeface="+mn-lt"/>
              </a:rPr>
              <a:t>Lett å slurve, må ta kopi manuelt</a:t>
            </a:r>
          </a:p>
          <a:p>
            <a:pPr marL="447675" lvl="2"/>
            <a:r>
              <a:rPr lang="nb-NO">
                <a:ea typeface="+mn-lt"/>
                <a:cs typeface="+mn-lt"/>
              </a:rPr>
              <a:t>Lett å glemme hvor en har lagt ting</a:t>
            </a:r>
          </a:p>
          <a:p>
            <a:pPr marL="447675" lvl="2"/>
            <a:r>
              <a:rPr lang="nb-NO">
                <a:ea typeface="+mn-lt"/>
                <a:cs typeface="+mn-lt"/>
              </a:rPr>
              <a:t>Ligger på samme plass som originalkopi</a:t>
            </a:r>
            <a:endParaRPr lang="nb-NO" dirty="0">
              <a:ea typeface="+mn-lt"/>
              <a:cs typeface="+mn-lt"/>
            </a:endParaRPr>
          </a:p>
        </p:txBody>
      </p:sp>
      <p:pic>
        <p:nvPicPr>
          <p:cNvPr id="4" name="Bilde 4" descr="Et bilde som inneholder innendørs, elektronikk, sitter, datamaskin&#10;&#10;Automatisk generert beskrivelse">
            <a:extLst>
              <a:ext uri="{FF2B5EF4-FFF2-40B4-BE49-F238E27FC236}">
                <a16:creationId xmlns:a16="http://schemas.microsoft.com/office/drawing/2014/main" id="{438A0FAE-C980-4256-BAE7-DAC815BDD7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92" r="16354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5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0BEF715-731C-4DF4-8896-D0C98B125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nb-NO"/>
              <a:t>Nettverkslagring / Backup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9D5680C-82C5-4008-AE51-605D2A98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517" y="2109612"/>
            <a:ext cx="5425156" cy="4503136"/>
          </a:xfrm>
        </p:spPr>
        <p:txBody>
          <a:bodyPr vert="horz" lIns="45720" tIns="45720" rIns="45720" bIns="45720" rtlCol="0" anchor="t">
            <a:normAutofit/>
          </a:bodyPr>
          <a:lstStyle/>
          <a:p>
            <a:r>
              <a:rPr lang="en-US"/>
              <a:t>Fordeler:</a:t>
            </a:r>
            <a:endParaRPr lang="en-US" dirty="0"/>
          </a:p>
          <a:p>
            <a:pPr marL="264795" lvl="1"/>
            <a:r>
              <a:rPr lang="en-US"/>
              <a:t>Innebygd RAID kontroller for paritet – harddisk kan ødelegges, erstattes, uten å miste data</a:t>
            </a:r>
          </a:p>
          <a:p>
            <a:pPr marL="264795" lvl="1"/>
            <a:r>
              <a:rPr lang="en-US"/>
              <a:t>Kan ekspanderes (som regel)</a:t>
            </a:r>
          </a:p>
          <a:p>
            <a:pPr marL="264795" lvl="1"/>
            <a:r>
              <a:rPr lang="en-US"/>
              <a:t>Kan jobbes direkte fra, og koble flere brukere til, samtidig.</a:t>
            </a:r>
            <a:endParaRPr lang="en-US" dirty="0"/>
          </a:p>
          <a:p>
            <a:pPr marL="264795" lvl="1"/>
            <a:r>
              <a:rPr lang="en-US"/>
              <a:t>Innhold kan krypteres</a:t>
            </a:r>
            <a:endParaRPr lang="en-US" dirty="0"/>
          </a:p>
          <a:p>
            <a:pPr marL="264795" lvl="1"/>
            <a:r>
              <a:rPr lang="en-US"/>
              <a:t>Kan automatiseres opp mot maskiner / telefoner</a:t>
            </a:r>
            <a:endParaRPr lang="en-US" dirty="0"/>
          </a:p>
          <a:p>
            <a:pPr marL="127635" lvl="1" indent="0">
              <a:buNone/>
            </a:pPr>
            <a:endParaRPr lang="en-US" dirty="0"/>
          </a:p>
          <a:p>
            <a:r>
              <a:rPr lang="en-US"/>
              <a:t>Ulemper:</a:t>
            </a:r>
          </a:p>
          <a:p>
            <a:pPr marL="264795" lvl="1"/>
            <a:r>
              <a:rPr lang="en-US"/>
              <a:t>Krever å alltid ha strøm (Lynnedslag?)</a:t>
            </a:r>
            <a:endParaRPr lang="en-US" dirty="0"/>
          </a:p>
          <a:p>
            <a:pPr marL="264795" lvl="1"/>
            <a:r>
              <a:rPr lang="en-US"/>
              <a:t>Kan være kostbart</a:t>
            </a:r>
          </a:p>
          <a:p>
            <a:pPr marL="264795" lvl="1"/>
            <a:r>
              <a:rPr lang="en-US"/>
              <a:t>På samme lokasjon, som originalkopi</a:t>
            </a:r>
            <a:endParaRPr lang="en-US" dirty="0"/>
          </a:p>
        </p:txBody>
      </p:sp>
      <p:pic>
        <p:nvPicPr>
          <p:cNvPr id="4" name="Bilde 4" descr="Et bilde som inneholder innendørs&#10;&#10;Automatisk generert beskrivelse">
            <a:extLst>
              <a:ext uri="{FF2B5EF4-FFF2-40B4-BE49-F238E27FC236}">
                <a16:creationId xmlns:a16="http://schemas.microsoft.com/office/drawing/2014/main" id="{4A32DD2A-94C8-4929-A2F2-CD7AAF5B6E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000"/>
          <a:stretch/>
        </p:blipFill>
        <p:spPr>
          <a:xfrm>
            <a:off x="6217922" y="2286000"/>
            <a:ext cx="4526278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63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2AA3A10-054D-44BF-B412-EC00948E5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 cap="all" spc="200" baseline="0">
                <a:latin typeface="+mj-lt"/>
                <a:ea typeface="+mj-ea"/>
                <a:cs typeface="+mj-cs"/>
              </a:rPr>
              <a:t>Din egen, sky?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F92D01D-78CF-4580-87DC-0EC14F294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133580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/>
              <a:t>Flere NAS bokser (Nettverkslagring), kan kobles sammen og speiles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/>
          </a:p>
          <a:p>
            <a:pPr marL="0" indent="0">
              <a:spcBef>
                <a:spcPts val="0"/>
              </a:spcBef>
              <a:buNone/>
            </a:pPr>
            <a:r>
              <a:rPr lang="en-US" sz="1600"/>
              <a:t>Innhold kan krypteres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/>
          </a:p>
          <a:p>
            <a:pPr marL="0" indent="0">
              <a:spcBef>
                <a:spcPts val="0"/>
              </a:spcBef>
              <a:buNone/>
            </a:pPr>
            <a:r>
              <a:rPr lang="en-US" sz="1600"/>
              <a:t>Dyrt – men det beste om man behøver mye plass, og full kontroll over personvern</a:t>
            </a:r>
          </a:p>
        </p:txBody>
      </p:sp>
      <p:pic>
        <p:nvPicPr>
          <p:cNvPr id="5" name="Bilde 18">
            <a:extLst>
              <a:ext uri="{FF2B5EF4-FFF2-40B4-BE49-F238E27FC236}">
                <a16:creationId xmlns:a16="http://schemas.microsoft.com/office/drawing/2014/main" id="{5D08309E-D4FE-4616-94C1-42D335A9C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42" y="1243847"/>
            <a:ext cx="6909577" cy="4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860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9CA4F3D36C0645B224052DC06A9045" ma:contentTypeVersion="9" ma:contentTypeDescription="Create a new document." ma:contentTypeScope="" ma:versionID="5e2bb4fbb234664a9e963123cd91dad4">
  <xsd:schema xmlns:xsd="http://www.w3.org/2001/XMLSchema" xmlns:xs="http://www.w3.org/2001/XMLSchema" xmlns:p="http://schemas.microsoft.com/office/2006/metadata/properties" xmlns:ns2="0675fdb4-be9a-45d8-b51e-c805e05896f3" targetNamespace="http://schemas.microsoft.com/office/2006/metadata/properties" ma:root="true" ma:fieldsID="0c00363df6fe5b7a10baeaf53b4e465b" ns2:_="">
    <xsd:import namespace="0675fdb4-be9a-45d8-b51e-c805e05896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5fdb4-be9a-45d8-b51e-c805e05896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75fdb4-be9a-45d8-b51e-c805e05896f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A65D637-94A2-48D4-BFCC-B74487746C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C84008-7C65-4428-AF34-AE68A9901E72}"/>
</file>

<file path=customXml/itemProps3.xml><?xml version="1.0" encoding="utf-8"?>
<ds:datastoreItem xmlns:ds="http://schemas.openxmlformats.org/officeDocument/2006/customXml" ds:itemID="{3B8C4B04-C694-4DA6-866B-A1549A7A064A}">
  <ds:schemaRefs>
    <ds:schemaRef ds:uri="http://schemas.microsoft.com/office/2006/documentManagement/types"/>
    <ds:schemaRef ds:uri="http://purl.org/dc/terms/"/>
    <ds:schemaRef ds:uri="http://purl.org/dc/elements/1.1/"/>
    <ds:schemaRef ds:uri="09dadffe-16ff-4818-8959-bdb694918b60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infopath/2007/PartnerControls"/>
    <ds:schemaRef ds:uri="d0e8dc06-74ad-47d5-b071-fdb0cc7d52b3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02af9dbb-aed9-4c75-94d9-8c097730bf57}" enabled="1" method="Standard" siteId="{026cbe1f-01c4-4698-a566-2fc43ebec7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1024</Words>
  <Application>Microsoft Macintosh PowerPoint</Application>
  <PresentationFormat>Widescreen</PresentationFormat>
  <Paragraphs>117</Paragraphs>
  <Slides>23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Yu Gothic Light</vt:lpstr>
      <vt:lpstr>Tw Cen MT</vt:lpstr>
      <vt:lpstr>Tw Cen MT Condensed</vt:lpstr>
      <vt:lpstr>Wingdings 3</vt:lpstr>
      <vt:lpstr>Integral</vt:lpstr>
      <vt:lpstr>Redundans [redunda´ns]</vt:lpstr>
      <vt:lpstr>Noen ganger bruker vi mer penger på ting, vi håper å aldri måtte bruke</vt:lpstr>
      <vt:lpstr>Å glemme redundans (som it mann), er det samme som å kjøre på rødt lys. Ja, det "kan" gå godt.</vt:lpstr>
      <vt:lpstr>Så … hva er redundans for en  it-mann? IT-Kvinne?</vt:lpstr>
      <vt:lpstr>Eller Mediamann? MediaKvinne?</vt:lpstr>
      <vt:lpstr>Scenario 1: Campingtur</vt:lpstr>
      <vt:lpstr>Scenario 2: Presidentfotograf</vt:lpstr>
      <vt:lpstr>Scenario 3: Sykehus</vt:lpstr>
      <vt:lpstr>Scenario 4: Serverrom</vt:lpstr>
      <vt:lpstr>Scenario 5: Krig?</vt:lpstr>
      <vt:lpstr>Utstyr</vt:lpstr>
      <vt:lpstr>RPS = Redundant Power System</vt:lpstr>
      <vt:lpstr>UPS = Uninterruptible Power Supply</vt:lpstr>
      <vt:lpstr>PowerPoint Presentation</vt:lpstr>
      <vt:lpstr>Skylagring – ubegrenset lagring, 50kr/mnd</vt:lpstr>
      <vt:lpstr>Skylagring</vt:lpstr>
      <vt:lpstr>Analog lagring</vt:lpstr>
      <vt:lpstr>PowerPoint Presentation</vt:lpstr>
      <vt:lpstr>RAID Lagring</vt:lpstr>
      <vt:lpstr>PowerPoint Presentation</vt:lpstr>
      <vt:lpstr>Lokal backup</vt:lpstr>
      <vt:lpstr>Nettverkslagring / Backup</vt:lpstr>
      <vt:lpstr>Din egen, sky?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/>
  <cp:lastModifiedBy>Sondre Grønås</cp:lastModifiedBy>
  <cp:revision>352</cp:revision>
  <dcterms:created xsi:type="dcterms:W3CDTF">2021-02-07T06:45:15Z</dcterms:created>
  <dcterms:modified xsi:type="dcterms:W3CDTF">2026-08-31T10:48:26Z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0x0101000C9CA4F3D36C0645B224052DC06A9045</vt:lpwstr>
  </property>
</Properties>
</file>